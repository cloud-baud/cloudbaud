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charts/chart1.xml" ContentType="application/vnd.openxmlformats-officedocument.drawingml.chart+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tags/tag29.xml" ContentType="application/vnd.openxmlformats-officedocument.presentationml.tags+xml"/>
  <Override PartName="/ppt/tags/tag30.xml" ContentType="application/vnd.openxmlformats-officedocument.presentationml.tags+xml"/>
  <Override PartName="/ppt/notesSlides/notesSlide4.xml" ContentType="application/vnd.openxmlformats-officedocument.presentationml.notesSlide+xml"/>
  <Override PartName="/ppt/tags/tag31.xml" ContentType="application/vnd.openxmlformats-officedocument.presentationml.tags+xml"/>
  <Override PartName="/ppt/notesSlides/notesSlide5.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6.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7.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8.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9.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10.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8"/>
  </p:notesMasterIdLst>
  <p:handoutMasterIdLst>
    <p:handoutMasterId r:id="rId29"/>
  </p:handoutMasterIdLst>
  <p:sldIdLst>
    <p:sldId id="3309" r:id="rId5"/>
    <p:sldId id="533" r:id="rId6"/>
    <p:sldId id="3289" r:id="rId7"/>
    <p:sldId id="3321" r:id="rId8"/>
    <p:sldId id="3322" r:id="rId9"/>
    <p:sldId id="2560" r:id="rId10"/>
    <p:sldId id="2162" r:id="rId11"/>
    <p:sldId id="3377" r:id="rId12"/>
    <p:sldId id="3366" r:id="rId13"/>
    <p:sldId id="3303" r:id="rId14"/>
    <p:sldId id="3368" r:id="rId15"/>
    <p:sldId id="3374" r:id="rId16"/>
    <p:sldId id="3370" r:id="rId17"/>
    <p:sldId id="3371" r:id="rId18"/>
    <p:sldId id="3372" r:id="rId19"/>
    <p:sldId id="3373" r:id="rId20"/>
    <p:sldId id="2338" r:id="rId21"/>
    <p:sldId id="2034" r:id="rId22"/>
    <p:sldId id="3282" r:id="rId23"/>
    <p:sldId id="1711" r:id="rId24"/>
    <p:sldId id="1598" r:id="rId25"/>
    <p:sldId id="2240" r:id="rId26"/>
    <p:sldId id="1600" r:id="rId27"/>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3309"/>
            <p14:sldId id="533"/>
            <p14:sldId id="3289"/>
            <p14:sldId id="3321"/>
            <p14:sldId id="3322"/>
            <p14:sldId id="2560"/>
          </p14:sldIdLst>
        </p14:section>
        <p14:section name="Toolkit overview" id="{F236E09D-F1BA-49AA-851C-9B6FC4C418CC}">
          <p14:sldIdLst>
            <p14:sldId id="2162"/>
            <p14:sldId id="3377"/>
            <p14:sldId id="3366"/>
            <p14:sldId id="3303"/>
            <p14:sldId id="3368"/>
            <p14:sldId id="3374"/>
            <p14:sldId id="3370"/>
            <p14:sldId id="3371"/>
            <p14:sldId id="3372"/>
            <p14:sldId id="3373"/>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0CA150-3B83-4A9B-B2CD-806978CEF9FA}" v="5" dt="2025-07-02T03:53:22.788"/>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7D0CA150-3B83-4A9B-B2CD-806978CEF9FA}"/>
    <pc:docChg chg="custSel addSld modSld">
      <pc:chgData name="Aurelien Domont" userId="6da7715ce44349b3" providerId="LiveId" clId="{7D0CA150-3B83-4A9B-B2CD-806978CEF9FA}" dt="2025-07-02T04:07:13.278" v="9" actId="20577"/>
      <pc:docMkLst>
        <pc:docMk/>
      </pc:docMkLst>
      <pc:sldChg chg="add">
        <pc:chgData name="Aurelien Domont" userId="6da7715ce44349b3" providerId="LiveId" clId="{7D0CA150-3B83-4A9B-B2CD-806978CEF9FA}" dt="2025-07-02T03:52:42.509" v="0"/>
        <pc:sldMkLst>
          <pc:docMk/>
          <pc:sldMk cId="398479863" sldId="533"/>
        </pc:sldMkLst>
      </pc:sldChg>
      <pc:sldChg chg="addSp delSp modSp add mod">
        <pc:chgData name="Aurelien Domont" userId="6da7715ce44349b3" providerId="LiveId" clId="{7D0CA150-3B83-4A9B-B2CD-806978CEF9FA}" dt="2025-07-02T04:07:13.278" v="9" actId="20577"/>
        <pc:sldMkLst>
          <pc:docMk/>
          <pc:sldMk cId="3892113266" sldId="3377"/>
        </pc:sldMkLst>
        <pc:spChg chg="mod">
          <ac:chgData name="Aurelien Domont" userId="6da7715ce44349b3" providerId="LiveId" clId="{7D0CA150-3B83-4A9B-B2CD-806978CEF9FA}" dt="2025-07-02T04:07:13.278" v="9" actId="20577"/>
          <ac:spMkLst>
            <pc:docMk/>
            <pc:sldMk cId="3892113266" sldId="3377"/>
            <ac:spMk id="2" creationId="{80848328-A156-B728-0E7B-DBD9A3015AFF}"/>
          </ac:spMkLst>
        </pc:spChg>
        <pc:spChg chg="mod">
          <ac:chgData name="Aurelien Domont" userId="6da7715ce44349b3" providerId="LiveId" clId="{7D0CA150-3B83-4A9B-B2CD-806978CEF9FA}" dt="2025-07-02T03:53:12.266" v="3" actId="20577"/>
          <ac:spMkLst>
            <pc:docMk/>
            <pc:sldMk cId="3892113266" sldId="3377"/>
            <ac:spMk id="14" creationId="{ABF9D4B2-53D2-60E9-FECC-79B008226F65}"/>
          </ac:spMkLst>
        </pc:spChg>
        <pc:picChg chg="add mod">
          <ac:chgData name="Aurelien Domont" userId="6da7715ce44349b3" providerId="LiveId" clId="{7D0CA150-3B83-4A9B-B2CD-806978CEF9FA}" dt="2025-07-02T03:53:28.372" v="7" actId="14100"/>
          <ac:picMkLst>
            <pc:docMk/>
            <pc:sldMk cId="3892113266" sldId="3377"/>
            <ac:picMk id="10" creationId="{8C2BF72A-A84B-402A-781A-67F16285B2BE}"/>
          </ac:picMkLst>
        </pc:picChg>
        <pc:picChg chg="del">
          <ac:chgData name="Aurelien Domont" userId="6da7715ce44349b3" providerId="LiveId" clId="{7D0CA150-3B83-4A9B-B2CD-806978CEF9FA}" dt="2025-07-02T03:53:21.898" v="4" actId="478"/>
          <ac:picMkLst>
            <pc:docMk/>
            <pc:sldMk cId="3892113266" sldId="3377"/>
            <ac:picMk id="17" creationId="{1EE5AC12-F00C-61C3-8EF9-F68A052AD79D}"/>
          </ac:picMkLst>
        </pc:picChg>
      </pc:sld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addSp modSp mod ord">
        <pc:chgData name="Aurelien Domont" userId="6da7715ce44349b3" providerId="LiveId" clId="{9149B00E-810E-48AB-9153-54C78195225C}" dt="2023-11-22T00:23:50.916" v="6023" actId="1076"/>
        <pc:sldMkLst>
          <pc:docMk/>
          <pc:sldMk cId="3272444503" sldId="2162"/>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mod ord">
        <pc:chgData name="Aurelien Domont" userId="6da7715ce44349b3" providerId="LiveId" clId="{9149B00E-810E-48AB-9153-54C78195225C}" dt="2023-11-22T00:22:54.262" v="6014" actId="20577"/>
        <pc:sldMkLst>
          <pc:docMk/>
          <pc:sldMk cId="862292938" sldId="2560"/>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modSp mod ord">
        <pc:chgData name="Aurelien Domont" userId="6da7715ce44349b3" providerId="LiveId" clId="{9149B00E-810E-48AB-9153-54C78195225C}" dt="2023-11-21T23:56:24.281" v="184" actId="20577"/>
        <pc:sldMkLst>
          <pc:docMk/>
          <pc:sldMk cId="2246164536" sldId="3289"/>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sldMasterChg chg="delSldLayout">
        <pc:chgData name="Aurelien Domont" userId="6da7715ce44349b3" providerId="LiveId" clId="{9149B00E-810E-48AB-9153-54C78195225C}" dt="2023-11-21T23:57:54.169" v="192" actId="2696"/>
        <pc:sldMasterMkLst>
          <pc:docMk/>
          <pc:sldMasterMk cId="3482721130" sldId="2147483828"/>
        </pc:sldMasterMkLst>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5-04-15T05:43:27.534" v="15085"/>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5-03-20T01:39:02.237" v="15046" actId="1037"/>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5-03-20T01:46:52.028" v="15083" actId="1410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5-03-28T03:40:51.104" v="15084" actId="207"/>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5-03-20T01:43:40.937" v="15072" actId="313"/>
        <pc:sldMkLst>
          <pc:docMk/>
          <pc:sldMk cId="601276562" sldId="3321"/>
        </pc:sldMkLst>
      </pc:sldChg>
      <pc:sldChg chg="addSp delSp modSp add mod">
        <pc:chgData name="Aurelien Domont" userId="6da7715ce44349b3" providerId="LiveId" clId="{B52C3AF2-5076-4BF5-AF33-C7553B05AF76}" dt="2025-03-20T01:44:10.749" v="15074" actId="313"/>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5-04-15T05:43:27.534" v="15085"/>
        <pc:sldMkLst>
          <pc:docMk/>
          <pc:sldMk cId="2387808226" sldId="3366"/>
        </pc:sldMkLst>
        <pc:spChg chg="mod">
          <ac:chgData name="Aurelien Domont" userId="6da7715ce44349b3" providerId="LiveId" clId="{B52C3AF2-5076-4BF5-AF33-C7553B05AF76}" dt="2025-04-15T05:43:27.534" v="15085"/>
          <ac:spMkLst>
            <pc:docMk/>
            <pc:sldMk cId="2387808226" sldId="3366"/>
            <ac:spMk id="18" creationId="{7DFF8D57-FA55-CE9C-C648-726CFFAC2507}"/>
          </ac:spMkLst>
        </pc:spChg>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5-03-20T01:42:46.313" v="15070" actId="108"/>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5535420098846788E-2"/>
          <c:y val="9.2171717171717168E-2"/>
          <c:w val="0.81383855024711693"/>
          <c:h val="0.81565656565656564"/>
        </c:manualLayout>
      </c:layout>
      <c:barChart>
        <c:barDir val="bar"/>
        <c:grouping val="stacked"/>
        <c:varyColors val="0"/>
        <c:ser>
          <c:idx val="0"/>
          <c:order val="0"/>
          <c:spPr>
            <a:solidFill>
              <a:schemeClr val="accent1"/>
            </a:solidFill>
            <a:ln>
              <a:noFill/>
            </a:ln>
          </c:spPr>
          <c:invertIfNegative val="0"/>
          <c:dPt>
            <c:idx val="3"/>
            <c:invertIfNegative val="0"/>
            <c:bubble3D val="0"/>
            <c:spPr>
              <a:solidFill>
                <a:schemeClr val="accent2"/>
              </a:solidFill>
              <a:ln>
                <a:noFill/>
              </a:ln>
            </c:spPr>
            <c:extLst>
              <c:ext xmlns:c16="http://schemas.microsoft.com/office/drawing/2014/chart" uri="{C3380CC4-5D6E-409C-BE32-E72D297353CC}">
                <c16:uniqueId val="{00000000-5DA0-4D10-9FBB-074DFC77330C}"/>
              </c:ext>
            </c:extLst>
          </c:dPt>
          <c:dLbls>
            <c:dLbl>
              <c:idx val="0"/>
              <c:layout>
                <c:manualLayout>
                  <c:x val="7.8665568369028008E-2"/>
                  <c:y val="1.6835016835016834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DA0-4D10-9FBB-074DFC77330C}"/>
                </c:ext>
              </c:extLst>
            </c:dLbl>
            <c:dLbl>
              <c:idx val="1"/>
              <c:layout>
                <c:manualLayout>
                  <c:x val="0.10996705107084019"/>
                  <c:y val="1.6835016835016834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5DA0-4D10-9FBB-074DFC77330C}"/>
                </c:ext>
              </c:extLst>
            </c:dLbl>
            <c:dLbl>
              <c:idx val="2"/>
              <c:layout>
                <c:manualLayout>
                  <c:x val="0.14497528830313014"/>
                  <c:y val="1.6835016835016834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5DA0-4D10-9FBB-074DFC77330C}"/>
                </c:ext>
              </c:extLst>
            </c:dLbl>
            <c:dLbl>
              <c:idx val="3"/>
              <c:layout>
                <c:manualLayout>
                  <c:x val="0.48805601317957165"/>
                  <c:y val="1.6835016835016834E-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DA0-4D10-9FBB-074DFC77330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50</c:v>
                </c:pt>
                <c:pt idx="1">
                  <c:v>85</c:v>
                </c:pt>
                <c:pt idx="2">
                  <c:v>125</c:v>
                </c:pt>
                <c:pt idx="3">
                  <c:v>800</c:v>
                </c:pt>
              </c:numCache>
            </c:numRef>
          </c:val>
          <c:extLst>
            <c:ext xmlns:c16="http://schemas.microsoft.com/office/drawing/2014/chart" uri="{C3380CC4-5D6E-409C-BE32-E72D297353CC}">
              <c16:uniqueId val="{00000004-5DA0-4D10-9FBB-074DFC77330C}"/>
            </c:ext>
          </c:extLst>
        </c:ser>
        <c:dLbls>
          <c:showLegendKey val="0"/>
          <c:showVal val="0"/>
          <c:showCatName val="0"/>
          <c:showSerName val="0"/>
          <c:showPercent val="0"/>
          <c:showBubbleSize val="0"/>
        </c:dLbls>
        <c:gapWidth val="80"/>
        <c:overlap val="100"/>
        <c:axId val="1499189392"/>
        <c:axId val="1"/>
      </c:barChart>
      <c:catAx>
        <c:axId val="1499189392"/>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
          <c:min val="0"/>
        </c:scaling>
        <c:delete val="1"/>
        <c:axPos val="t"/>
        <c:numFmt formatCode="General" sourceLinked="1"/>
        <c:majorTickMark val="out"/>
        <c:minorTickMark val="none"/>
        <c:tickLblPos val="nextTo"/>
        <c:crossAx val="1499189392"/>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2676139727649497"/>
          <c:y val="0.17351274787535412"/>
          <c:w val="0.54588513913558323"/>
          <c:h val="0.6529745042492918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0-5102-4E15-8BAD-2950FD061F3D}"/>
              </c:ext>
            </c:extLst>
          </c:dPt>
          <c:dPt>
            <c:idx val="1"/>
            <c:bubble3D val="0"/>
            <c:spPr>
              <a:solidFill>
                <a:schemeClr val="accent2"/>
              </a:solidFill>
              <a:ln>
                <a:noFill/>
              </a:ln>
            </c:spPr>
            <c:extLst>
              <c:ext xmlns:c16="http://schemas.microsoft.com/office/drawing/2014/chart" uri="{C3380CC4-5D6E-409C-BE32-E72D297353CC}">
                <c16:uniqueId val="{00000001-5102-4E15-8BAD-2950FD061F3D}"/>
              </c:ext>
            </c:extLst>
          </c:dPt>
          <c:dLbls>
            <c:dLbl>
              <c:idx val="0"/>
              <c:layout>
                <c:manualLayout>
                  <c:x val="-2.368265245707519E-3"/>
                  <c:y val="2.8328611898016999E-3"/>
                </c:manualLayout>
              </c:layout>
              <c:numFmt formatCode="#,##0&quot;%&quot;;&quot;-&quot;#,##0&quot;%&quot;" sourceLinked="0"/>
              <c:spPr>
                <a:noFill/>
                <a:ln>
                  <a:noFill/>
                </a:ln>
              </c:spPr>
              <c:txPr>
                <a:bodyPr wrap="none"/>
                <a:lstStyle/>
                <a:p>
                  <a:pPr>
                    <a:defRPr sz="1400" kern="120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102-4E15-8BAD-2950FD061F3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Sheet1!$A$1:$A$2</c:f>
              <c:numCache>
                <c:formatCode>General</c:formatCode>
                <c:ptCount val="2"/>
                <c:pt idx="0">
                  <c:v>18</c:v>
                </c:pt>
                <c:pt idx="1">
                  <c:v>82</c:v>
                </c:pt>
              </c:numCache>
            </c:numRef>
          </c:val>
          <c:extLst>
            <c:ext xmlns:c16="http://schemas.microsoft.com/office/drawing/2014/chart" uri="{C3380CC4-5D6E-409C-BE32-E72D297353CC}">
              <c16:uniqueId val="{00000002-5102-4E15-8BAD-2950FD061F3D}"/>
            </c:ext>
          </c:extLst>
        </c:ser>
        <c:dLbls>
          <c:showLegendKey val="0"/>
          <c:showVal val="0"/>
          <c:showCatName val="0"/>
          <c:showSerName val="0"/>
          <c:showPercent val="0"/>
          <c:showBubbleSize val="0"/>
          <c:showLeaderLines val="1"/>
        </c:dLbls>
        <c:firstSliceAng val="0"/>
        <c:holeSize val="50"/>
      </c:doughnutChart>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2676139727649497"/>
          <c:y val="0.17351274787535412"/>
          <c:w val="0.54588513913558323"/>
          <c:h val="0.65297450424929182"/>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0-3E55-44EB-8B72-7D9F56B5D18E}"/>
              </c:ext>
            </c:extLst>
          </c:dPt>
          <c:dPt>
            <c:idx val="1"/>
            <c:bubble3D val="0"/>
            <c:spPr>
              <a:solidFill>
                <a:schemeClr val="accent2"/>
              </a:solidFill>
              <a:ln>
                <a:noFill/>
              </a:ln>
            </c:spPr>
            <c:extLst>
              <c:ext xmlns:c16="http://schemas.microsoft.com/office/drawing/2014/chart" uri="{C3380CC4-5D6E-409C-BE32-E72D297353CC}">
                <c16:uniqueId val="{00000001-3E55-44EB-8B72-7D9F56B5D18E}"/>
              </c:ext>
            </c:extLst>
          </c:dPt>
          <c:dLbls>
            <c:dLbl>
              <c:idx val="0"/>
              <c:layout>
                <c:manualLayout>
                  <c:x val="0"/>
                  <c:y val="-1.4164305949008499E-3"/>
                </c:manualLayout>
              </c:layout>
              <c:numFmt formatCode="#,##0&quot;%&quot;;&quot;-&quot;#,##0&quot;%&quot;" sourceLinked="0"/>
              <c:spPr>
                <a:noFill/>
                <a:ln>
                  <a:noFill/>
                </a:ln>
              </c:spPr>
              <c:txPr>
                <a:bodyPr wrap="none"/>
                <a:lstStyle/>
                <a:p>
                  <a:pPr>
                    <a:defRPr sz="1400" kern="120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E55-44EB-8B72-7D9F56B5D18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Sheet1!$A$1:$A$2</c:f>
              <c:numCache>
                <c:formatCode>General</c:formatCode>
                <c:ptCount val="2"/>
                <c:pt idx="0">
                  <c:v>14.000000000000002</c:v>
                </c:pt>
                <c:pt idx="1">
                  <c:v>86</c:v>
                </c:pt>
              </c:numCache>
            </c:numRef>
          </c:val>
          <c:extLst>
            <c:ext xmlns:c16="http://schemas.microsoft.com/office/drawing/2014/chart" uri="{C3380CC4-5D6E-409C-BE32-E72D297353CC}">
              <c16:uniqueId val="{00000002-3E55-44EB-8B72-7D9F56B5D18E}"/>
            </c:ext>
          </c:extLst>
        </c:ser>
        <c:dLbls>
          <c:showLegendKey val="0"/>
          <c:showVal val="0"/>
          <c:showCatName val="0"/>
          <c:showSerName val="0"/>
          <c:showPercent val="0"/>
          <c:showBubbleSize val="0"/>
          <c:showLeaderLines val="1"/>
        </c:dLbls>
        <c:firstSliceAng val="0"/>
        <c:holeSize val="50"/>
      </c:doughnutChart>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0682261208576995E-2"/>
          <c:y val="5.0682261208576995E-2"/>
          <c:w val="0.89863547758284601"/>
          <c:h val="0.89863547758284601"/>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0-761B-4820-A148-940E7323F4C3}"/>
              </c:ext>
            </c:extLst>
          </c:dPt>
          <c:dPt>
            <c:idx val="1"/>
            <c:bubble3D val="0"/>
            <c:spPr>
              <a:solidFill>
                <a:schemeClr val="accent2"/>
              </a:solidFill>
              <a:ln>
                <a:noFill/>
              </a:ln>
            </c:spPr>
            <c:extLst>
              <c:ext xmlns:c16="http://schemas.microsoft.com/office/drawing/2014/chart" uri="{C3380CC4-5D6E-409C-BE32-E72D297353CC}">
                <c16:uniqueId val="{00000001-761B-4820-A148-940E7323F4C3}"/>
              </c:ext>
            </c:extLst>
          </c:dPt>
          <c:val>
            <c:numRef>
              <c:f>Sheet1!$A$1:$A$2</c:f>
              <c:numCache>
                <c:formatCode>General</c:formatCode>
                <c:ptCount val="2"/>
                <c:pt idx="0">
                  <c:v>7.0000000000000009</c:v>
                </c:pt>
                <c:pt idx="1">
                  <c:v>93</c:v>
                </c:pt>
              </c:numCache>
            </c:numRef>
          </c:val>
          <c:extLst>
            <c:ext xmlns:c16="http://schemas.microsoft.com/office/drawing/2014/chart" uri="{C3380CC4-5D6E-409C-BE32-E72D297353CC}">
              <c16:uniqueId val="{00000002-761B-4820-A148-940E7323F4C3}"/>
            </c:ext>
          </c:extLst>
        </c:ser>
        <c:dLbls>
          <c:showLegendKey val="0"/>
          <c:showVal val="0"/>
          <c:showCatName val="0"/>
          <c:showSerName val="0"/>
          <c:showPercent val="0"/>
          <c:showBubbleSize val="0"/>
          <c:showLeaderLines val="0"/>
        </c:dLbls>
        <c:firstSliceAng val="0"/>
        <c:holeSize val="50"/>
      </c:doughnutChart>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0682261208576995E-2"/>
          <c:y val="5.0682261208576995E-2"/>
          <c:w val="0.89863547758284601"/>
          <c:h val="0.89863547758284601"/>
        </c:manualLayout>
      </c:layout>
      <c:doughnutChart>
        <c:varyColors val="0"/>
        <c:ser>
          <c:idx val="0"/>
          <c:order val="0"/>
          <c:dPt>
            <c:idx val="0"/>
            <c:bubble3D val="0"/>
            <c:spPr>
              <a:solidFill>
                <a:schemeClr val="accent1"/>
              </a:solidFill>
              <a:ln>
                <a:noFill/>
              </a:ln>
            </c:spPr>
            <c:extLst>
              <c:ext xmlns:c16="http://schemas.microsoft.com/office/drawing/2014/chart" uri="{C3380CC4-5D6E-409C-BE32-E72D297353CC}">
                <c16:uniqueId val="{00000000-DBF8-4F08-8FBC-A115D18742DE}"/>
              </c:ext>
            </c:extLst>
          </c:dPt>
          <c:dPt>
            <c:idx val="1"/>
            <c:bubble3D val="0"/>
            <c:spPr>
              <a:solidFill>
                <a:schemeClr val="accent2"/>
              </a:solidFill>
              <a:ln>
                <a:noFill/>
              </a:ln>
            </c:spPr>
            <c:extLst>
              <c:ext xmlns:c16="http://schemas.microsoft.com/office/drawing/2014/chart" uri="{C3380CC4-5D6E-409C-BE32-E72D297353CC}">
                <c16:uniqueId val="{00000001-DBF8-4F08-8FBC-A115D18742DE}"/>
              </c:ext>
            </c:extLst>
          </c:dPt>
          <c:val>
            <c:numRef>
              <c:f>Sheet1!$A$1:$A$2</c:f>
              <c:numCache>
                <c:formatCode>General</c:formatCode>
                <c:ptCount val="2"/>
                <c:pt idx="0">
                  <c:v>3</c:v>
                </c:pt>
                <c:pt idx="1">
                  <c:v>97</c:v>
                </c:pt>
              </c:numCache>
            </c:numRef>
          </c:val>
          <c:extLst>
            <c:ext xmlns:c16="http://schemas.microsoft.com/office/drawing/2014/chart" uri="{C3380CC4-5D6E-409C-BE32-E72D297353CC}">
              <c16:uniqueId val="{00000002-DBF8-4F08-8FBC-A115D18742DE}"/>
            </c:ext>
          </c:extLst>
        </c:ser>
        <c:dLbls>
          <c:showLegendKey val="0"/>
          <c:showVal val="0"/>
          <c:showCatName val="0"/>
          <c:showSerName val="0"/>
          <c:showPercent val="0"/>
          <c:showBubbleSize val="0"/>
          <c:showLeaderLines val="0"/>
        </c:dLbls>
        <c:firstSliceAng val="0"/>
        <c:holeSize val="50"/>
      </c:doughnutChart>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3385848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7</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23</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hyperlink" Target="https://www.domontconsulting.com/" TargetMode="Externa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notesSlide" Target="../notesSlides/notesSlide1.xml"/><Relationship Id="rId9" Type="http://schemas.openxmlformats.org/officeDocument/2006/relationships/image" Target="../media/image5.jpe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3.emf"/><Relationship Id="rId10" Type="http://schemas.openxmlformats.org/officeDocument/2006/relationships/image" Target="../media/image10.png"/><Relationship Id="rId4" Type="http://schemas.openxmlformats.org/officeDocument/2006/relationships/oleObject" Target="../embeddings/oleObject7.bin"/><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4.png"/><Relationship Id="rId4" Type="http://schemas.openxmlformats.org/officeDocument/2006/relationships/oleObject" Target="../embeddings/oleObject8.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tags" Target="../tags/tag18.xml"/><Relationship Id="rId7" Type="http://schemas.openxmlformats.org/officeDocument/2006/relationships/slideLayout" Target="../slideLayouts/slideLayout1.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10" Type="http://schemas.openxmlformats.org/officeDocument/2006/relationships/chart" Target="../charts/chart1.xml"/><Relationship Id="rId4" Type="http://schemas.openxmlformats.org/officeDocument/2006/relationships/tags" Target="../tags/tag19.xml"/><Relationship Id="rId9" Type="http://schemas.openxmlformats.org/officeDocument/2006/relationships/image" Target="../media/image17.emf"/></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chart" Target="../charts/chart4.xml"/><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chart" Target="../charts/chart3.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chart" Target="../charts/chart2.xml"/><Relationship Id="rId5" Type="http://schemas.openxmlformats.org/officeDocument/2006/relationships/tags" Target="../tags/tag26.xml"/><Relationship Id="rId10" Type="http://schemas.openxmlformats.org/officeDocument/2006/relationships/image" Target="../media/image17.emf"/><Relationship Id="rId4" Type="http://schemas.openxmlformats.org/officeDocument/2006/relationships/tags" Target="../tags/tag25.xml"/><Relationship Id="rId9" Type="http://schemas.openxmlformats.org/officeDocument/2006/relationships/oleObject" Target="../embeddings/oleObject10.bin"/><Relationship Id="rId14" Type="http://schemas.openxmlformats.org/officeDocument/2006/relationships/chart" Target="../charts/chart5.xml"/></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slideLayout" Target="../slideLayouts/slideLayout1.xml"/><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tags" Target="../tags/tag30.xml"/><Relationship Id="rId16" Type="http://schemas.openxmlformats.org/officeDocument/2006/relationships/image" Target="../media/image27.svg"/><Relationship Id="rId20" Type="http://schemas.openxmlformats.org/officeDocument/2006/relationships/image" Target="../media/image31.svg"/><Relationship Id="rId1" Type="http://schemas.openxmlformats.org/officeDocument/2006/relationships/tags" Target="../tags/tag29.xml"/><Relationship Id="rId6" Type="http://schemas.openxmlformats.org/officeDocument/2006/relationships/image" Target="../media/image3.emf"/><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oleObject" Target="../embeddings/oleObject11.bin"/><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svg"/><Relationship Id="rId19" Type="http://schemas.openxmlformats.org/officeDocument/2006/relationships/image" Target="../media/image30.png"/><Relationship Id="rId4" Type="http://schemas.openxmlformats.org/officeDocument/2006/relationships/notesSlide" Target="../notesSlides/notesSlide4.xml"/><Relationship Id="rId9" Type="http://schemas.openxmlformats.org/officeDocument/2006/relationships/image" Target="../media/image20.png"/><Relationship Id="rId14" Type="http://schemas.openxmlformats.org/officeDocument/2006/relationships/image" Target="../media/image25.svg"/><Relationship Id="rId22"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31.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38.png"/><Relationship Id="rId2" Type="http://schemas.openxmlformats.org/officeDocument/2006/relationships/slideLayout" Target="../slideLayouts/slideLayout1.xml"/><Relationship Id="rId1" Type="http://schemas.openxmlformats.org/officeDocument/2006/relationships/tags" Target="../tags/tag32.xml"/><Relationship Id="rId6" Type="http://schemas.openxmlformats.org/officeDocument/2006/relationships/image" Target="../media/image37.png"/><Relationship Id="rId5" Type="http://schemas.openxmlformats.org/officeDocument/2006/relationships/hyperlink" Target="https://youtu.be/2S3UUpgfsVw" TargetMode="External"/><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7.png"/><Relationship Id="rId18" Type="http://schemas.openxmlformats.org/officeDocument/2006/relationships/image" Target="../media/image52.svg"/><Relationship Id="rId3" Type="http://schemas.openxmlformats.org/officeDocument/2006/relationships/oleObject" Target="../embeddings/oleObject14.bin"/><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svg"/><Relationship Id="rId17" Type="http://schemas.openxmlformats.org/officeDocument/2006/relationships/image" Target="../media/image51.png"/><Relationship Id="rId2" Type="http://schemas.openxmlformats.org/officeDocument/2006/relationships/slideLayout" Target="../slideLayouts/slideLayout1.xml"/><Relationship Id="rId16" Type="http://schemas.openxmlformats.org/officeDocument/2006/relationships/image" Target="../media/image50.svg"/><Relationship Id="rId20" Type="http://schemas.openxmlformats.org/officeDocument/2006/relationships/image" Target="../media/image54.svg"/><Relationship Id="rId1" Type="http://schemas.openxmlformats.org/officeDocument/2006/relationships/tags" Target="../tags/tag33.xml"/><Relationship Id="rId6" Type="http://schemas.openxmlformats.org/officeDocument/2006/relationships/image" Target="../media/image40.svg"/><Relationship Id="rId11" Type="http://schemas.openxmlformats.org/officeDocument/2006/relationships/image" Target="../media/image45.png"/><Relationship Id="rId24" Type="http://schemas.openxmlformats.org/officeDocument/2006/relationships/image" Target="../media/image58.sv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10" Type="http://schemas.openxmlformats.org/officeDocument/2006/relationships/image" Target="../media/image44.svg"/><Relationship Id="rId19" Type="http://schemas.openxmlformats.org/officeDocument/2006/relationships/image" Target="../media/image53.png"/><Relationship Id="rId4" Type="http://schemas.openxmlformats.org/officeDocument/2006/relationships/image" Target="../media/image3.emf"/><Relationship Id="rId9" Type="http://schemas.openxmlformats.org/officeDocument/2006/relationships/image" Target="../media/image43.png"/><Relationship Id="rId14" Type="http://schemas.openxmlformats.org/officeDocument/2006/relationships/image" Target="../media/image48.svg"/><Relationship Id="rId22" Type="http://schemas.openxmlformats.org/officeDocument/2006/relationships/image" Target="../media/image56.svg"/></Relationships>
</file>

<file path=ppt/slides/_rels/slide1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oleObject" Target="../embeddings/oleObject15.bin"/><Relationship Id="rId7" Type="http://schemas.openxmlformats.org/officeDocument/2006/relationships/image" Target="../media/image61.png"/><Relationship Id="rId2" Type="http://schemas.openxmlformats.org/officeDocument/2006/relationships/slideLayout" Target="../slideLayouts/slideLayout1.xml"/><Relationship Id="rId1" Type="http://schemas.openxmlformats.org/officeDocument/2006/relationships/tags" Target="../tags/tag34.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63.png"/><Relationship Id="rId4" Type="http://schemas.openxmlformats.org/officeDocument/2006/relationships/image" Target="../media/image3.emf"/><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oleObject" Target="../embeddings/oleObject16.bin"/><Relationship Id="rId7" Type="http://schemas.openxmlformats.org/officeDocument/2006/relationships/image" Target="../media/image66.png"/><Relationship Id="rId2" Type="http://schemas.openxmlformats.org/officeDocument/2006/relationships/slideLayout" Target="../slideLayouts/slideLayout1.xml"/><Relationship Id="rId1" Type="http://schemas.openxmlformats.org/officeDocument/2006/relationships/tags" Target="../tags/tag35.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3.emf"/><Relationship Id="rId9" Type="http://schemas.openxmlformats.org/officeDocument/2006/relationships/image" Target="../media/image68.png"/></Relationships>
</file>

<file path=ppt/slides/_rels/slide12.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oleObject" Target="../embeddings/oleObject17.bin"/><Relationship Id="rId7" Type="http://schemas.openxmlformats.org/officeDocument/2006/relationships/image" Target="../media/image13.png"/><Relationship Id="rId2" Type="http://schemas.openxmlformats.org/officeDocument/2006/relationships/slideLayout" Target="../slideLayouts/slideLayout1.xml"/><Relationship Id="rId1" Type="http://schemas.openxmlformats.org/officeDocument/2006/relationships/tags" Target="../tags/tag36.xml"/><Relationship Id="rId6" Type="http://schemas.openxmlformats.org/officeDocument/2006/relationships/image" Target="../media/image70.png"/><Relationship Id="rId5" Type="http://schemas.openxmlformats.org/officeDocument/2006/relationships/image" Target="../media/image12.png"/><Relationship Id="rId10" Type="http://schemas.openxmlformats.org/officeDocument/2006/relationships/image" Target="../media/image73.png"/><Relationship Id="rId4" Type="http://schemas.openxmlformats.org/officeDocument/2006/relationships/image" Target="../media/image3.emf"/><Relationship Id="rId9" Type="http://schemas.openxmlformats.org/officeDocument/2006/relationships/image" Target="../media/image72.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xml"/><Relationship Id="rId1" Type="http://schemas.openxmlformats.org/officeDocument/2006/relationships/tags" Target="../tags/tag3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9.bin"/><Relationship Id="rId7" Type="http://schemas.openxmlformats.org/officeDocument/2006/relationships/image" Target="../media/image77.png"/><Relationship Id="rId2" Type="http://schemas.openxmlformats.org/officeDocument/2006/relationships/slideLayout" Target="../slideLayouts/slideLayout1.xml"/><Relationship Id="rId1" Type="http://schemas.openxmlformats.org/officeDocument/2006/relationships/tags" Target="../tags/tag38.xml"/><Relationship Id="rId6" Type="http://schemas.openxmlformats.org/officeDocument/2006/relationships/image" Target="../media/image76.png"/><Relationship Id="rId5" Type="http://schemas.openxmlformats.org/officeDocument/2006/relationships/image" Target="../media/image6.png"/><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oleObject" Target="../embeddings/oleObject20.bin"/><Relationship Id="rId7" Type="http://schemas.openxmlformats.org/officeDocument/2006/relationships/image" Target="../media/image80.png"/><Relationship Id="rId2" Type="http://schemas.openxmlformats.org/officeDocument/2006/relationships/slideLayout" Target="../slideLayouts/slideLayout1.xml"/><Relationship Id="rId1" Type="http://schemas.openxmlformats.org/officeDocument/2006/relationships/tags" Target="../tags/tag39.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oleObject" Target="../embeddings/oleObject21.bin"/><Relationship Id="rId7" Type="http://schemas.openxmlformats.org/officeDocument/2006/relationships/image" Target="../media/image84.png"/><Relationship Id="rId2" Type="http://schemas.openxmlformats.org/officeDocument/2006/relationships/slideLayout" Target="../slideLayouts/slideLayout1.xml"/><Relationship Id="rId1" Type="http://schemas.openxmlformats.org/officeDocument/2006/relationships/tags" Target="../tags/tag40.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notesSlide" Target="../notesSlides/notesSlide6.xml"/><Relationship Id="rId7" Type="http://schemas.openxmlformats.org/officeDocument/2006/relationships/image" Target="../media/image87.png"/><Relationship Id="rId2" Type="http://schemas.openxmlformats.org/officeDocument/2006/relationships/slideLayout" Target="../slideLayouts/slideLayout1.xml"/><Relationship Id="rId1" Type="http://schemas.openxmlformats.org/officeDocument/2006/relationships/tags" Target="../tags/tag41.xml"/><Relationship Id="rId6" Type="http://schemas.openxmlformats.org/officeDocument/2006/relationships/image" Target="../media/image86.png"/><Relationship Id="rId5" Type="http://schemas.openxmlformats.org/officeDocument/2006/relationships/image" Target="../media/image1.emf"/><Relationship Id="rId10" Type="http://schemas.openxmlformats.org/officeDocument/2006/relationships/image" Target="../media/image37.png"/><Relationship Id="rId4" Type="http://schemas.openxmlformats.org/officeDocument/2006/relationships/oleObject" Target="../embeddings/oleObject22.bin"/><Relationship Id="rId9" Type="http://schemas.openxmlformats.org/officeDocument/2006/relationships/image" Target="../media/image89.svg"/></Relationships>
</file>

<file path=ppt/slides/_rels/slide18.xml.rels><?xml version="1.0" encoding="UTF-8" standalone="yes"?>
<Relationships xmlns="http://schemas.openxmlformats.org/package/2006/relationships"><Relationship Id="rId8" Type="http://schemas.openxmlformats.org/officeDocument/2006/relationships/image" Target="../media/image91.svg"/><Relationship Id="rId13" Type="http://schemas.openxmlformats.org/officeDocument/2006/relationships/image" Target="../media/image96.png"/><Relationship Id="rId18" Type="http://schemas.openxmlformats.org/officeDocument/2006/relationships/image" Target="../media/image101.svg"/><Relationship Id="rId3" Type="http://schemas.openxmlformats.org/officeDocument/2006/relationships/slideLayout" Target="../slideLayouts/slideLayout1.xml"/><Relationship Id="rId21" Type="http://schemas.openxmlformats.org/officeDocument/2006/relationships/image" Target="../media/image104.png"/><Relationship Id="rId7" Type="http://schemas.openxmlformats.org/officeDocument/2006/relationships/image" Target="../media/image90.png"/><Relationship Id="rId12" Type="http://schemas.openxmlformats.org/officeDocument/2006/relationships/image" Target="../media/image95.svg"/><Relationship Id="rId17" Type="http://schemas.openxmlformats.org/officeDocument/2006/relationships/image" Target="../media/image100.png"/><Relationship Id="rId2" Type="http://schemas.openxmlformats.org/officeDocument/2006/relationships/tags" Target="../tags/tag43.xml"/><Relationship Id="rId16" Type="http://schemas.openxmlformats.org/officeDocument/2006/relationships/image" Target="../media/image99.svg"/><Relationship Id="rId20" Type="http://schemas.openxmlformats.org/officeDocument/2006/relationships/image" Target="../media/image103.svg"/><Relationship Id="rId1" Type="http://schemas.openxmlformats.org/officeDocument/2006/relationships/tags" Target="../tags/tag42.xml"/><Relationship Id="rId6" Type="http://schemas.openxmlformats.org/officeDocument/2006/relationships/image" Target="../media/image1.emf"/><Relationship Id="rId11" Type="http://schemas.openxmlformats.org/officeDocument/2006/relationships/image" Target="../media/image94.png"/><Relationship Id="rId24" Type="http://schemas.openxmlformats.org/officeDocument/2006/relationships/image" Target="../media/image107.svg"/><Relationship Id="rId5" Type="http://schemas.openxmlformats.org/officeDocument/2006/relationships/oleObject" Target="../embeddings/oleObject23.bin"/><Relationship Id="rId15" Type="http://schemas.openxmlformats.org/officeDocument/2006/relationships/image" Target="../media/image98.png"/><Relationship Id="rId23" Type="http://schemas.openxmlformats.org/officeDocument/2006/relationships/image" Target="../media/image106.png"/><Relationship Id="rId10" Type="http://schemas.openxmlformats.org/officeDocument/2006/relationships/image" Target="../media/image93.svg"/><Relationship Id="rId19" Type="http://schemas.openxmlformats.org/officeDocument/2006/relationships/image" Target="../media/image102.png"/><Relationship Id="rId4" Type="http://schemas.openxmlformats.org/officeDocument/2006/relationships/notesSlide" Target="../notesSlides/notesSlide7.xml"/><Relationship Id="rId9" Type="http://schemas.openxmlformats.org/officeDocument/2006/relationships/image" Target="../media/image92.png"/><Relationship Id="rId14" Type="http://schemas.openxmlformats.org/officeDocument/2006/relationships/image" Target="../media/image97.svg"/><Relationship Id="rId22" Type="http://schemas.openxmlformats.org/officeDocument/2006/relationships/image" Target="../media/image105.sv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44.xml"/><Relationship Id="rId6" Type="http://schemas.openxmlformats.org/officeDocument/2006/relationships/hyperlink" Target="https://www.domontconsulting.com/pages/reviews" TargetMode="External"/><Relationship Id="rId5" Type="http://schemas.openxmlformats.org/officeDocument/2006/relationships/image" Target="../media/image108.png"/><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notesSlide" Target="../notesSlides/notesSlide8.xml"/><Relationship Id="rId7"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tags" Target="../tags/tag45.xml"/><Relationship Id="rId6" Type="http://schemas.openxmlformats.org/officeDocument/2006/relationships/image" Target="../media/image109.png"/><Relationship Id="rId11" Type="http://schemas.openxmlformats.org/officeDocument/2006/relationships/image" Target="../media/image36.png"/><Relationship Id="rId5" Type="http://schemas.openxmlformats.org/officeDocument/2006/relationships/image" Target="../media/image1.emf"/><Relationship Id="rId10" Type="http://schemas.openxmlformats.org/officeDocument/2006/relationships/image" Target="../media/image35.png"/><Relationship Id="rId4" Type="http://schemas.openxmlformats.org/officeDocument/2006/relationships/oleObject" Target="../embeddings/oleObject25.bin"/><Relationship Id="rId9" Type="http://schemas.openxmlformats.org/officeDocument/2006/relationships/image" Target="../media/image34.png"/></Relationships>
</file>

<file path=ppt/slides/_rels/slide21.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2.emf"/><Relationship Id="rId5" Type="http://schemas.openxmlformats.org/officeDocument/2006/relationships/oleObject" Target="../embeddings/oleObject26.bin"/><Relationship Id="rId4" Type="http://schemas.openxmlformats.org/officeDocument/2006/relationships/notesSlide" Target="../notesSlides/notesSlide9.xml"/><Relationship Id="rId9" Type="http://schemas.openxmlformats.org/officeDocument/2006/relationships/hyperlink" Target="https://www.domontconsulting.com/pages/full-access"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115.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1.emf"/><Relationship Id="rId11" Type="http://schemas.openxmlformats.org/officeDocument/2006/relationships/image" Target="../media/image114.png"/><Relationship Id="rId5" Type="http://schemas.openxmlformats.org/officeDocument/2006/relationships/oleObject" Target="../embeddings/oleObject27.bin"/><Relationship Id="rId10" Type="http://schemas.openxmlformats.org/officeDocument/2006/relationships/image" Target="../media/image113.png"/><Relationship Id="rId4" Type="http://schemas.openxmlformats.org/officeDocument/2006/relationships/notesSlide" Target="../notesSlides/notesSlide10.xml"/><Relationship Id="rId9" Type="http://schemas.openxmlformats.org/officeDocument/2006/relationships/image" Target="../media/image112.png"/></Relationships>
</file>

<file path=ppt/slides/_rels/slide23.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oleObject" Target="../embeddings/oleObject28.bin"/><Relationship Id="rId5" Type="http://schemas.openxmlformats.org/officeDocument/2006/relationships/image" Target="../media/image117.pn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2894577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A1ADDC43-E206-24D0-5D8D-6D8244D3F224}"/>
              </a:ext>
            </a:extLst>
          </p:cNvPr>
          <p:cNvSpPr/>
          <p:nvPr/>
        </p:nvSpPr>
        <p:spPr>
          <a:xfrm>
            <a:off x="-1" y="5061098"/>
            <a:ext cx="12192000" cy="17969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332933" y="5373921"/>
            <a:ext cx="6610127" cy="969496"/>
          </a:xfrm>
          <a:prstGeom prst="rect">
            <a:avLst/>
          </a:prstGeom>
          <a:noFill/>
        </p:spPr>
        <p:txBody>
          <a:bodyPr wrap="square" rtlCol="0">
            <a:spAutoFit/>
          </a:bodyPr>
          <a:lstStyle/>
          <a:p>
            <a:pPr>
              <a:spcBef>
                <a:spcPts val="300"/>
              </a:spcBef>
              <a:spcAft>
                <a:spcPts val="300"/>
              </a:spcAft>
            </a:pPr>
            <a:r>
              <a:rPr lang="en-US" sz="2800" b="1" dirty="0"/>
              <a:t>HR and Talent Management Toolkit</a:t>
            </a:r>
          </a:p>
          <a:p>
            <a:pPr>
              <a:spcBef>
                <a:spcPts val="300"/>
              </a:spcBef>
              <a:spcAft>
                <a:spcPts val="300"/>
              </a:spcAft>
            </a:pPr>
            <a:r>
              <a:rPr lang="en-US" sz="2400" dirty="0">
                <a:solidFill>
                  <a:schemeClr val="accent2"/>
                </a:solidFill>
              </a:rPr>
              <a:t>Overview and Approach</a:t>
            </a:r>
            <a:endParaRPr lang="en-US" sz="2800" dirty="0">
              <a:solidFill>
                <a:schemeClr val="accent2"/>
              </a:solidFill>
            </a:endParaRPr>
          </a:p>
        </p:txBody>
      </p:sp>
      <p:pic>
        <p:nvPicPr>
          <p:cNvPr id="3" name="Picture 2">
            <a:hlinkClick r:id="rId7"/>
            <a:extLst>
              <a:ext uri="{FF2B5EF4-FFF2-40B4-BE49-F238E27FC236}">
                <a16:creationId xmlns:a16="http://schemas.microsoft.com/office/drawing/2014/main" id="{B306F8A8-845A-B178-6CD0-D0574A8D0252}"/>
              </a:ext>
            </a:extLst>
          </p:cNvPr>
          <p:cNvPicPr>
            <a:picLocks noChangeAspect="1"/>
          </p:cNvPicPr>
          <p:nvPr/>
        </p:nvPicPr>
        <p:blipFill>
          <a:blip r:embed="rId8"/>
          <a:stretch>
            <a:fillRect/>
          </a:stretch>
        </p:blipFill>
        <p:spPr>
          <a:xfrm>
            <a:off x="7856795" y="5402533"/>
            <a:ext cx="4101954" cy="964769"/>
          </a:xfrm>
          <a:prstGeom prst="rect">
            <a:avLst/>
          </a:prstGeom>
        </p:spPr>
      </p:pic>
      <p:pic>
        <p:nvPicPr>
          <p:cNvPr id="5" name="Pic">
            <a:extLst>
              <a:ext uri="{FF2B5EF4-FFF2-40B4-BE49-F238E27FC236}">
                <a16:creationId xmlns:a16="http://schemas.microsoft.com/office/drawing/2014/main" id="{EEA30BF1-83E6-1368-E144-6C656AC7E021}"/>
              </a:ext>
            </a:extLst>
          </p:cNvPr>
          <p:cNvPicPr>
            <a:picLocks/>
          </p:cNvPicPr>
          <p:nvPr>
            <p:custDataLst>
              <p:tags r:id="rId2"/>
            </p:custDataLst>
          </p:nvPr>
        </p:nvPicPr>
        <p:blipFill>
          <a:blip r:embed="rId9">
            <a:extLst>
              <a:ext uri="{BEBA8EAE-BF5A-486C-A8C5-ECC9F3942E4B}">
                <a14:imgProps xmlns:a14="http://schemas.microsoft.com/office/drawing/2010/main">
                  <a14:imgLayer/>
                </a14:imgProps>
              </a:ext>
              <a:ext uri="{6F801314-5768-4EAC-8CED-0F2297F94238}"/>
            </a:extLst>
          </a:blip>
          <a:srcRect t="20104" b="20104"/>
          <a:stretch>
            <a:fillRect/>
          </a:stretch>
        </p:blipFill>
        <p:spPr bwMode="auto">
          <a:xfrm>
            <a:off x="0" y="-1"/>
            <a:ext cx="12192000" cy="4859338"/>
          </a:xfrm>
          <a:prstGeom prst="rect">
            <a:avLst/>
          </a:prstGeom>
          <a:noFill/>
          <a:ln>
            <a:noFill/>
          </a:ln>
          <a:effectLst/>
          <a:extLst>
            <a:ext uri="{909E8E84-426E-40DD-AFC4-6F175D3DCCD1}">
              <a14:hiddenFill xmlns:a14="http://schemas.microsoft.com/office/drawing/2010/main">
                <a:solidFill>
                  <a:scrgbClr r="0" g="0" b="0"/>
                </a:solidFill>
              </a14:hiddenFill>
            </a:ext>
          </a:extLst>
        </p:spPr>
      </p:pic>
    </p:spTree>
    <p:extLst>
      <p:ext uri="{BB962C8B-B14F-4D97-AF65-F5344CB8AC3E}">
        <p14:creationId xmlns:p14="http://schemas.microsoft.com/office/powerpoint/2010/main" val="3071151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9CA9D4B1-474E-84C6-8C1B-3688B20C8409}"/>
              </a:ext>
            </a:extLst>
          </p:cNvPr>
          <p:cNvPicPr>
            <a:picLocks noChangeAspect="1"/>
          </p:cNvPicPr>
          <p:nvPr/>
        </p:nvPicPr>
        <p:blipFill rotWithShape="1">
          <a:blip r:embed="rId6"/>
          <a:srcRect t="27220" b="3888"/>
          <a:stretch/>
        </p:blipFill>
        <p:spPr>
          <a:xfrm>
            <a:off x="655719" y="4615635"/>
            <a:ext cx="3315905" cy="1875600"/>
          </a:xfrm>
          <a:prstGeom prst="rect">
            <a:avLst/>
          </a:prstGeom>
          <a:effectLst>
            <a:outerShdw blurRad="50800" dist="38100" dir="5400000" algn="t" rotWithShape="0">
              <a:prstClr val="black">
                <a:alpha val="40000"/>
              </a:prstClr>
            </a:outerShdw>
          </a:effectLst>
        </p:spPr>
      </p:pic>
      <p:pic>
        <p:nvPicPr>
          <p:cNvPr id="5" name="Picture 4" descr="A group of people rowing a boat&#10;&#10;Description automatically generated">
            <a:extLst>
              <a:ext uri="{FF2B5EF4-FFF2-40B4-BE49-F238E27FC236}">
                <a16:creationId xmlns:a16="http://schemas.microsoft.com/office/drawing/2014/main" id="{5D95D970-564C-FE93-8747-6C82E2BBD0FA}"/>
              </a:ext>
            </a:extLst>
          </p:cNvPr>
          <p:cNvPicPr>
            <a:picLocks noChangeAspect="1"/>
          </p:cNvPicPr>
          <p:nvPr/>
        </p:nvPicPr>
        <p:blipFill>
          <a:blip r:embed="rId7"/>
          <a:stretch>
            <a:fillRect/>
          </a:stretch>
        </p:blipFill>
        <p:spPr>
          <a:xfrm>
            <a:off x="646471" y="262252"/>
            <a:ext cx="3334400" cy="1875600"/>
          </a:xfrm>
          <a:prstGeom prst="rect">
            <a:avLst/>
          </a:prstGeom>
          <a:effectLst>
            <a:outerShdw blurRad="50800" dist="38100" dir="5400000" algn="t" rotWithShape="0">
              <a:prstClr val="black">
                <a:alpha val="40000"/>
              </a:prstClr>
            </a:outerShdw>
          </a:effectLst>
        </p:spPr>
      </p:pic>
      <p:pic>
        <p:nvPicPr>
          <p:cNvPr id="11" name="Picture 10" descr="A blue and white text and blue bar graph&#10;&#10;Description automatically generated with medium confidence">
            <a:extLst>
              <a:ext uri="{FF2B5EF4-FFF2-40B4-BE49-F238E27FC236}">
                <a16:creationId xmlns:a16="http://schemas.microsoft.com/office/drawing/2014/main" id="{0C2DD682-8FD8-E685-1008-56F41DCDCA73}"/>
              </a:ext>
            </a:extLst>
          </p:cNvPr>
          <p:cNvPicPr>
            <a:picLocks noChangeAspect="1"/>
          </p:cNvPicPr>
          <p:nvPr/>
        </p:nvPicPr>
        <p:blipFill>
          <a:blip r:embed="rId8"/>
          <a:stretch>
            <a:fillRect/>
          </a:stretch>
        </p:blipFill>
        <p:spPr>
          <a:xfrm>
            <a:off x="4426959" y="2499525"/>
            <a:ext cx="3334400" cy="1875600"/>
          </a:xfrm>
          <a:prstGeom prst="rect">
            <a:avLst/>
          </a:prstGeom>
          <a:effectLst>
            <a:outerShdw blurRad="50800" dist="38100" dir="5400000" algn="t" rotWithShape="0">
              <a:prstClr val="black">
                <a:alpha val="40000"/>
              </a:prstClr>
            </a:outerShdw>
          </a:effectLst>
        </p:spPr>
      </p:pic>
      <p:pic>
        <p:nvPicPr>
          <p:cNvPr id="16" name="Picture 15" descr="A diagram of a company's company&#10;&#10;Description automatically generated">
            <a:extLst>
              <a:ext uri="{FF2B5EF4-FFF2-40B4-BE49-F238E27FC236}">
                <a16:creationId xmlns:a16="http://schemas.microsoft.com/office/drawing/2014/main" id="{3C301C7F-834F-1430-F35F-9C6BE9E9B146}"/>
              </a:ext>
            </a:extLst>
          </p:cNvPr>
          <p:cNvPicPr>
            <a:picLocks noChangeAspect="1"/>
          </p:cNvPicPr>
          <p:nvPr/>
        </p:nvPicPr>
        <p:blipFill>
          <a:blip r:embed="rId9"/>
          <a:stretch>
            <a:fillRect/>
          </a:stretch>
        </p:blipFill>
        <p:spPr>
          <a:xfrm>
            <a:off x="637224" y="2499525"/>
            <a:ext cx="3334400" cy="1875600"/>
          </a:xfrm>
          <a:prstGeom prst="rect">
            <a:avLst/>
          </a:prstGeom>
          <a:effectLst>
            <a:outerShdw blurRad="50800" dist="38100" dir="5400000" algn="t" rotWithShape="0">
              <a:prstClr val="black">
                <a:alpha val="40000"/>
              </a:prstClr>
            </a:outerShdw>
          </a:effectLst>
        </p:spPr>
      </p:pic>
      <p:pic>
        <p:nvPicPr>
          <p:cNvPr id="19" name="Picture 18" descr="A blue and white chart with yellow text&#10;&#10;Description automatically generated">
            <a:extLst>
              <a:ext uri="{FF2B5EF4-FFF2-40B4-BE49-F238E27FC236}">
                <a16:creationId xmlns:a16="http://schemas.microsoft.com/office/drawing/2014/main" id="{F337DDC0-6F2E-91E9-3B01-5BB6F00F7197}"/>
              </a:ext>
            </a:extLst>
          </p:cNvPr>
          <p:cNvPicPr>
            <a:picLocks noChangeAspect="1"/>
          </p:cNvPicPr>
          <p:nvPr/>
        </p:nvPicPr>
        <p:blipFill>
          <a:blip r:embed="rId10"/>
          <a:stretch>
            <a:fillRect/>
          </a:stretch>
        </p:blipFill>
        <p:spPr>
          <a:xfrm>
            <a:off x="4426959" y="280680"/>
            <a:ext cx="3334400" cy="18756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F109CED6-7196-376C-18A7-11B77639BF2C}"/>
              </a:ext>
            </a:extLst>
          </p:cNvPr>
          <p:cNvPicPr>
            <a:picLocks noChangeAspect="1"/>
          </p:cNvPicPr>
          <p:nvPr/>
        </p:nvPicPr>
        <p:blipFill>
          <a:blip r:embed="rId11"/>
          <a:stretch>
            <a:fillRect/>
          </a:stretch>
        </p:blipFill>
        <p:spPr>
          <a:xfrm>
            <a:off x="8244497" y="262252"/>
            <a:ext cx="3357254" cy="1875600"/>
          </a:xfrm>
          <a:prstGeom prst="rect">
            <a:avLst/>
          </a:prstGeom>
          <a:effectLst>
            <a:outerShdw blurRad="50800" dist="38100" dir="5400000" algn="t" rotWithShape="0">
              <a:prstClr val="black">
                <a:alpha val="40000"/>
              </a:prstClr>
            </a:outerShdw>
          </a:effectLst>
        </p:spPr>
      </p:pic>
      <p:pic>
        <p:nvPicPr>
          <p:cNvPr id="25" name="Picture 24">
            <a:extLst>
              <a:ext uri="{FF2B5EF4-FFF2-40B4-BE49-F238E27FC236}">
                <a16:creationId xmlns:a16="http://schemas.microsoft.com/office/drawing/2014/main" id="{E4A91253-1EC1-3D1D-B81D-CF4F7CDC4A6B}"/>
              </a:ext>
            </a:extLst>
          </p:cNvPr>
          <p:cNvPicPr>
            <a:picLocks noChangeAspect="1"/>
          </p:cNvPicPr>
          <p:nvPr/>
        </p:nvPicPr>
        <p:blipFill>
          <a:blip r:embed="rId12"/>
          <a:stretch>
            <a:fillRect/>
          </a:stretch>
        </p:blipFill>
        <p:spPr>
          <a:xfrm>
            <a:off x="8231947" y="2499525"/>
            <a:ext cx="3334399" cy="187560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92C38ADC-6253-34C0-0F55-2000CCD9029B}"/>
              </a:ext>
            </a:extLst>
          </p:cNvPr>
          <p:cNvPicPr>
            <a:picLocks noChangeAspect="1"/>
          </p:cNvPicPr>
          <p:nvPr/>
        </p:nvPicPr>
        <p:blipFill>
          <a:blip r:embed="rId13"/>
          <a:stretch>
            <a:fillRect/>
          </a:stretch>
        </p:blipFill>
        <p:spPr>
          <a:xfrm>
            <a:off x="4426959" y="4615635"/>
            <a:ext cx="3334400" cy="1875600"/>
          </a:xfrm>
          <a:prstGeom prst="rect">
            <a:avLst/>
          </a:prstGeom>
          <a:effectLst>
            <a:outerShdw blurRad="50800" dist="38100" dir="5400000" algn="t" rotWithShape="0">
              <a:prstClr val="black">
                <a:alpha val="40000"/>
              </a:prstClr>
            </a:outerShdw>
          </a:effectLst>
        </p:spPr>
      </p:pic>
      <p:pic>
        <p:nvPicPr>
          <p:cNvPr id="29" name="Picture 28">
            <a:extLst>
              <a:ext uri="{FF2B5EF4-FFF2-40B4-BE49-F238E27FC236}">
                <a16:creationId xmlns:a16="http://schemas.microsoft.com/office/drawing/2014/main" id="{7B1E5D20-7599-199E-962B-552CBA01A4C2}"/>
              </a:ext>
            </a:extLst>
          </p:cNvPr>
          <p:cNvPicPr>
            <a:picLocks noChangeAspect="1"/>
          </p:cNvPicPr>
          <p:nvPr/>
        </p:nvPicPr>
        <p:blipFill>
          <a:blip r:embed="rId14"/>
          <a:stretch>
            <a:fillRect/>
          </a:stretch>
        </p:blipFill>
        <p:spPr>
          <a:xfrm>
            <a:off x="8231946" y="4615635"/>
            <a:ext cx="3334400" cy="18756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98479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Toolkit was created by ex-McKinsey, Deloitte and BCG Management Consultants </a:t>
            </a:r>
            <a:r>
              <a:rPr lang="en-US" sz="1600" dirty="0">
                <a:solidFill>
                  <a:schemeClr val="tx1"/>
                </a:solidFill>
                <a:cs typeface="Arial" panose="020B0604020202020204" pitchFamily="34" charset="0"/>
              </a:rPr>
              <a:t>after 3,000+ hours of work. It shares our combined 100+ years of experience advising executive teams around the world. It includes all the Frameworks, Best Practices &amp; Templates required to improve the “HR and Talent Management” function of your organization, and help you attract, develop and retain top talent.</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3" name="Footer Placeholder 2">
            <a:extLst>
              <a:ext uri="{FF2B5EF4-FFF2-40B4-BE49-F238E27FC236}">
                <a16:creationId xmlns:a16="http://schemas.microsoft.com/office/drawing/2014/main" id="{9413358A-4384-1045-FDA1-F35DD80F5919}"/>
              </a:ext>
            </a:extLst>
          </p:cNvPr>
          <p:cNvSpPr>
            <a:spLocks noGrp="1"/>
          </p:cNvSpPr>
          <p:nvPr>
            <p:ph type="ftr" sz="quarter" idx="3"/>
          </p:nvPr>
        </p:nvSpPr>
        <p:spPr/>
        <p:txBody>
          <a:bodyPr/>
          <a:lstStyle/>
          <a:p>
            <a:r>
              <a:rPr lang="en-US" dirty="0"/>
              <a:t>Domont Consulting</a:t>
            </a:r>
          </a:p>
        </p:txBody>
      </p:sp>
      <p:sp>
        <p:nvSpPr>
          <p:cNvPr id="4" name="Slide Number Placeholder 3">
            <a:extLst>
              <a:ext uri="{FF2B5EF4-FFF2-40B4-BE49-F238E27FC236}">
                <a16:creationId xmlns:a16="http://schemas.microsoft.com/office/drawing/2014/main" id="{377E5CD3-579B-2886-8F3A-1047A6005B1C}"/>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6A0928A2-5679-39E5-8050-3FF70F110818}"/>
              </a:ext>
            </a:extLst>
          </p:cNvPr>
          <p:cNvGraphicFramePr>
            <a:graphicFrameLocks noChangeAspect="1"/>
          </p:cNvGraphicFramePr>
          <p:nvPr>
            <p:custDataLst>
              <p:tags r:id="rId1"/>
            </p:custDataLst>
            <p:extLst>
              <p:ext uri="{D42A27DB-BD31-4B8C-83A1-F6EECF244321}">
                <p14:modId xmlns:p14="http://schemas.microsoft.com/office/powerpoint/2010/main" val="4058985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06" imgH="306" progId="TCLayout.ActiveDocument.1">
                  <p:embed/>
                </p:oleObj>
              </mc:Choice>
              <mc:Fallback>
                <p:oleObj name="think-cell Slide" r:id="rId8" imgW="306" imgH="306" progId="TCLayout.ActiveDocument.1">
                  <p:embed/>
                  <p:pic>
                    <p:nvPicPr>
                      <p:cNvPr id="16" name="think-cell data - do not delete" hidden="1">
                        <a:extLst>
                          <a:ext uri="{FF2B5EF4-FFF2-40B4-BE49-F238E27FC236}">
                            <a16:creationId xmlns:a16="http://schemas.microsoft.com/office/drawing/2014/main" id="{6A0928A2-5679-39E5-8050-3FF70F110818}"/>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C8D96AE-3B87-BB1A-13CC-08803680CEE2}"/>
              </a:ext>
            </a:extLst>
          </p:cNvPr>
          <p:cNvSpPr>
            <a:spLocks noGrp="1"/>
          </p:cNvSpPr>
          <p:nvPr>
            <p:ph type="title"/>
          </p:nvPr>
        </p:nvSpPr>
        <p:spPr/>
        <p:txBody>
          <a:bodyPr vert="horz">
            <a:normAutofit/>
          </a:bodyPr>
          <a:lstStyle/>
          <a:p>
            <a:r>
              <a:rPr lang="en-US" dirty="0">
                <a:solidFill>
                  <a:schemeClr val="accent2"/>
                </a:solidFill>
              </a:rPr>
              <a:t>Context: </a:t>
            </a:r>
            <a:r>
              <a:rPr lang="en-US" dirty="0">
                <a:solidFill>
                  <a:schemeClr val="tx1"/>
                </a:solidFill>
              </a:rPr>
              <a:t>Superior talent is up to 8 times more productive than average talent</a:t>
            </a:r>
          </a:p>
        </p:txBody>
      </p:sp>
      <p:grpSp>
        <p:nvGrpSpPr>
          <p:cNvPr id="6" name="Group 5">
            <a:extLst>
              <a:ext uri="{FF2B5EF4-FFF2-40B4-BE49-F238E27FC236}">
                <a16:creationId xmlns:a16="http://schemas.microsoft.com/office/drawing/2014/main" id="{7AF62696-BA88-E68F-941F-851557E67CDE}"/>
              </a:ext>
            </a:extLst>
          </p:cNvPr>
          <p:cNvGrpSpPr/>
          <p:nvPr/>
        </p:nvGrpSpPr>
        <p:grpSpPr>
          <a:xfrm>
            <a:off x="599178" y="1820863"/>
            <a:ext cx="6694757" cy="584200"/>
            <a:chOff x="599178" y="1686792"/>
            <a:chExt cx="5127265" cy="584775"/>
          </a:xfrm>
        </p:grpSpPr>
        <p:cxnSp>
          <p:nvCxnSpPr>
            <p:cNvPr id="7" name="Straight Connector 6">
              <a:extLst>
                <a:ext uri="{FF2B5EF4-FFF2-40B4-BE49-F238E27FC236}">
                  <a16:creationId xmlns:a16="http://schemas.microsoft.com/office/drawing/2014/main" id="{979463AE-A4C4-3BC4-57C8-E00A75CD428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B88A886-60F5-89AB-2839-CF315E0C2B89}"/>
                </a:ext>
              </a:extLst>
            </p:cNvPr>
            <p:cNvSpPr txBox="1"/>
            <p:nvPr/>
          </p:nvSpPr>
          <p:spPr>
            <a:xfrm>
              <a:off x="599178" y="1686792"/>
              <a:ext cx="5112000" cy="584775"/>
            </a:xfrm>
            <a:prstGeom prst="rect">
              <a:avLst/>
            </a:prstGeom>
            <a:noFill/>
          </p:spPr>
          <p:txBody>
            <a:bodyPr wrap="square" rtlCol="0">
              <a:spAutoFit/>
            </a:bodyPr>
            <a:lstStyle/>
            <a:p>
              <a:r>
                <a:rPr lang="en-US" sz="1600" b="1" dirty="0"/>
                <a:t>Productivity gap between average performers and high performers </a:t>
              </a:r>
            </a:p>
          </p:txBody>
        </p:sp>
      </p:grpSp>
      <p:grpSp>
        <p:nvGrpSpPr>
          <p:cNvPr id="9" name="Group 8">
            <a:extLst>
              <a:ext uri="{FF2B5EF4-FFF2-40B4-BE49-F238E27FC236}">
                <a16:creationId xmlns:a16="http://schemas.microsoft.com/office/drawing/2014/main" id="{B3FCD097-9839-C20F-726E-6F673A1DEFB0}"/>
              </a:ext>
            </a:extLst>
          </p:cNvPr>
          <p:cNvGrpSpPr/>
          <p:nvPr/>
        </p:nvGrpSpPr>
        <p:grpSpPr>
          <a:xfrm>
            <a:off x="7500299" y="1820863"/>
            <a:ext cx="4075751" cy="338138"/>
            <a:chOff x="599178" y="1686792"/>
            <a:chExt cx="5127265" cy="338554"/>
          </a:xfrm>
        </p:grpSpPr>
        <p:cxnSp>
          <p:nvCxnSpPr>
            <p:cNvPr id="10" name="Straight Connector 9">
              <a:extLst>
                <a:ext uri="{FF2B5EF4-FFF2-40B4-BE49-F238E27FC236}">
                  <a16:creationId xmlns:a16="http://schemas.microsoft.com/office/drawing/2014/main" id="{5B09F929-84C6-A3EF-8EDA-B378C70982F6}"/>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8BCF28C-6D91-7F15-3B07-01EB7B5FD760}"/>
                </a:ext>
              </a:extLst>
            </p:cNvPr>
            <p:cNvSpPr txBox="1"/>
            <p:nvPr/>
          </p:nvSpPr>
          <p:spPr>
            <a:xfrm>
              <a:off x="599178" y="1686792"/>
              <a:ext cx="5112000" cy="338554"/>
            </a:xfrm>
            <a:prstGeom prst="rect">
              <a:avLst/>
            </a:prstGeom>
            <a:noFill/>
          </p:spPr>
          <p:txBody>
            <a:bodyPr wrap="square" rtlCol="0">
              <a:spAutoFit/>
            </a:bodyPr>
            <a:lstStyle/>
            <a:p>
              <a:r>
                <a:rPr lang="en-US" sz="1600" b="1" dirty="0"/>
                <a:t>Key insights</a:t>
              </a:r>
            </a:p>
          </p:txBody>
        </p:sp>
      </p:grpSp>
      <p:sp>
        <p:nvSpPr>
          <p:cNvPr id="13" name="TextBox 12">
            <a:extLst>
              <a:ext uri="{FF2B5EF4-FFF2-40B4-BE49-F238E27FC236}">
                <a16:creationId xmlns:a16="http://schemas.microsoft.com/office/drawing/2014/main" id="{03FB874D-531A-E09D-4FD1-21981EF6992C}"/>
              </a:ext>
            </a:extLst>
          </p:cNvPr>
          <p:cNvSpPr txBox="1"/>
          <p:nvPr/>
        </p:nvSpPr>
        <p:spPr>
          <a:xfrm>
            <a:off x="7549116" y="2370138"/>
            <a:ext cx="4075465" cy="3422650"/>
          </a:xfrm>
          <a:prstGeom prst="rect">
            <a:avLst/>
          </a:prstGeom>
          <a:noFill/>
        </p:spPr>
        <p:txBody>
          <a:bodyPr wrap="square" rtlCol="0">
            <a:spAutoFit/>
          </a:bodyPr>
          <a:lstStyle/>
          <a:p>
            <a:pPr marL="180975" indent="-180975">
              <a:spcBef>
                <a:spcPts val="300"/>
              </a:spcBef>
              <a:spcAft>
                <a:spcPts val="300"/>
              </a:spcAft>
              <a:buFont typeface="Arial" panose="020B0604020202020204" pitchFamily="34" charset="0"/>
              <a:buChar char="•"/>
            </a:pPr>
            <a:r>
              <a:rPr lang="en-US" sz="1600" dirty="0">
                <a:latin typeface="+mj-lt"/>
              </a:rPr>
              <a:t>In a new era post covid where the war for talent is fierce, Human Resources and Talent Management have never been more important to attract, develop and retain top talent.</a:t>
            </a:r>
          </a:p>
          <a:p>
            <a:pPr marL="180975" indent="-180975">
              <a:spcBef>
                <a:spcPts val="300"/>
              </a:spcBef>
              <a:spcAft>
                <a:spcPts val="300"/>
              </a:spcAft>
              <a:buFont typeface="Arial" panose="020B0604020202020204" pitchFamily="34" charset="0"/>
              <a:buChar char="•"/>
            </a:pPr>
            <a:endParaRPr lang="en-US" sz="1600" dirty="0">
              <a:latin typeface="+mj-lt"/>
            </a:endParaRPr>
          </a:p>
          <a:p>
            <a:pPr marL="180975" indent="-180975">
              <a:spcBef>
                <a:spcPts val="300"/>
              </a:spcBef>
              <a:spcAft>
                <a:spcPts val="300"/>
              </a:spcAft>
              <a:buFont typeface="Arial" panose="020B0604020202020204" pitchFamily="34" charset="0"/>
              <a:buChar char="•"/>
            </a:pPr>
            <a:r>
              <a:rPr lang="en-US" sz="1600" dirty="0">
                <a:latin typeface="+mj-lt"/>
              </a:rPr>
              <a:t>According to a recent McKinsey survey, superior talent is up to </a:t>
            </a:r>
            <a:r>
              <a:rPr lang="en-US" sz="1600" b="1" dirty="0">
                <a:latin typeface="+mj-lt"/>
              </a:rPr>
              <a:t>8 times more productive than average talent</a:t>
            </a:r>
            <a:r>
              <a:rPr lang="en-US" sz="1600" dirty="0">
                <a:latin typeface="+mj-lt"/>
              </a:rPr>
              <a:t>. In other words, the relationship between quality of talent and business performance is dramatic.</a:t>
            </a:r>
          </a:p>
          <a:p>
            <a:pPr marL="180975" indent="-180975">
              <a:buFont typeface="Arial" panose="020B0604020202020204" pitchFamily="34" charset="0"/>
              <a:buChar char="•"/>
            </a:pPr>
            <a:endParaRPr lang="en-US" sz="1400" dirty="0"/>
          </a:p>
        </p:txBody>
      </p:sp>
      <p:graphicFrame>
        <p:nvGraphicFramePr>
          <p:cNvPr id="60" name="Chart 59">
            <a:extLst>
              <a:ext uri="{FF2B5EF4-FFF2-40B4-BE49-F238E27FC236}">
                <a16:creationId xmlns:a16="http://schemas.microsoft.com/office/drawing/2014/main" id="{D3A11567-CF2B-2FA8-4FD3-892F4701544A}"/>
              </a:ext>
            </a:extLst>
          </p:cNvPr>
          <p:cNvGraphicFramePr/>
          <p:nvPr>
            <p:custDataLst>
              <p:tags r:id="rId2"/>
            </p:custDataLst>
            <p:extLst>
              <p:ext uri="{D42A27DB-BD31-4B8C-83A1-F6EECF244321}">
                <p14:modId xmlns:p14="http://schemas.microsoft.com/office/powerpoint/2010/main" val="244863384"/>
              </p:ext>
            </p:extLst>
          </p:nvPr>
        </p:nvGraphicFramePr>
        <p:xfrm>
          <a:off x="3357563" y="2159000"/>
          <a:ext cx="3854450" cy="3771900"/>
        </p:xfrm>
        <a:graphic>
          <a:graphicData uri="http://schemas.openxmlformats.org/drawingml/2006/chart">
            <c:chart xmlns:c="http://schemas.openxmlformats.org/drawingml/2006/chart" xmlns:r="http://schemas.openxmlformats.org/officeDocument/2006/relationships" r:id="rId10"/>
          </a:graphicData>
        </a:graphic>
      </p:graphicFrame>
      <p:sp>
        <p:nvSpPr>
          <p:cNvPr id="15" name="Rectangle 14">
            <a:extLst>
              <a:ext uri="{FF2B5EF4-FFF2-40B4-BE49-F238E27FC236}">
                <a16:creationId xmlns:a16="http://schemas.microsoft.com/office/drawing/2014/main" id="{1DFE8CAC-4146-A93B-94F6-77986B713BE0}"/>
              </a:ext>
            </a:extLst>
          </p:cNvPr>
          <p:cNvSpPr/>
          <p:nvPr>
            <p:custDataLst>
              <p:tags r:id="rId3"/>
            </p:custDataLst>
          </p:nvPr>
        </p:nvSpPr>
        <p:spPr bwMode="auto">
          <a:xfrm>
            <a:off x="1301750" y="2784475"/>
            <a:ext cx="2036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893BA862-6FCB-4035-9499-7376797B3E92}" type="datetime'Job wit''''h'' ''l''''ow c''om''pl''e''''''''''x''i''''''t''y'">
              <a:rPr lang="en-US" altLang="en-US" sz="1400" b="1" smtClean="0">
                <a:solidFill>
                  <a:schemeClr val="tx1"/>
                </a:solidFill>
              </a:rPr>
              <a:pPr/>
              <a:t>Job with low complexity</a:t>
            </a:fld>
            <a:endParaRPr lang="en-US" sz="1400" b="1" dirty="0">
              <a:solidFill>
                <a:schemeClr val="tx1"/>
              </a:solidFill>
            </a:endParaRPr>
          </a:p>
        </p:txBody>
      </p:sp>
      <p:sp>
        <p:nvSpPr>
          <p:cNvPr id="17" name="Rectangle 16">
            <a:extLst>
              <a:ext uri="{FF2B5EF4-FFF2-40B4-BE49-F238E27FC236}">
                <a16:creationId xmlns:a16="http://schemas.microsoft.com/office/drawing/2014/main" id="{2F5B096E-6096-F8E7-0452-D637B302A202}"/>
              </a:ext>
            </a:extLst>
          </p:cNvPr>
          <p:cNvSpPr/>
          <p:nvPr>
            <p:custDataLst>
              <p:tags r:id="rId4"/>
            </p:custDataLst>
          </p:nvPr>
        </p:nvSpPr>
        <p:spPr bwMode="auto">
          <a:xfrm>
            <a:off x="915988" y="3552825"/>
            <a:ext cx="242252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799E8C90-F52C-420C-A40D-BC924B8709F7}" type="datetime'Job'''' wi''t''h'' m''e''dium ''co''''''mp''''l''e''x''''ity'">
              <a:rPr lang="en-US" altLang="en-US" sz="1400" b="1" smtClean="0">
                <a:solidFill>
                  <a:schemeClr val="tx1"/>
                </a:solidFill>
              </a:rPr>
              <a:pPr/>
              <a:t>Job with medium complexity</a:t>
            </a:fld>
            <a:endParaRPr lang="en-US" sz="1400" b="1" dirty="0">
              <a:solidFill>
                <a:schemeClr val="tx1"/>
              </a:solidFill>
            </a:endParaRPr>
          </a:p>
        </p:txBody>
      </p:sp>
      <p:sp>
        <p:nvSpPr>
          <p:cNvPr id="18" name="Rectangle 17">
            <a:extLst>
              <a:ext uri="{FF2B5EF4-FFF2-40B4-BE49-F238E27FC236}">
                <a16:creationId xmlns:a16="http://schemas.microsoft.com/office/drawing/2014/main" id="{56891967-3ACC-15B0-783A-E502FF4D4E2E}"/>
              </a:ext>
            </a:extLst>
          </p:cNvPr>
          <p:cNvSpPr/>
          <p:nvPr>
            <p:custDataLst>
              <p:tags r:id="rId5"/>
            </p:custDataLst>
          </p:nvPr>
        </p:nvSpPr>
        <p:spPr bwMode="auto">
          <a:xfrm>
            <a:off x="1223963" y="4322763"/>
            <a:ext cx="21145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D39DBFB0-5E2D-47A2-8854-C107C774639C}" type="datetime'J''ob'' w''it''h h''''''''ig''''h'' co''''''''mpl''ex''ity'''">
              <a:rPr lang="en-US" altLang="en-US" sz="1400" b="1" smtClean="0">
                <a:solidFill>
                  <a:schemeClr val="tx1"/>
                </a:solidFill>
              </a:rPr>
              <a:pPr/>
              <a:t>Job with high complexity</a:t>
            </a:fld>
            <a:endParaRPr lang="en-US" sz="1400" b="1" dirty="0">
              <a:solidFill>
                <a:schemeClr val="tx1"/>
              </a:solidFill>
            </a:endParaRPr>
          </a:p>
        </p:txBody>
      </p:sp>
      <p:sp>
        <p:nvSpPr>
          <p:cNvPr id="19" name="Rectangle 18">
            <a:extLst>
              <a:ext uri="{FF2B5EF4-FFF2-40B4-BE49-F238E27FC236}">
                <a16:creationId xmlns:a16="http://schemas.microsoft.com/office/drawing/2014/main" id="{694E3D0C-81D7-DA1D-79F6-2E2D15F87262}"/>
              </a:ext>
            </a:extLst>
          </p:cNvPr>
          <p:cNvSpPr/>
          <p:nvPr>
            <p:custDataLst>
              <p:tags r:id="rId6"/>
            </p:custDataLst>
          </p:nvPr>
        </p:nvSpPr>
        <p:spPr bwMode="auto">
          <a:xfrm>
            <a:off x="809625" y="5091113"/>
            <a:ext cx="25288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r">
              <a:spcBef>
                <a:spcPct val="0"/>
              </a:spcBef>
              <a:spcAft>
                <a:spcPct val="0"/>
              </a:spcAft>
            </a:pPr>
            <a:fld id="{0D800F9C-D3ED-410A-B6E1-7C1044469EF5}" type="datetime'Job with'' ''ve''''''ry'''''' high'' com''pl''''ex''i''t''y'">
              <a:rPr lang="en-GB" altLang="en-US" sz="1400" b="1" smtClean="0">
                <a:solidFill>
                  <a:schemeClr val="tx1"/>
                </a:solidFill>
              </a:rPr>
              <a:pPr/>
              <a:t>Job with very high complexity</a:t>
            </a:fld>
            <a:endParaRPr lang="en-US" sz="1400" b="1" dirty="0">
              <a:solidFill>
                <a:schemeClr val="tx1"/>
              </a:solidFill>
            </a:endParaRPr>
          </a:p>
        </p:txBody>
      </p:sp>
      <p:cxnSp>
        <p:nvCxnSpPr>
          <p:cNvPr id="57" name="Straight Connector 56">
            <a:extLst>
              <a:ext uri="{FF2B5EF4-FFF2-40B4-BE49-F238E27FC236}">
                <a16:creationId xmlns:a16="http://schemas.microsoft.com/office/drawing/2014/main" id="{CA93572E-E7A1-4B21-8282-DA5336006025}"/>
              </a:ext>
            </a:extLst>
          </p:cNvPr>
          <p:cNvCxnSpPr>
            <a:cxnSpLocks/>
          </p:cNvCxnSpPr>
          <p:nvPr/>
        </p:nvCxnSpPr>
        <p:spPr>
          <a:xfrm flipV="1">
            <a:off x="7406235" y="1761427"/>
            <a:ext cx="0" cy="45720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702FE2EC-7503-9518-838E-331D41C8600A}"/>
              </a:ext>
            </a:extLst>
          </p:cNvPr>
          <p:cNvSpPr txBox="1"/>
          <p:nvPr/>
        </p:nvSpPr>
        <p:spPr>
          <a:xfrm>
            <a:off x="556646" y="6576123"/>
            <a:ext cx="7200000" cy="246221"/>
          </a:xfrm>
          <a:prstGeom prst="rect">
            <a:avLst/>
          </a:prstGeom>
          <a:noFill/>
        </p:spPr>
        <p:txBody>
          <a:bodyPr wrap="square" rtlCol="0" anchor="ctr">
            <a:spAutoFit/>
          </a:bodyPr>
          <a:lstStyle/>
          <a:p>
            <a:pPr>
              <a:spcBef>
                <a:spcPts val="400"/>
              </a:spcBef>
              <a:spcAft>
                <a:spcPts val="400"/>
              </a:spcAft>
            </a:pPr>
            <a:r>
              <a:rPr lang="en-US" sz="1000" dirty="0">
                <a:solidFill>
                  <a:schemeClr val="bg1">
                    <a:lumMod val="65000"/>
                  </a:schemeClr>
                </a:solidFill>
              </a:rPr>
              <a:t>Source: McKinsey Global Survey: “War for Talent”</a:t>
            </a:r>
          </a:p>
        </p:txBody>
      </p:sp>
      <p:sp>
        <p:nvSpPr>
          <p:cNvPr id="3" name="Footer Placeholder 2">
            <a:extLst>
              <a:ext uri="{FF2B5EF4-FFF2-40B4-BE49-F238E27FC236}">
                <a16:creationId xmlns:a16="http://schemas.microsoft.com/office/drawing/2014/main" id="{6C8BF525-BE0A-770B-0C99-57CBCF68F2D4}"/>
              </a:ext>
            </a:extLst>
          </p:cNvPr>
          <p:cNvSpPr>
            <a:spLocks noGrp="1"/>
          </p:cNvSpPr>
          <p:nvPr>
            <p:ph type="ftr" sz="quarter" idx="3"/>
          </p:nvPr>
        </p:nvSpPr>
        <p:spPr/>
        <p:txBody>
          <a:bodyPr/>
          <a:lstStyle/>
          <a:p>
            <a:r>
              <a:rPr lang="en-US" dirty="0"/>
              <a:t>Domont Consulting</a:t>
            </a:r>
          </a:p>
        </p:txBody>
      </p:sp>
      <p:sp>
        <p:nvSpPr>
          <p:cNvPr id="4" name="Slide Number Placeholder 3">
            <a:extLst>
              <a:ext uri="{FF2B5EF4-FFF2-40B4-BE49-F238E27FC236}">
                <a16:creationId xmlns:a16="http://schemas.microsoft.com/office/drawing/2014/main" id="{BA1ED693-CABF-8736-86E7-45AFEAF4701A}"/>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601276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6A0928A2-5679-39E5-8050-3FF70F110818}"/>
              </a:ext>
            </a:extLst>
          </p:cNvPr>
          <p:cNvGraphicFramePr>
            <a:graphicFrameLocks noChangeAspect="1"/>
          </p:cNvGraphicFramePr>
          <p:nvPr>
            <p:custDataLst>
              <p:tags r:id="rId1"/>
            </p:custDataLst>
            <p:extLst>
              <p:ext uri="{D42A27DB-BD31-4B8C-83A1-F6EECF244321}">
                <p14:modId xmlns:p14="http://schemas.microsoft.com/office/powerpoint/2010/main" val="32224427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06" imgH="306" progId="TCLayout.ActiveDocument.1">
                  <p:embed/>
                </p:oleObj>
              </mc:Choice>
              <mc:Fallback>
                <p:oleObj name="think-cell Slide" r:id="rId9" imgW="306" imgH="306" progId="TCLayout.ActiveDocument.1">
                  <p:embed/>
                  <p:pic>
                    <p:nvPicPr>
                      <p:cNvPr id="16" name="think-cell data - do not delete" hidden="1">
                        <a:extLst>
                          <a:ext uri="{FF2B5EF4-FFF2-40B4-BE49-F238E27FC236}">
                            <a16:creationId xmlns:a16="http://schemas.microsoft.com/office/drawing/2014/main" id="{6A0928A2-5679-39E5-8050-3FF70F11081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C8D96AE-3B87-BB1A-13CC-08803680CEE2}"/>
              </a:ext>
            </a:extLst>
          </p:cNvPr>
          <p:cNvSpPr>
            <a:spLocks noGrp="1"/>
          </p:cNvSpPr>
          <p:nvPr>
            <p:ph type="title"/>
          </p:nvPr>
        </p:nvSpPr>
        <p:spPr/>
        <p:txBody>
          <a:bodyPr vert="horz">
            <a:normAutofit/>
          </a:bodyPr>
          <a:lstStyle/>
          <a:p>
            <a:r>
              <a:rPr lang="en-US" dirty="0">
                <a:solidFill>
                  <a:schemeClr val="accent2"/>
                </a:solidFill>
              </a:rPr>
              <a:t>Problem: </a:t>
            </a:r>
            <a:r>
              <a:rPr lang="en-US" dirty="0">
                <a:solidFill>
                  <a:schemeClr val="tx1"/>
                </a:solidFill>
              </a:rPr>
              <a:t>The HR function is often barely contributing to organizational performance</a:t>
            </a:r>
          </a:p>
        </p:txBody>
      </p:sp>
      <p:grpSp>
        <p:nvGrpSpPr>
          <p:cNvPr id="5" name="Group 4">
            <a:extLst>
              <a:ext uri="{FF2B5EF4-FFF2-40B4-BE49-F238E27FC236}">
                <a16:creationId xmlns:a16="http://schemas.microsoft.com/office/drawing/2014/main" id="{EB961B9A-AB81-E9C7-BBB6-7103BBD06FDA}"/>
              </a:ext>
            </a:extLst>
          </p:cNvPr>
          <p:cNvGrpSpPr/>
          <p:nvPr/>
        </p:nvGrpSpPr>
        <p:grpSpPr>
          <a:xfrm>
            <a:off x="599178" y="1587500"/>
            <a:ext cx="6397045" cy="584200"/>
            <a:chOff x="599178" y="1686792"/>
            <a:chExt cx="5127265" cy="584775"/>
          </a:xfrm>
        </p:grpSpPr>
        <p:cxnSp>
          <p:nvCxnSpPr>
            <p:cNvPr id="6" name="Straight Connector 5">
              <a:extLst>
                <a:ext uri="{FF2B5EF4-FFF2-40B4-BE49-F238E27FC236}">
                  <a16:creationId xmlns:a16="http://schemas.microsoft.com/office/drawing/2014/main" id="{4FE18780-6FAB-3076-D427-CC50DAEE5C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36F2A1E-43A5-3A19-B525-28782149630E}"/>
                </a:ext>
              </a:extLst>
            </p:cNvPr>
            <p:cNvSpPr txBox="1"/>
            <p:nvPr/>
          </p:nvSpPr>
          <p:spPr>
            <a:xfrm>
              <a:off x="599178" y="1686792"/>
              <a:ext cx="5112000" cy="584775"/>
            </a:xfrm>
            <a:prstGeom prst="rect">
              <a:avLst/>
            </a:prstGeom>
            <a:noFill/>
          </p:spPr>
          <p:txBody>
            <a:bodyPr wrap="square" rtlCol="0">
              <a:spAutoFit/>
            </a:bodyPr>
            <a:lstStyle/>
            <a:p>
              <a:r>
                <a:rPr lang="en-US" sz="1600" b="1" dirty="0"/>
                <a:t>% of Fortune 500 executives who agree that their organization…</a:t>
              </a:r>
            </a:p>
          </p:txBody>
        </p:sp>
      </p:grpSp>
      <p:grpSp>
        <p:nvGrpSpPr>
          <p:cNvPr id="8" name="Group 7">
            <a:extLst>
              <a:ext uri="{FF2B5EF4-FFF2-40B4-BE49-F238E27FC236}">
                <a16:creationId xmlns:a16="http://schemas.microsoft.com/office/drawing/2014/main" id="{EB715666-731C-53AA-404A-267013930390}"/>
              </a:ext>
            </a:extLst>
          </p:cNvPr>
          <p:cNvGrpSpPr/>
          <p:nvPr/>
        </p:nvGrpSpPr>
        <p:grpSpPr>
          <a:xfrm>
            <a:off x="7340284" y="1587500"/>
            <a:ext cx="4235766" cy="338138"/>
            <a:chOff x="599178" y="1686792"/>
            <a:chExt cx="5127265" cy="338554"/>
          </a:xfrm>
        </p:grpSpPr>
        <p:cxnSp>
          <p:nvCxnSpPr>
            <p:cNvPr id="9" name="Straight Connector 8">
              <a:extLst>
                <a:ext uri="{FF2B5EF4-FFF2-40B4-BE49-F238E27FC236}">
                  <a16:creationId xmlns:a16="http://schemas.microsoft.com/office/drawing/2014/main" id="{4DF0FFB8-FD92-3BBC-FB2F-1CCF0B6C9DC1}"/>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5E7288F-9DC9-A463-F04D-3A2F0D46D0F0}"/>
                </a:ext>
              </a:extLst>
            </p:cNvPr>
            <p:cNvSpPr txBox="1"/>
            <p:nvPr/>
          </p:nvSpPr>
          <p:spPr>
            <a:xfrm>
              <a:off x="599178" y="1686792"/>
              <a:ext cx="5112000" cy="338554"/>
            </a:xfrm>
            <a:prstGeom prst="rect">
              <a:avLst/>
            </a:prstGeom>
            <a:noFill/>
          </p:spPr>
          <p:txBody>
            <a:bodyPr wrap="square" rtlCol="0">
              <a:spAutoFit/>
            </a:bodyPr>
            <a:lstStyle/>
            <a:p>
              <a:r>
                <a:rPr lang="en-US" sz="1600" b="1" dirty="0"/>
                <a:t>Key insights</a:t>
              </a:r>
            </a:p>
          </p:txBody>
        </p:sp>
      </p:grpSp>
      <p:cxnSp>
        <p:nvCxnSpPr>
          <p:cNvPr id="13" name="Straight Connector 12">
            <a:extLst>
              <a:ext uri="{FF2B5EF4-FFF2-40B4-BE49-F238E27FC236}">
                <a16:creationId xmlns:a16="http://schemas.microsoft.com/office/drawing/2014/main" id="{FE9E9CA3-057A-F74F-65F2-F787228B6005}"/>
              </a:ext>
            </a:extLst>
          </p:cNvPr>
          <p:cNvCxnSpPr>
            <a:cxnSpLocks/>
          </p:cNvCxnSpPr>
          <p:nvPr/>
        </p:nvCxnSpPr>
        <p:spPr>
          <a:xfrm flipV="1">
            <a:off x="7204219" y="1662113"/>
            <a:ext cx="0" cy="48240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A948F9C-2835-4B02-887B-1100D545644A}"/>
              </a:ext>
            </a:extLst>
          </p:cNvPr>
          <p:cNvSpPr txBox="1"/>
          <p:nvPr/>
        </p:nvSpPr>
        <p:spPr>
          <a:xfrm>
            <a:off x="7368364" y="1981200"/>
            <a:ext cx="4235469" cy="3476625"/>
          </a:xfrm>
          <a:prstGeom prst="rect">
            <a:avLst/>
          </a:prstGeom>
          <a:noFill/>
        </p:spPr>
        <p:txBody>
          <a:bodyPr wrap="square" rtlCol="0">
            <a:spAutoFit/>
          </a:bodyPr>
          <a:lstStyle/>
          <a:p>
            <a:pPr marL="180975" indent="-180975">
              <a:spcBef>
                <a:spcPts val="300"/>
              </a:spcBef>
              <a:spcAft>
                <a:spcPts val="300"/>
              </a:spcAft>
              <a:buFont typeface="Arial" panose="020B0604020202020204" pitchFamily="34" charset="0"/>
              <a:buChar char="•"/>
            </a:pPr>
            <a:r>
              <a:rPr lang="en-US" sz="1400" dirty="0">
                <a:latin typeface="+mj-lt"/>
              </a:rPr>
              <a:t>Over the past 10 years, our team of ex-McKinsey, Deloitte &amp; BCG Management Consultants have noticed that, in many companies, the HR function was barely contributing to organizational performance.</a:t>
            </a:r>
          </a:p>
          <a:p>
            <a:pPr marL="180975" indent="-180975">
              <a:spcBef>
                <a:spcPts val="300"/>
              </a:spcBef>
              <a:spcAft>
                <a:spcPts val="300"/>
              </a:spcAft>
              <a:buFont typeface="Arial" panose="020B0604020202020204" pitchFamily="34" charset="0"/>
              <a:buChar char="•"/>
            </a:pPr>
            <a:endParaRPr lang="en-US" sz="1400" dirty="0">
              <a:latin typeface="+mj-lt"/>
            </a:endParaRPr>
          </a:p>
          <a:p>
            <a:pPr marL="180975" indent="-180975">
              <a:spcBef>
                <a:spcPts val="300"/>
              </a:spcBef>
              <a:spcAft>
                <a:spcPts val="300"/>
              </a:spcAft>
              <a:buFont typeface="Arial" panose="020B0604020202020204" pitchFamily="34" charset="0"/>
              <a:buChar char="•"/>
            </a:pPr>
            <a:r>
              <a:rPr lang="en-US" sz="1400" dirty="0">
                <a:latin typeface="+mj-lt"/>
              </a:rPr>
              <a:t>According to the survey “War for talent” conducted by McKinsey, a whopping 82 percent of companies don’t believe they recruit highly talented people. For companies that do, only 7 percent think they can keep their talented people. More alarmingly, only 23 percent of managers and senior executives active on talent-related topics believe their current acquisition and retention strategies will work.</a:t>
            </a:r>
          </a:p>
        </p:txBody>
      </p:sp>
      <p:graphicFrame>
        <p:nvGraphicFramePr>
          <p:cNvPr id="225" name="Chart 224">
            <a:extLst>
              <a:ext uri="{FF2B5EF4-FFF2-40B4-BE49-F238E27FC236}">
                <a16:creationId xmlns:a16="http://schemas.microsoft.com/office/drawing/2014/main" id="{65608BD4-3FA9-6745-3D2E-9B4A3762D775}"/>
              </a:ext>
            </a:extLst>
          </p:cNvPr>
          <p:cNvGraphicFramePr/>
          <p:nvPr>
            <p:custDataLst>
              <p:tags r:id="rId2"/>
            </p:custDataLst>
            <p:extLst>
              <p:ext uri="{D42A27DB-BD31-4B8C-83A1-F6EECF244321}">
                <p14:modId xmlns:p14="http://schemas.microsoft.com/office/powerpoint/2010/main" val="2487292444"/>
              </p:ext>
            </p:extLst>
          </p:nvPr>
        </p:nvGraphicFramePr>
        <p:xfrm>
          <a:off x="406400" y="2251075"/>
          <a:ext cx="2681288" cy="2241550"/>
        </p:xfrm>
        <a:graphic>
          <a:graphicData uri="http://schemas.openxmlformats.org/drawingml/2006/chart">
            <c:chart xmlns:c="http://schemas.openxmlformats.org/drawingml/2006/chart" xmlns:r="http://schemas.openxmlformats.org/officeDocument/2006/relationships" r:id="rId11"/>
          </a:graphicData>
        </a:graphic>
      </p:graphicFrame>
      <p:sp>
        <p:nvSpPr>
          <p:cNvPr id="86" name="TextBox 85">
            <a:extLst>
              <a:ext uri="{FF2B5EF4-FFF2-40B4-BE49-F238E27FC236}">
                <a16:creationId xmlns:a16="http://schemas.microsoft.com/office/drawing/2014/main" id="{9848C713-BEC8-A1F6-F110-365465A11DA6}"/>
              </a:ext>
            </a:extLst>
          </p:cNvPr>
          <p:cNvSpPr txBox="1"/>
          <p:nvPr/>
        </p:nvSpPr>
        <p:spPr>
          <a:xfrm>
            <a:off x="636143" y="2068513"/>
            <a:ext cx="2218373" cy="522288"/>
          </a:xfrm>
          <a:prstGeom prst="rect">
            <a:avLst/>
          </a:prstGeom>
          <a:noFill/>
        </p:spPr>
        <p:txBody>
          <a:bodyPr wrap="square" rtlCol="0">
            <a:spAutoFit/>
          </a:bodyPr>
          <a:lstStyle/>
          <a:p>
            <a:pPr algn="ctr"/>
            <a:r>
              <a:rPr lang="en-US" sz="1400" b="1" dirty="0"/>
              <a:t>…recruit highly talented people</a:t>
            </a:r>
          </a:p>
        </p:txBody>
      </p:sp>
      <p:graphicFrame>
        <p:nvGraphicFramePr>
          <p:cNvPr id="226" name="Chart 225">
            <a:extLst>
              <a:ext uri="{FF2B5EF4-FFF2-40B4-BE49-F238E27FC236}">
                <a16:creationId xmlns:a16="http://schemas.microsoft.com/office/drawing/2014/main" id="{5E5011C3-25A7-19C4-4D46-2BE48451B2A4}"/>
              </a:ext>
            </a:extLst>
          </p:cNvPr>
          <p:cNvGraphicFramePr/>
          <p:nvPr>
            <p:custDataLst>
              <p:tags r:id="rId3"/>
            </p:custDataLst>
            <p:extLst>
              <p:ext uri="{D42A27DB-BD31-4B8C-83A1-F6EECF244321}">
                <p14:modId xmlns:p14="http://schemas.microsoft.com/office/powerpoint/2010/main" val="1215881013"/>
              </p:ext>
            </p:extLst>
          </p:nvPr>
        </p:nvGraphicFramePr>
        <p:xfrm>
          <a:off x="4073525" y="2259013"/>
          <a:ext cx="2681288" cy="2241550"/>
        </p:xfrm>
        <a:graphic>
          <a:graphicData uri="http://schemas.openxmlformats.org/drawingml/2006/chart">
            <c:chart xmlns:c="http://schemas.openxmlformats.org/drawingml/2006/chart" xmlns:r="http://schemas.openxmlformats.org/officeDocument/2006/relationships" r:id="rId12"/>
          </a:graphicData>
        </a:graphic>
      </p:graphicFrame>
      <p:sp>
        <p:nvSpPr>
          <p:cNvPr id="105" name="TextBox 104">
            <a:extLst>
              <a:ext uri="{FF2B5EF4-FFF2-40B4-BE49-F238E27FC236}">
                <a16:creationId xmlns:a16="http://schemas.microsoft.com/office/drawing/2014/main" id="{17FAD1E0-859A-9D2B-6C09-EE1AE1B549E4}"/>
              </a:ext>
            </a:extLst>
          </p:cNvPr>
          <p:cNvSpPr txBox="1"/>
          <p:nvPr/>
        </p:nvSpPr>
        <p:spPr>
          <a:xfrm>
            <a:off x="4303713" y="2076450"/>
            <a:ext cx="2217738" cy="522288"/>
          </a:xfrm>
          <a:prstGeom prst="rect">
            <a:avLst/>
          </a:prstGeom>
          <a:noFill/>
        </p:spPr>
        <p:txBody>
          <a:bodyPr wrap="square" rtlCol="0">
            <a:spAutoFit/>
          </a:bodyPr>
          <a:lstStyle/>
          <a:p>
            <a:pPr algn="ctr"/>
            <a:r>
              <a:rPr lang="en-US" sz="1400" b="1" dirty="0"/>
              <a:t>…know who are high and low performers</a:t>
            </a:r>
          </a:p>
        </p:txBody>
      </p:sp>
      <p:sp>
        <p:nvSpPr>
          <p:cNvPr id="113" name="TextBox 112">
            <a:extLst>
              <a:ext uri="{FF2B5EF4-FFF2-40B4-BE49-F238E27FC236}">
                <a16:creationId xmlns:a16="http://schemas.microsoft.com/office/drawing/2014/main" id="{5265B4AF-224C-1726-F8A8-732DA9AFECEF}"/>
              </a:ext>
            </a:extLst>
          </p:cNvPr>
          <p:cNvSpPr txBox="1"/>
          <p:nvPr/>
        </p:nvSpPr>
        <p:spPr>
          <a:xfrm>
            <a:off x="556646" y="6576123"/>
            <a:ext cx="7200000" cy="246221"/>
          </a:xfrm>
          <a:prstGeom prst="rect">
            <a:avLst/>
          </a:prstGeom>
          <a:noFill/>
        </p:spPr>
        <p:txBody>
          <a:bodyPr wrap="square" rtlCol="0" anchor="ctr">
            <a:spAutoFit/>
          </a:bodyPr>
          <a:lstStyle/>
          <a:p>
            <a:pPr>
              <a:spcBef>
                <a:spcPts val="400"/>
              </a:spcBef>
              <a:spcAft>
                <a:spcPts val="400"/>
              </a:spcAft>
            </a:pPr>
            <a:r>
              <a:rPr lang="en-US" sz="1000" dirty="0">
                <a:solidFill>
                  <a:schemeClr val="bg1">
                    <a:lumMod val="65000"/>
                  </a:schemeClr>
                </a:solidFill>
              </a:rPr>
              <a:t>Source: McKinsey Global Survey: “War for Talent”</a:t>
            </a:r>
          </a:p>
        </p:txBody>
      </p:sp>
      <p:graphicFrame>
        <p:nvGraphicFramePr>
          <p:cNvPr id="229" name="Chart 228">
            <a:extLst>
              <a:ext uri="{FF2B5EF4-FFF2-40B4-BE49-F238E27FC236}">
                <a16:creationId xmlns:a16="http://schemas.microsoft.com/office/drawing/2014/main" id="{BAE58456-1780-AB57-44AE-B40F327D7780}"/>
              </a:ext>
            </a:extLst>
          </p:cNvPr>
          <p:cNvGraphicFramePr/>
          <p:nvPr>
            <p:custDataLst>
              <p:tags r:id="rId4"/>
            </p:custDataLst>
            <p:extLst>
              <p:ext uri="{D42A27DB-BD31-4B8C-83A1-F6EECF244321}">
                <p14:modId xmlns:p14="http://schemas.microsoft.com/office/powerpoint/2010/main" val="510075488"/>
              </p:ext>
            </p:extLst>
          </p:nvPr>
        </p:nvGraphicFramePr>
        <p:xfrm>
          <a:off x="931863" y="4859338"/>
          <a:ext cx="1628775" cy="1628775"/>
        </p:xfrm>
        <a:graphic>
          <a:graphicData uri="http://schemas.openxmlformats.org/drawingml/2006/chart">
            <c:chart xmlns:c="http://schemas.openxmlformats.org/drawingml/2006/chart" xmlns:r="http://schemas.openxmlformats.org/officeDocument/2006/relationships" r:id="rId13"/>
          </a:graphicData>
        </a:graphic>
      </p:graphicFrame>
      <p:sp>
        <p:nvSpPr>
          <p:cNvPr id="152" name="Rectangle 151">
            <a:extLst>
              <a:ext uri="{FF2B5EF4-FFF2-40B4-BE49-F238E27FC236}">
                <a16:creationId xmlns:a16="http://schemas.microsoft.com/office/drawing/2014/main" id="{28EFABB6-74B6-4C94-94C7-8E82F4437E11}"/>
              </a:ext>
            </a:extLst>
          </p:cNvPr>
          <p:cNvSpPr/>
          <p:nvPr>
            <p:custDataLst>
              <p:tags r:id="rId5"/>
            </p:custDataLst>
          </p:nvPr>
        </p:nvSpPr>
        <p:spPr bwMode="gray">
          <a:xfrm>
            <a:off x="1720850" y="5002213"/>
            <a:ext cx="307975" cy="192088"/>
          </a:xfrm>
          <a:prstGeom prst="rect">
            <a:avLst/>
          </a:prstGeom>
          <a:solidFill>
            <a:schemeClr val="accent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gn="ctr">
              <a:lnSpc>
                <a:spcPct val="90000"/>
              </a:lnSpc>
              <a:spcBef>
                <a:spcPct val="0"/>
              </a:spcBef>
              <a:spcAft>
                <a:spcPct val="0"/>
              </a:spcAft>
            </a:pPr>
            <a:fld id="{8A77F17F-8B27-4728-872E-77161CA3A01B}" type="datetime'''''''''''''''7''''''''''''''''''''''''''''''''''''''''%'''''">
              <a:rPr lang="en-US" altLang="en-US" sz="1400" smtClean="0">
                <a:solidFill>
                  <a:schemeClr val="bg1"/>
                </a:solidFill>
                <a:effectLst/>
              </a:rPr>
              <a:pPr algn="ctr">
                <a:lnSpc>
                  <a:spcPct val="90000"/>
                </a:lnSpc>
                <a:spcBef>
                  <a:spcPct val="0"/>
                </a:spcBef>
                <a:spcAft>
                  <a:spcPct val="0"/>
                </a:spcAft>
              </a:pPr>
              <a:t>7%</a:t>
            </a:fld>
            <a:endParaRPr lang="en-US" sz="1400" dirty="0">
              <a:solidFill>
                <a:schemeClr val="bg1"/>
              </a:solidFill>
            </a:endParaRPr>
          </a:p>
        </p:txBody>
      </p:sp>
      <p:sp>
        <p:nvSpPr>
          <p:cNvPr id="117" name="TextBox 116">
            <a:extLst>
              <a:ext uri="{FF2B5EF4-FFF2-40B4-BE49-F238E27FC236}">
                <a16:creationId xmlns:a16="http://schemas.microsoft.com/office/drawing/2014/main" id="{81B09E08-6148-C62B-5BC4-F023EBBE8DD6}"/>
              </a:ext>
            </a:extLst>
          </p:cNvPr>
          <p:cNvSpPr txBox="1"/>
          <p:nvPr/>
        </p:nvSpPr>
        <p:spPr>
          <a:xfrm>
            <a:off x="636588" y="4333875"/>
            <a:ext cx="2217738" cy="522288"/>
          </a:xfrm>
          <a:prstGeom prst="rect">
            <a:avLst/>
          </a:prstGeom>
          <a:noFill/>
        </p:spPr>
        <p:txBody>
          <a:bodyPr wrap="square" rtlCol="0">
            <a:spAutoFit/>
          </a:bodyPr>
          <a:lstStyle/>
          <a:p>
            <a:pPr algn="ctr"/>
            <a:r>
              <a:rPr lang="en-US" sz="1400" b="1" dirty="0"/>
              <a:t>…retain high performers</a:t>
            </a:r>
          </a:p>
        </p:txBody>
      </p:sp>
      <p:graphicFrame>
        <p:nvGraphicFramePr>
          <p:cNvPr id="230" name="Chart 229">
            <a:extLst>
              <a:ext uri="{FF2B5EF4-FFF2-40B4-BE49-F238E27FC236}">
                <a16:creationId xmlns:a16="http://schemas.microsoft.com/office/drawing/2014/main" id="{FC9C6219-E89B-8A96-ED3D-732C1432F9B3}"/>
              </a:ext>
            </a:extLst>
          </p:cNvPr>
          <p:cNvGraphicFramePr/>
          <p:nvPr>
            <p:custDataLst>
              <p:tags r:id="rId6"/>
            </p:custDataLst>
            <p:extLst>
              <p:ext uri="{D42A27DB-BD31-4B8C-83A1-F6EECF244321}">
                <p14:modId xmlns:p14="http://schemas.microsoft.com/office/powerpoint/2010/main" val="3382462409"/>
              </p:ext>
            </p:extLst>
          </p:nvPr>
        </p:nvGraphicFramePr>
        <p:xfrm>
          <a:off x="4598988" y="4867275"/>
          <a:ext cx="1628775" cy="1628775"/>
        </p:xfrm>
        <a:graphic>
          <a:graphicData uri="http://schemas.openxmlformats.org/drawingml/2006/chart">
            <c:chart xmlns:c="http://schemas.openxmlformats.org/drawingml/2006/chart" xmlns:r="http://schemas.openxmlformats.org/officeDocument/2006/relationships" r:id="rId14"/>
          </a:graphicData>
        </a:graphic>
      </p:graphicFrame>
      <p:sp>
        <p:nvSpPr>
          <p:cNvPr id="157" name="Rectangle 156">
            <a:extLst>
              <a:ext uri="{FF2B5EF4-FFF2-40B4-BE49-F238E27FC236}">
                <a16:creationId xmlns:a16="http://schemas.microsoft.com/office/drawing/2014/main" id="{FC9F6B3C-EAEF-5AB7-C0EE-3A3CA9D1D3F1}"/>
              </a:ext>
            </a:extLst>
          </p:cNvPr>
          <p:cNvSpPr/>
          <p:nvPr>
            <p:custDataLst>
              <p:tags r:id="rId7"/>
            </p:custDataLst>
          </p:nvPr>
        </p:nvSpPr>
        <p:spPr bwMode="gray">
          <a:xfrm>
            <a:off x="5316538" y="4986338"/>
            <a:ext cx="307975" cy="192088"/>
          </a:xfrm>
          <a:prstGeom prst="rect">
            <a:avLst/>
          </a:prstGeom>
          <a:solidFill>
            <a:schemeClr val="accent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gn="ctr">
              <a:lnSpc>
                <a:spcPct val="90000"/>
              </a:lnSpc>
              <a:spcBef>
                <a:spcPct val="0"/>
              </a:spcBef>
              <a:spcAft>
                <a:spcPct val="0"/>
              </a:spcAft>
            </a:pPr>
            <a:fld id="{1B19F638-F222-4B22-AC65-B8434EDB0133}" type="datetime'''''''''''''''''''''3''''''''''%'''''''''''''''''''''''''">
              <a:rPr lang="en-US" altLang="en-US" sz="1400" smtClean="0">
                <a:solidFill>
                  <a:schemeClr val="bg1"/>
                </a:solidFill>
                <a:effectLst/>
              </a:rPr>
              <a:pPr algn="ctr">
                <a:lnSpc>
                  <a:spcPct val="90000"/>
                </a:lnSpc>
                <a:spcBef>
                  <a:spcPct val="0"/>
                </a:spcBef>
                <a:spcAft>
                  <a:spcPct val="0"/>
                </a:spcAft>
              </a:pPr>
              <a:t>3%</a:t>
            </a:fld>
            <a:endParaRPr lang="en-US" sz="1400" dirty="0">
              <a:solidFill>
                <a:schemeClr val="bg1"/>
              </a:solidFill>
            </a:endParaRPr>
          </a:p>
        </p:txBody>
      </p:sp>
      <p:sp>
        <p:nvSpPr>
          <p:cNvPr id="121" name="TextBox 120">
            <a:extLst>
              <a:ext uri="{FF2B5EF4-FFF2-40B4-BE49-F238E27FC236}">
                <a16:creationId xmlns:a16="http://schemas.microsoft.com/office/drawing/2014/main" id="{15CEC425-956B-7BAE-C80D-6D17F24B19BA}"/>
              </a:ext>
            </a:extLst>
          </p:cNvPr>
          <p:cNvSpPr txBox="1"/>
          <p:nvPr/>
        </p:nvSpPr>
        <p:spPr>
          <a:xfrm>
            <a:off x="4303713" y="4341813"/>
            <a:ext cx="2217738" cy="522288"/>
          </a:xfrm>
          <a:prstGeom prst="rect">
            <a:avLst/>
          </a:prstGeom>
          <a:noFill/>
        </p:spPr>
        <p:txBody>
          <a:bodyPr wrap="square" rtlCol="0">
            <a:spAutoFit/>
          </a:bodyPr>
          <a:lstStyle/>
          <a:p>
            <a:pPr algn="ctr"/>
            <a:r>
              <a:rPr lang="en-US" sz="1400" b="1" dirty="0"/>
              <a:t>…develop people quickly and effectively</a:t>
            </a:r>
          </a:p>
        </p:txBody>
      </p:sp>
      <p:cxnSp>
        <p:nvCxnSpPr>
          <p:cNvPr id="137" name="Straight Connector 136">
            <a:extLst>
              <a:ext uri="{FF2B5EF4-FFF2-40B4-BE49-F238E27FC236}">
                <a16:creationId xmlns:a16="http://schemas.microsoft.com/office/drawing/2014/main" id="{E72497FB-5582-A922-097C-D8D3AFC57275}"/>
              </a:ext>
            </a:extLst>
          </p:cNvPr>
          <p:cNvCxnSpPr>
            <a:cxnSpLocks/>
          </p:cNvCxnSpPr>
          <p:nvPr/>
        </p:nvCxnSpPr>
        <p:spPr>
          <a:xfrm flipV="1">
            <a:off x="3663578" y="2139950"/>
            <a:ext cx="0" cy="4271483"/>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4CBAABFB-3AAB-DDC0-672F-445C4C8A4940}"/>
              </a:ext>
            </a:extLst>
          </p:cNvPr>
          <p:cNvCxnSpPr>
            <a:cxnSpLocks/>
          </p:cNvCxnSpPr>
          <p:nvPr/>
        </p:nvCxnSpPr>
        <p:spPr>
          <a:xfrm flipH="1">
            <a:off x="744279" y="4264025"/>
            <a:ext cx="6196099" cy="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73968868-43E8-8335-946E-08978079DED7}"/>
              </a:ext>
            </a:extLst>
          </p:cNvPr>
          <p:cNvSpPr>
            <a:spLocks noGrp="1"/>
          </p:cNvSpPr>
          <p:nvPr>
            <p:ph type="ftr" sz="quarter" idx="3"/>
          </p:nvPr>
        </p:nvSpPr>
        <p:spPr/>
        <p:txBody>
          <a:bodyPr/>
          <a:lstStyle/>
          <a:p>
            <a:r>
              <a:rPr lang="en-US" dirty="0"/>
              <a:t>Domont Consulting</a:t>
            </a:r>
          </a:p>
        </p:txBody>
      </p:sp>
      <p:sp>
        <p:nvSpPr>
          <p:cNvPr id="4" name="Slide Number Placeholder 3">
            <a:extLst>
              <a:ext uri="{FF2B5EF4-FFF2-40B4-BE49-F238E27FC236}">
                <a16:creationId xmlns:a16="http://schemas.microsoft.com/office/drawing/2014/main" id="{6E736648-F5B4-BB14-5A65-5ADDC8C00FD7}"/>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361454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1220788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accent2"/>
                </a:solidFill>
              </a:rPr>
              <a:t>Solution: </a:t>
            </a:r>
            <a:r>
              <a:rPr lang="en-US" dirty="0"/>
              <a:t>Our ex-McKinsey, Deloitte &amp; BCG consultants created a Toolkit to help you reach your value creation objectives</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by former McKinsey, Deloitte &amp; BCG management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3" name="Footer Placeholder 2">
            <a:extLst>
              <a:ext uri="{FF2B5EF4-FFF2-40B4-BE49-F238E27FC236}">
                <a16:creationId xmlns:a16="http://schemas.microsoft.com/office/drawing/2014/main" id="{C4E5DDB0-50EE-6064-4FBF-A9D75AD4D86A}"/>
              </a:ext>
            </a:extLst>
          </p:cNvPr>
          <p:cNvSpPr>
            <a:spLocks noGrp="1"/>
          </p:cNvSpPr>
          <p:nvPr>
            <p:ph type="ftr" sz="quarter" idx="3"/>
          </p:nvPr>
        </p:nvSpPr>
        <p:spPr/>
        <p:txBody>
          <a:bodyPr/>
          <a:lstStyle/>
          <a:p>
            <a:r>
              <a:rPr lang="en-US" dirty="0"/>
              <a:t>Domont Consulting</a:t>
            </a:r>
          </a:p>
        </p:txBody>
      </p:sp>
      <p:sp>
        <p:nvSpPr>
          <p:cNvPr id="4" name="Slide Number Placeholder 3">
            <a:extLst>
              <a:ext uri="{FF2B5EF4-FFF2-40B4-BE49-F238E27FC236}">
                <a16:creationId xmlns:a16="http://schemas.microsoft.com/office/drawing/2014/main" id="{EE0CB873-6D51-C2F5-0192-296F70C31B5B}"/>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493155" y="1547879"/>
            <a:ext cx="11094412" cy="5139869"/>
          </a:xfrm>
          <a:prstGeom prst="rect">
            <a:avLst/>
          </a:prstGeom>
        </p:spPr>
        <p:txBody>
          <a:bodyPr wrap="square">
            <a:spAutoFit/>
          </a:bodyPr>
          <a:lstStyle/>
          <a:p>
            <a:pPr marL="0" marR="0" lvl="1" algn="l" defTabSz="914400" eaLnBrk="1" fontAlgn="auto" latinLnBrk="0" hangingPunct="1">
              <a:spcBef>
                <a:spcPts val="400"/>
              </a:spcBef>
              <a:spcAft>
                <a:spcPts val="400"/>
              </a:spcAft>
              <a:buClrTx/>
              <a:buSzTx/>
              <a:tabLst/>
              <a:defRPr/>
            </a:pPr>
            <a:r>
              <a:rPr lang="en-US" sz="1500" b="1" dirty="0">
                <a:solidFill>
                  <a:srgbClr val="002060"/>
                </a:solidFill>
                <a:latin typeface="Arial (Body)"/>
              </a:rPr>
              <a:t>The HR and Talent Management Toolkit includes frameworks, tools, templates, tutorials, real-life examples, video training, and best practices to help you:</a:t>
            </a:r>
          </a:p>
          <a:p>
            <a:pPr marL="263525" marR="0" lvl="1" indent="-1778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500" b="1" i="0" u="none" strike="noStrike" kern="1200" cap="none" spc="0" normalizeH="0" baseline="0" dirty="0">
                <a:ln>
                  <a:noFill/>
                </a:ln>
                <a:solidFill>
                  <a:srgbClr val="002060"/>
                </a:solidFill>
                <a:effectLst/>
                <a:uLnTx/>
                <a:uFillTx/>
                <a:latin typeface="Arial (Body)"/>
              </a:rPr>
              <a:t>Define and Implement your HR and Talent Management Strategy: </a:t>
            </a:r>
            <a:r>
              <a:rPr kumimoji="0" lang="en-US" sz="1500" i="0" u="none" strike="noStrike" kern="1200" cap="none" spc="0" normalizeH="0" baseline="0" dirty="0">
                <a:ln>
                  <a:noFill/>
                </a:ln>
                <a:solidFill>
                  <a:srgbClr val="002060"/>
                </a:solidFill>
                <a:effectLst/>
                <a:uLnTx/>
                <a:uFillTx/>
                <a:latin typeface="Arial (Body)"/>
              </a:rPr>
              <a:t>(1) Summary of the Corporate and Business Strategy, (2) HR Analysis, (3) HR and Talent Management Capability Maturity Model, (4) Current State And Target State, (5) HR and Talent Management Mission, Vision &amp; Values, (6) Strategic Objectives &amp; KPIs to Reach our Vision, (7) Team &amp; Budget, (8) Guiding Principles</a:t>
            </a:r>
          </a:p>
          <a:p>
            <a:pPr marL="263525" marR="0" lvl="1" indent="-1778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500" b="1" i="0" u="none" strike="noStrike" kern="1200" cap="none" spc="0" normalizeH="0" baseline="0" dirty="0">
                <a:ln>
                  <a:noFill/>
                </a:ln>
                <a:solidFill>
                  <a:srgbClr val="002060"/>
                </a:solidFill>
                <a:effectLst/>
                <a:uLnTx/>
                <a:uFillTx/>
                <a:latin typeface="Arial (Body)"/>
              </a:rPr>
              <a:t>Define the 10 Pillars required to reach your HR and Talent Management Strategic Objectives:</a:t>
            </a:r>
            <a:r>
              <a:rPr kumimoji="0" lang="en-US" sz="1500" i="0" u="none" strike="noStrike" kern="1200" cap="none" spc="0" normalizeH="0" baseline="0" dirty="0">
                <a:ln>
                  <a:noFill/>
                </a:ln>
                <a:solidFill>
                  <a:srgbClr val="002060"/>
                </a:solidFill>
                <a:effectLst/>
                <a:uLnTx/>
                <a:uFillTx/>
                <a:latin typeface="Arial (Body)"/>
              </a:rPr>
              <a:t> (1) Capability Management, (2) Structure &amp; Governance, (3) Culture, (4) Competency Management, (5) Recruitment, (6) Talent Development, (7) Mentoring, (8) Performance Management, (9) Reward and Recognition, (10) Reassignment &amp; Termination</a:t>
            </a:r>
          </a:p>
          <a:p>
            <a:pPr marL="263525" marR="0" lvl="1" indent="-1778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500" b="1" i="0" u="none" strike="noStrike" kern="1200" cap="none" spc="0" normalizeH="0" baseline="0" dirty="0">
                <a:ln>
                  <a:noFill/>
                </a:ln>
                <a:solidFill>
                  <a:srgbClr val="002060"/>
                </a:solidFill>
                <a:effectLst/>
                <a:uLnTx/>
                <a:uFillTx/>
                <a:latin typeface="Arial (Body)"/>
              </a:rPr>
              <a:t>List your Potential Initiatives </a:t>
            </a:r>
            <a:r>
              <a:rPr kumimoji="0" lang="en-US" sz="1500" i="0" u="none" strike="noStrike" kern="1200" cap="none" spc="0" normalizeH="0" baseline="0" dirty="0">
                <a:ln>
                  <a:noFill/>
                </a:ln>
                <a:solidFill>
                  <a:srgbClr val="002060"/>
                </a:solidFill>
                <a:effectLst/>
                <a:uLnTx/>
                <a:uFillTx/>
                <a:latin typeface="Arial (Body)"/>
              </a:rPr>
              <a:t>for each pillar</a:t>
            </a:r>
          </a:p>
          <a:p>
            <a:pPr marL="263525" marR="0" lvl="1" indent="-1778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500" b="1" i="0" u="none" strike="noStrike" kern="1200" cap="none" spc="0" normalizeH="0" baseline="0" dirty="0">
                <a:ln>
                  <a:noFill/>
                </a:ln>
                <a:solidFill>
                  <a:srgbClr val="002060"/>
                </a:solidFill>
                <a:effectLst/>
                <a:uLnTx/>
                <a:uFillTx/>
                <a:latin typeface="Arial (Body)"/>
              </a:rPr>
              <a:t>Create your Business Cases and Financial Models </a:t>
            </a:r>
            <a:r>
              <a:rPr kumimoji="0" lang="en-US" sz="1500" i="0" u="none" strike="noStrike" kern="1200" cap="none" spc="0" normalizeH="0" baseline="0" dirty="0">
                <a:ln>
                  <a:noFill/>
                </a:ln>
                <a:solidFill>
                  <a:srgbClr val="002060"/>
                </a:solidFill>
                <a:effectLst/>
                <a:uLnTx/>
                <a:uFillTx/>
                <a:latin typeface="Arial (Body)"/>
              </a:rPr>
              <a:t>to assess your list of potential </a:t>
            </a:r>
            <a:r>
              <a:rPr lang="en-US" sz="1500" dirty="0">
                <a:solidFill>
                  <a:srgbClr val="002060"/>
                </a:solidFill>
                <a:latin typeface="Arial (Body)"/>
              </a:rPr>
              <a:t>i</a:t>
            </a:r>
            <a:r>
              <a:rPr kumimoji="0" lang="en-US" sz="1500" i="0" u="none" strike="noStrike" kern="1200" cap="none" spc="0" normalizeH="0" baseline="0" dirty="0">
                <a:ln>
                  <a:noFill/>
                </a:ln>
                <a:solidFill>
                  <a:srgbClr val="002060"/>
                </a:solidFill>
                <a:effectLst/>
                <a:uLnTx/>
                <a:uFillTx/>
                <a:latin typeface="Arial (Body)"/>
              </a:rPr>
              <a:t>nitiatives</a:t>
            </a:r>
          </a:p>
          <a:p>
            <a:pPr marL="263525" marR="0" lvl="1" indent="-1778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1500" b="1" i="0" u="none" strike="noStrike" kern="1200" cap="none" spc="0" normalizeH="0" baseline="0" dirty="0">
                <a:ln>
                  <a:noFill/>
                </a:ln>
                <a:solidFill>
                  <a:srgbClr val="002060"/>
                </a:solidFill>
                <a:effectLst/>
                <a:uLnTx/>
                <a:uFillTx/>
                <a:latin typeface="Arial (Body)"/>
              </a:rPr>
              <a:t>Prioritize, Plan and Implement your Projects: </a:t>
            </a:r>
            <a:r>
              <a:rPr kumimoji="0" lang="en-US" sz="1500" i="0" u="none" strike="noStrike" kern="1200" cap="none" spc="0" normalizeH="0" baseline="0" dirty="0">
                <a:ln>
                  <a:noFill/>
                </a:ln>
                <a:solidFill>
                  <a:srgbClr val="002060"/>
                </a:solidFill>
                <a:effectLst/>
                <a:uLnTx/>
                <a:uFillTx/>
                <a:latin typeface="Arial (Body)"/>
              </a:rPr>
              <a:t>(1) Project Prioritization, (2) Business Roadmap, (3) Governance, (4) Dashboards, (5) Project Implementation: Agile Methodology, Design Thinking and Traditional Methodology, (6) Continuous Improvement (7) Post Projects Evaluation and Lessons Learnt, (8) Post Program Evaluation and Lessons Learnt</a:t>
            </a:r>
          </a:p>
          <a:p>
            <a:pPr marL="263525" marR="0" lvl="1" indent="-177800" algn="l" defTabSz="914400" rtl="0" eaLnBrk="1" fontAlgn="auto" latinLnBrk="0" hangingPunct="1">
              <a:spcBef>
                <a:spcPts val="200"/>
              </a:spcBef>
              <a:spcAft>
                <a:spcPts val="200"/>
              </a:spcAft>
              <a:buClrTx/>
              <a:buSzTx/>
              <a:buFont typeface="Arial" panose="020B0604020202020204" pitchFamily="34" charset="0"/>
              <a:buChar char="•"/>
              <a:tabLst/>
              <a:defRPr/>
            </a:pPr>
            <a:r>
              <a:rPr kumimoji="0" lang="en-US" sz="1500" b="1" i="0" u="none" strike="noStrike" kern="1200" cap="none" spc="0" normalizeH="0" baseline="0" dirty="0">
                <a:ln>
                  <a:noFill/>
                </a:ln>
                <a:solidFill>
                  <a:srgbClr val="002060"/>
                </a:solidFill>
                <a:effectLst/>
                <a:uLnTx/>
                <a:uFillTx/>
                <a:latin typeface="Arial (Body)"/>
              </a:rPr>
              <a:t>Define and implement your change management strategy and internal communication strategy: </a:t>
            </a:r>
            <a:r>
              <a:rPr kumimoji="0" lang="en-US" sz="1500" i="0" u="none" strike="noStrike" kern="1200" cap="none" spc="0" normalizeH="0" baseline="0" dirty="0">
                <a:ln>
                  <a:noFill/>
                </a:ln>
                <a:solidFill>
                  <a:srgbClr val="002060"/>
                </a:solidFill>
                <a:effectLst/>
                <a:uLnTx/>
                <a:uFillTx/>
                <a:latin typeface="Arial (Body)"/>
              </a:rPr>
              <a:t>(1) Change management strategy, (2) Change management plans, (3) Implementation, tracking and progress management, (4) Effective communication, (5) Stakeholder engagement strategy</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endParaRPr lang="en-US" sz="1300" dirty="0">
              <a:solidFill>
                <a:srgbClr val="002060"/>
              </a:solidFill>
              <a:latin typeface="Arial (Body)"/>
            </a:endParaRPr>
          </a:p>
        </p:txBody>
      </p:sp>
      <p:sp>
        <p:nvSpPr>
          <p:cNvPr id="2" name="Footer Placeholder 1">
            <a:extLst>
              <a:ext uri="{FF2B5EF4-FFF2-40B4-BE49-F238E27FC236}">
                <a16:creationId xmlns:a16="http://schemas.microsoft.com/office/drawing/2014/main" id="{701CAE95-2C63-7A54-90CC-EC9B70F6A503}"/>
              </a:ext>
            </a:extLst>
          </p:cNvPr>
          <p:cNvSpPr>
            <a:spLocks noGrp="1"/>
          </p:cNvSpPr>
          <p:nvPr>
            <p:ph type="ftr" sz="quarter" idx="3"/>
          </p:nvPr>
        </p:nvSpPr>
        <p:spPr/>
        <p:txBody>
          <a:bodyPr/>
          <a:lstStyle/>
          <a:p>
            <a:r>
              <a:rPr lang="en-US" dirty="0"/>
              <a:t>Domont Consulting</a:t>
            </a:r>
          </a:p>
        </p:txBody>
      </p:sp>
      <p:sp>
        <p:nvSpPr>
          <p:cNvPr id="3" name="Slide Number Placeholder 2">
            <a:extLst>
              <a:ext uri="{FF2B5EF4-FFF2-40B4-BE49-F238E27FC236}">
                <a16:creationId xmlns:a16="http://schemas.microsoft.com/office/drawing/2014/main" id="{2927128F-430A-D4AA-4F0B-B69EBFEDBE5F}"/>
              </a:ext>
            </a:extLst>
          </p:cNvPr>
          <p:cNvSpPr>
            <a:spLocks noGrp="1"/>
          </p:cNvSpPr>
          <p:nvPr>
            <p:ph type="sldNum" sz="quarter" idx="4"/>
          </p:nvPr>
        </p:nvSpPr>
        <p:spPr/>
        <p:txBody>
          <a:bodyPr/>
          <a:lstStyle/>
          <a:p>
            <a:fld id="{37F5C94B-8C55-478B-B509-BAE6A06B2E2A}" type="slidenum">
              <a:rPr lang="en-US" smtClean="0"/>
              <a:pPr/>
              <a:t>7</a:t>
            </a:fld>
            <a:endParaRPr lang="en-US" dirty="0"/>
          </a:p>
        </p:txBody>
      </p:sp>
      <p:sp>
        <p:nvSpPr>
          <p:cNvPr id="4" name="Oval 3">
            <a:extLst>
              <a:ext uri="{FF2B5EF4-FFF2-40B4-BE49-F238E27FC236}">
                <a16:creationId xmlns:a16="http://schemas.microsoft.com/office/drawing/2014/main" id="{07BA6865-9F1F-F38A-B293-6B6C69A81678}"/>
              </a:ext>
            </a:extLst>
          </p:cNvPr>
          <p:cNvSpPr/>
          <p:nvPr/>
        </p:nvSpPr>
        <p:spPr>
          <a:xfrm>
            <a:off x="575900" y="2187145"/>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1</a:t>
            </a:r>
          </a:p>
        </p:txBody>
      </p:sp>
      <p:sp>
        <p:nvSpPr>
          <p:cNvPr id="5" name="Oval 4">
            <a:extLst>
              <a:ext uri="{FF2B5EF4-FFF2-40B4-BE49-F238E27FC236}">
                <a16:creationId xmlns:a16="http://schemas.microsoft.com/office/drawing/2014/main" id="{8EB2B9DE-804A-8A39-9A37-C08C5FCB0360}"/>
              </a:ext>
            </a:extLst>
          </p:cNvPr>
          <p:cNvSpPr/>
          <p:nvPr/>
        </p:nvSpPr>
        <p:spPr>
          <a:xfrm>
            <a:off x="588257" y="3268574"/>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2</a:t>
            </a:r>
          </a:p>
        </p:txBody>
      </p:sp>
      <p:sp>
        <p:nvSpPr>
          <p:cNvPr id="17" name="Oval 16">
            <a:extLst>
              <a:ext uri="{FF2B5EF4-FFF2-40B4-BE49-F238E27FC236}">
                <a16:creationId xmlns:a16="http://schemas.microsoft.com/office/drawing/2014/main" id="{7EE42043-E57A-F3B5-7BF0-E0FEEB0ADF4E}"/>
              </a:ext>
            </a:extLst>
          </p:cNvPr>
          <p:cNvSpPr/>
          <p:nvPr/>
        </p:nvSpPr>
        <p:spPr>
          <a:xfrm>
            <a:off x="588257" y="4093099"/>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3</a:t>
            </a:r>
          </a:p>
        </p:txBody>
      </p:sp>
      <p:sp>
        <p:nvSpPr>
          <p:cNvPr id="18" name="Oval 17">
            <a:extLst>
              <a:ext uri="{FF2B5EF4-FFF2-40B4-BE49-F238E27FC236}">
                <a16:creationId xmlns:a16="http://schemas.microsoft.com/office/drawing/2014/main" id="{2ABCF56D-4E44-53B2-B306-95A540546F28}"/>
              </a:ext>
            </a:extLst>
          </p:cNvPr>
          <p:cNvSpPr/>
          <p:nvPr/>
        </p:nvSpPr>
        <p:spPr>
          <a:xfrm>
            <a:off x="588257" y="4462160"/>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4</a:t>
            </a:r>
          </a:p>
        </p:txBody>
      </p:sp>
      <p:sp>
        <p:nvSpPr>
          <p:cNvPr id="19" name="Oval 18">
            <a:extLst>
              <a:ext uri="{FF2B5EF4-FFF2-40B4-BE49-F238E27FC236}">
                <a16:creationId xmlns:a16="http://schemas.microsoft.com/office/drawing/2014/main" id="{2D09C2C1-3057-0A08-0F43-FA9C84A60FF5}"/>
              </a:ext>
            </a:extLst>
          </p:cNvPr>
          <p:cNvSpPr/>
          <p:nvPr/>
        </p:nvSpPr>
        <p:spPr>
          <a:xfrm>
            <a:off x="588257" y="4843578"/>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5</a:t>
            </a:r>
          </a:p>
        </p:txBody>
      </p:sp>
      <p:sp>
        <p:nvSpPr>
          <p:cNvPr id="20" name="Oval 19">
            <a:extLst>
              <a:ext uri="{FF2B5EF4-FFF2-40B4-BE49-F238E27FC236}">
                <a16:creationId xmlns:a16="http://schemas.microsoft.com/office/drawing/2014/main" id="{4D52B10F-2300-4E94-3A4A-72C051A97885}"/>
              </a:ext>
            </a:extLst>
          </p:cNvPr>
          <p:cNvSpPr/>
          <p:nvPr/>
        </p:nvSpPr>
        <p:spPr>
          <a:xfrm>
            <a:off x="588257" y="5651484"/>
            <a:ext cx="216000" cy="21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6</a:t>
            </a:r>
          </a:p>
        </p:txBody>
      </p:sp>
    </p:spTree>
    <p:extLst>
      <p:ext uri="{BB962C8B-B14F-4D97-AF65-F5344CB8AC3E}">
        <p14:creationId xmlns:p14="http://schemas.microsoft.com/office/powerpoint/2010/main" val="3272444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HR and Talent Management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8</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46659"/>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u="sng" dirty="0">
                <a:solidFill>
                  <a:srgbClr val="002060"/>
                </a:solidFill>
                <a:latin typeface="Calibri" panose="020F0502020204030204" pitchFamily="34" charset="0"/>
                <a:ea typeface="Aptos" panose="020B0004020202020204" pitchFamily="34" charset="0"/>
                <a:cs typeface="Aptos" panose="020B0004020202020204" pitchFamily="34" charset="0"/>
                <a:hlinkClick r:id="rId5"/>
              </a:rPr>
              <a:t>https://youtu.be/2S3UUpgfsVw</a:t>
            </a:r>
            <a:r>
              <a:rPr lang="en-US" sz="1600" u="sng" dirty="0">
                <a:solidFill>
                  <a:srgbClr val="002060"/>
                </a:solidFill>
                <a:latin typeface="Calibri" panose="020F0502020204030204" pitchFamily="34" charset="0"/>
                <a:ea typeface="Aptos" panose="020B0004020202020204" pitchFamily="34" charset="0"/>
                <a:cs typeface="Aptos" panose="020B0004020202020204" pitchFamily="34" charset="0"/>
              </a:rPr>
              <a:t> </a:t>
            </a:r>
            <a:endParaRPr lang="en-US" sz="1600" dirty="0"/>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8C2BF72A-A84B-402A-781A-67F16285B2BE}"/>
              </a:ext>
            </a:extLst>
          </p:cNvPr>
          <p:cNvPicPr>
            <a:picLocks noChangeAspect="1"/>
          </p:cNvPicPr>
          <p:nvPr/>
        </p:nvPicPr>
        <p:blipFill>
          <a:blip r:embed="rId7"/>
          <a:stretch>
            <a:fillRect/>
          </a:stretch>
        </p:blipFill>
        <p:spPr>
          <a:xfrm>
            <a:off x="6476568" y="2080435"/>
            <a:ext cx="5089097" cy="280865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92113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CBAB5F-6097-B188-7084-E55816703BBF}"/>
              </a:ext>
            </a:extLst>
          </p:cNvPr>
          <p:cNvGraphicFramePr>
            <a:graphicFrameLocks noChangeAspect="1"/>
          </p:cNvGraphicFramePr>
          <p:nvPr>
            <p:custDataLst>
              <p:tags r:id="rId1"/>
            </p:custDataLst>
            <p:extLst>
              <p:ext uri="{D42A27DB-BD31-4B8C-83A1-F6EECF244321}">
                <p14:modId xmlns:p14="http://schemas.microsoft.com/office/powerpoint/2010/main" val="25415842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think-cell data - do not delete" hidden="1">
                        <a:extLst>
                          <a:ext uri="{FF2B5EF4-FFF2-40B4-BE49-F238E27FC236}">
                            <a16:creationId xmlns:a16="http://schemas.microsoft.com/office/drawing/2014/main" id="{15CBAB5F-6097-B188-7084-E55816703B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A2D38F72-8AF6-8581-339B-E5F29CA8880E}"/>
              </a:ext>
            </a:extLst>
          </p:cNvPr>
          <p:cNvSpPr txBox="1">
            <a:spLocks noGrp="1"/>
          </p:cNvSpPr>
          <p:nvPr>
            <p:ph type="title"/>
          </p:nvPr>
        </p:nvSpPr>
        <p:spPr>
          <a:prstGeom prst="rect">
            <a:avLst/>
          </a:prstGeom>
        </p:spPr>
        <p:txBody>
          <a:bodyPr anchor="t">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a 6-phase approach that we have built and refined over the past 20 years through constant trial and error</a:t>
            </a:r>
            <a:endParaRPr lang="en-US" sz="1800" b="0" kern="0" dirty="0"/>
          </a:p>
        </p:txBody>
      </p:sp>
      <p:sp>
        <p:nvSpPr>
          <p:cNvPr id="3" name="Rectangle: Rounded Corners 2">
            <a:extLst>
              <a:ext uri="{FF2B5EF4-FFF2-40B4-BE49-F238E27FC236}">
                <a16:creationId xmlns:a16="http://schemas.microsoft.com/office/drawing/2014/main" id="{56BA0578-415D-B300-A13E-E9A8B9A74438}"/>
              </a:ext>
            </a:extLst>
          </p:cNvPr>
          <p:cNvSpPr/>
          <p:nvPr/>
        </p:nvSpPr>
        <p:spPr>
          <a:xfrm>
            <a:off x="591671" y="1191355"/>
            <a:ext cx="10995492" cy="1030023"/>
          </a:xfrm>
          <a:prstGeom prst="roundRect">
            <a:avLst>
              <a:gd name="adj" fmla="val 2394"/>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bg1">
                    <a:lumMod val="95000"/>
                  </a:schemeClr>
                </a:solidFill>
              </a:rPr>
              <a:t>I. HR and Talent Management Strategy</a:t>
            </a:r>
            <a:endParaRPr lang="en-US" sz="1300" b="1" dirty="0">
              <a:solidFill>
                <a:schemeClr val="bg1">
                  <a:lumMod val="95000"/>
                </a:schemeClr>
              </a:solidFill>
            </a:endParaRPr>
          </a:p>
        </p:txBody>
      </p:sp>
      <p:sp>
        <p:nvSpPr>
          <p:cNvPr id="5" name="Rectangle: Rounded Corners 4">
            <a:extLst>
              <a:ext uri="{FF2B5EF4-FFF2-40B4-BE49-F238E27FC236}">
                <a16:creationId xmlns:a16="http://schemas.microsoft.com/office/drawing/2014/main" id="{88F95FA6-26DE-42C4-AA80-B5E2F9FCD629}"/>
              </a:ext>
            </a:extLst>
          </p:cNvPr>
          <p:cNvSpPr/>
          <p:nvPr/>
        </p:nvSpPr>
        <p:spPr>
          <a:xfrm>
            <a:off x="591671" y="2250105"/>
            <a:ext cx="10995492" cy="3528000"/>
          </a:xfrm>
          <a:prstGeom prst="roundRect">
            <a:avLst>
              <a:gd name="adj" fmla="val 609"/>
            </a:avLst>
          </a:prstGeom>
          <a:solidFill>
            <a:srgbClr val="EBF1FF"/>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300" b="1" kern="0" dirty="0">
                <a:solidFill>
                  <a:schemeClr val="tx1"/>
                </a:solidFill>
              </a:rPr>
              <a:t>II. 10 Pillars to reach our HR and Talent Management Strategic Objectives</a:t>
            </a:r>
            <a:endParaRPr lang="en-US" sz="1300" b="1" dirty="0">
              <a:solidFill>
                <a:schemeClr val="tx1"/>
              </a:solidFill>
            </a:endParaRPr>
          </a:p>
        </p:txBody>
      </p:sp>
      <p:sp>
        <p:nvSpPr>
          <p:cNvPr id="7" name="Rectangle: Rounded Corners 6">
            <a:extLst>
              <a:ext uri="{FF2B5EF4-FFF2-40B4-BE49-F238E27FC236}">
                <a16:creationId xmlns:a16="http://schemas.microsoft.com/office/drawing/2014/main" id="{AB1978BB-F0E9-9208-360A-0EF7D0AEE7DF}"/>
              </a:ext>
            </a:extLst>
          </p:cNvPr>
          <p:cNvSpPr/>
          <p:nvPr/>
        </p:nvSpPr>
        <p:spPr>
          <a:xfrm>
            <a:off x="591671" y="6015559"/>
            <a:ext cx="10995492" cy="180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IV. Business cases and financial models to assess potential projects</a:t>
            </a:r>
          </a:p>
        </p:txBody>
      </p:sp>
      <p:sp>
        <p:nvSpPr>
          <p:cNvPr id="9" name="Rectangle: Rounded Corners 8">
            <a:extLst>
              <a:ext uri="{FF2B5EF4-FFF2-40B4-BE49-F238E27FC236}">
                <a16:creationId xmlns:a16="http://schemas.microsoft.com/office/drawing/2014/main" id="{A85F3200-47B5-57BA-7848-41EA76C81D6D}"/>
              </a:ext>
            </a:extLst>
          </p:cNvPr>
          <p:cNvSpPr/>
          <p:nvPr/>
        </p:nvSpPr>
        <p:spPr>
          <a:xfrm>
            <a:off x="591671" y="6224286"/>
            <a:ext cx="10995492" cy="180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 Project Prioritization, Business Roadmap and Implementation</a:t>
            </a:r>
            <a:endParaRPr lang="en-US" sz="1200" b="1" dirty="0">
              <a:solidFill>
                <a:schemeClr val="tx1"/>
              </a:solidFill>
            </a:endParaRPr>
          </a:p>
        </p:txBody>
      </p:sp>
      <p:sp>
        <p:nvSpPr>
          <p:cNvPr id="10" name="Rectangle: Rounded Corners 9">
            <a:extLst>
              <a:ext uri="{FF2B5EF4-FFF2-40B4-BE49-F238E27FC236}">
                <a16:creationId xmlns:a16="http://schemas.microsoft.com/office/drawing/2014/main" id="{626C31D4-4596-609E-3AB4-55D2A47D8851}"/>
              </a:ext>
            </a:extLst>
          </p:cNvPr>
          <p:cNvSpPr/>
          <p:nvPr/>
        </p:nvSpPr>
        <p:spPr>
          <a:xfrm>
            <a:off x="591671" y="6433013"/>
            <a:ext cx="10995492" cy="180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VI. Change Management, Internal Communication and Stakeholder Engagement</a:t>
            </a:r>
          </a:p>
        </p:txBody>
      </p:sp>
      <p:sp>
        <p:nvSpPr>
          <p:cNvPr id="13" name="Rectangle: Rounded Corners 12">
            <a:extLst>
              <a:ext uri="{FF2B5EF4-FFF2-40B4-BE49-F238E27FC236}">
                <a16:creationId xmlns:a16="http://schemas.microsoft.com/office/drawing/2014/main" id="{F0033EEC-000D-4835-D957-E099270EA957}"/>
              </a:ext>
            </a:extLst>
          </p:cNvPr>
          <p:cNvSpPr/>
          <p:nvPr/>
        </p:nvSpPr>
        <p:spPr>
          <a:xfrm>
            <a:off x="661046" y="1560392"/>
            <a:ext cx="1296000" cy="576000"/>
          </a:xfrm>
          <a:prstGeom prst="roundRect">
            <a:avLst>
              <a:gd name="adj" fmla="val 51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Summary of the Corporate and Business Strategy</a:t>
            </a:r>
          </a:p>
        </p:txBody>
      </p:sp>
      <p:sp>
        <p:nvSpPr>
          <p:cNvPr id="14" name="Rectangle: Rounded Corners 13">
            <a:extLst>
              <a:ext uri="{FF2B5EF4-FFF2-40B4-BE49-F238E27FC236}">
                <a16:creationId xmlns:a16="http://schemas.microsoft.com/office/drawing/2014/main" id="{45DC9DD0-0ADA-AEDD-DE34-7392F577D867}"/>
              </a:ext>
            </a:extLst>
          </p:cNvPr>
          <p:cNvSpPr/>
          <p:nvPr/>
        </p:nvSpPr>
        <p:spPr>
          <a:xfrm>
            <a:off x="3401892" y="1560392"/>
            <a:ext cx="1296000" cy="576000"/>
          </a:xfrm>
          <a:prstGeom prst="roundRect">
            <a:avLst>
              <a:gd name="adj" fmla="val 768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HR and Talent Management Capability Maturity Model</a:t>
            </a:r>
          </a:p>
        </p:txBody>
      </p:sp>
      <p:sp>
        <p:nvSpPr>
          <p:cNvPr id="15" name="Rectangle: Rounded Corners 14">
            <a:extLst>
              <a:ext uri="{FF2B5EF4-FFF2-40B4-BE49-F238E27FC236}">
                <a16:creationId xmlns:a16="http://schemas.microsoft.com/office/drawing/2014/main" id="{B5C7A6D9-D0A1-CC53-E8F9-3D679726DB33}"/>
              </a:ext>
            </a:extLst>
          </p:cNvPr>
          <p:cNvSpPr/>
          <p:nvPr/>
        </p:nvSpPr>
        <p:spPr>
          <a:xfrm>
            <a:off x="7513161" y="1560391"/>
            <a:ext cx="1296000" cy="576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Strategic Objectives &amp; KPIs to Reach our Vision</a:t>
            </a:r>
          </a:p>
        </p:txBody>
      </p:sp>
      <p:sp>
        <p:nvSpPr>
          <p:cNvPr id="16" name="Rectangle: Rounded Corners 15">
            <a:extLst>
              <a:ext uri="{FF2B5EF4-FFF2-40B4-BE49-F238E27FC236}">
                <a16:creationId xmlns:a16="http://schemas.microsoft.com/office/drawing/2014/main" id="{2CC4D6A0-0BE0-7F0F-D29C-E5746E03CB24}"/>
              </a:ext>
            </a:extLst>
          </p:cNvPr>
          <p:cNvSpPr/>
          <p:nvPr/>
        </p:nvSpPr>
        <p:spPr>
          <a:xfrm>
            <a:off x="591671" y="5806832"/>
            <a:ext cx="10995492" cy="180000"/>
          </a:xfrm>
          <a:prstGeom prst="roundRect">
            <a:avLst>
              <a:gd name="adj" fmla="val 9295"/>
            </a:avLst>
          </a:prstGeom>
          <a:solidFill>
            <a:srgbClr val="F7F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dirty="0">
                <a:solidFill>
                  <a:schemeClr val="tx1"/>
                </a:solidFill>
              </a:rPr>
              <a:t>III. Potential Initiatives for each Pillar</a:t>
            </a:r>
            <a:endParaRPr lang="en-US" sz="1200" b="1" dirty="0">
              <a:solidFill>
                <a:schemeClr val="tx1"/>
              </a:solidFill>
            </a:endParaRPr>
          </a:p>
        </p:txBody>
      </p:sp>
      <p:sp>
        <p:nvSpPr>
          <p:cNvPr id="18" name="Rectangle: Rounded Corners 17">
            <a:extLst>
              <a:ext uri="{FF2B5EF4-FFF2-40B4-BE49-F238E27FC236}">
                <a16:creationId xmlns:a16="http://schemas.microsoft.com/office/drawing/2014/main" id="{7DFF8D57-FA55-CE9C-C648-726CFFAC2507}"/>
              </a:ext>
            </a:extLst>
          </p:cNvPr>
          <p:cNvSpPr/>
          <p:nvPr/>
        </p:nvSpPr>
        <p:spPr>
          <a:xfrm>
            <a:off x="8883584" y="1560391"/>
            <a:ext cx="1296000" cy="576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a:solidFill>
                  <a:schemeClr val="tx1"/>
                </a:solidFill>
              </a:rPr>
              <a:t>HR Team, Budget &amp; Service Delivery Model</a:t>
            </a:r>
            <a:endParaRPr lang="en-US" sz="1000" b="1" dirty="0">
              <a:solidFill>
                <a:schemeClr val="tx1"/>
              </a:solidFill>
            </a:endParaRPr>
          </a:p>
        </p:txBody>
      </p:sp>
      <p:sp>
        <p:nvSpPr>
          <p:cNvPr id="19" name="Rectangle: Rounded Corners 18">
            <a:extLst>
              <a:ext uri="{FF2B5EF4-FFF2-40B4-BE49-F238E27FC236}">
                <a16:creationId xmlns:a16="http://schemas.microsoft.com/office/drawing/2014/main" id="{D632884F-90B0-01F4-73A1-CB44FFAC6ECE}"/>
              </a:ext>
            </a:extLst>
          </p:cNvPr>
          <p:cNvSpPr/>
          <p:nvPr/>
        </p:nvSpPr>
        <p:spPr>
          <a:xfrm>
            <a:off x="10254009" y="1560391"/>
            <a:ext cx="1296000" cy="576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Guiding Principles </a:t>
            </a:r>
          </a:p>
        </p:txBody>
      </p:sp>
      <p:sp>
        <p:nvSpPr>
          <p:cNvPr id="20" name="Rectangle: Rounded Corners 19">
            <a:extLst>
              <a:ext uri="{FF2B5EF4-FFF2-40B4-BE49-F238E27FC236}">
                <a16:creationId xmlns:a16="http://schemas.microsoft.com/office/drawing/2014/main" id="{8E2CF74D-56DC-D8F6-6290-67B76C29EF7A}"/>
              </a:ext>
            </a:extLst>
          </p:cNvPr>
          <p:cNvSpPr/>
          <p:nvPr/>
        </p:nvSpPr>
        <p:spPr>
          <a:xfrm>
            <a:off x="4772315" y="1560392"/>
            <a:ext cx="1296000" cy="576000"/>
          </a:xfrm>
          <a:prstGeom prst="roundRect">
            <a:avLst>
              <a:gd name="adj" fmla="val 768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Current State And Target State</a:t>
            </a:r>
          </a:p>
        </p:txBody>
      </p:sp>
      <p:sp>
        <p:nvSpPr>
          <p:cNvPr id="21" name="Rectangle: Rounded Corners 20">
            <a:extLst>
              <a:ext uri="{FF2B5EF4-FFF2-40B4-BE49-F238E27FC236}">
                <a16:creationId xmlns:a16="http://schemas.microsoft.com/office/drawing/2014/main" id="{822DC98C-834A-0656-CFDF-40776B4EB946}"/>
              </a:ext>
            </a:extLst>
          </p:cNvPr>
          <p:cNvSpPr/>
          <p:nvPr/>
        </p:nvSpPr>
        <p:spPr>
          <a:xfrm>
            <a:off x="6142738" y="1560391"/>
            <a:ext cx="1296000" cy="576000"/>
          </a:xfrm>
          <a:prstGeom prst="roundRect">
            <a:avLst>
              <a:gd name="adj" fmla="val 1153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HR and Talent Management Mission, Vision &amp; Values</a:t>
            </a:r>
          </a:p>
        </p:txBody>
      </p:sp>
      <p:sp>
        <p:nvSpPr>
          <p:cNvPr id="28" name="Rectangle: Rounded Corners 27">
            <a:extLst>
              <a:ext uri="{FF2B5EF4-FFF2-40B4-BE49-F238E27FC236}">
                <a16:creationId xmlns:a16="http://schemas.microsoft.com/office/drawing/2014/main" id="{6D98FC28-39A2-6CBC-8743-8322B87D93E9}"/>
              </a:ext>
            </a:extLst>
          </p:cNvPr>
          <p:cNvSpPr/>
          <p:nvPr/>
        </p:nvSpPr>
        <p:spPr>
          <a:xfrm>
            <a:off x="654464" y="2558176"/>
            <a:ext cx="2088000" cy="39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050" b="1" dirty="0">
                <a:solidFill>
                  <a:schemeClr val="tx2"/>
                </a:solidFill>
              </a:rPr>
              <a:t>Capability Management</a:t>
            </a:r>
          </a:p>
        </p:txBody>
      </p:sp>
      <p:sp>
        <p:nvSpPr>
          <p:cNvPr id="30" name="Rectangle: Rounded Corners 29">
            <a:extLst>
              <a:ext uri="{FF2B5EF4-FFF2-40B4-BE49-F238E27FC236}">
                <a16:creationId xmlns:a16="http://schemas.microsoft.com/office/drawing/2014/main" id="{7E6361C4-25A4-6F60-AAD9-FB1DC3EC593B}"/>
              </a:ext>
            </a:extLst>
          </p:cNvPr>
          <p:cNvSpPr/>
          <p:nvPr/>
        </p:nvSpPr>
        <p:spPr>
          <a:xfrm>
            <a:off x="2859181" y="2558176"/>
            <a:ext cx="2088000" cy="39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050" b="1" dirty="0">
                <a:solidFill>
                  <a:schemeClr val="tx2"/>
                </a:solidFill>
              </a:rPr>
              <a:t>Structure &amp; Governance</a:t>
            </a:r>
          </a:p>
        </p:txBody>
      </p:sp>
      <p:sp>
        <p:nvSpPr>
          <p:cNvPr id="31" name="Rectangle: Rounded Corners 30">
            <a:extLst>
              <a:ext uri="{FF2B5EF4-FFF2-40B4-BE49-F238E27FC236}">
                <a16:creationId xmlns:a16="http://schemas.microsoft.com/office/drawing/2014/main" id="{569B38A6-3C5E-88CF-A197-5908DD72B348}"/>
              </a:ext>
            </a:extLst>
          </p:cNvPr>
          <p:cNvSpPr/>
          <p:nvPr/>
        </p:nvSpPr>
        <p:spPr>
          <a:xfrm>
            <a:off x="5063898" y="2558176"/>
            <a:ext cx="2088000" cy="39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050" b="1" dirty="0">
                <a:solidFill>
                  <a:schemeClr val="tx2"/>
                </a:solidFill>
              </a:rPr>
              <a:t>Culture</a:t>
            </a:r>
          </a:p>
        </p:txBody>
      </p:sp>
      <p:sp>
        <p:nvSpPr>
          <p:cNvPr id="36" name="Rectangle: Rounded Corners 35">
            <a:extLst>
              <a:ext uri="{FF2B5EF4-FFF2-40B4-BE49-F238E27FC236}">
                <a16:creationId xmlns:a16="http://schemas.microsoft.com/office/drawing/2014/main" id="{B986C1A2-7B28-41DB-6071-9EDBABDE5DF0}"/>
              </a:ext>
            </a:extLst>
          </p:cNvPr>
          <p:cNvSpPr/>
          <p:nvPr/>
        </p:nvSpPr>
        <p:spPr>
          <a:xfrm>
            <a:off x="7268615" y="2558176"/>
            <a:ext cx="2088000" cy="39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050" b="1" dirty="0">
                <a:solidFill>
                  <a:schemeClr val="tx2"/>
                </a:solidFill>
              </a:rPr>
              <a:t>Competency Management</a:t>
            </a:r>
          </a:p>
        </p:txBody>
      </p:sp>
      <p:sp>
        <p:nvSpPr>
          <p:cNvPr id="37" name="Rectangle: Rounded Corners 36">
            <a:extLst>
              <a:ext uri="{FF2B5EF4-FFF2-40B4-BE49-F238E27FC236}">
                <a16:creationId xmlns:a16="http://schemas.microsoft.com/office/drawing/2014/main" id="{4762AF98-945A-33C7-A5DF-BE623A104F69}"/>
              </a:ext>
            </a:extLst>
          </p:cNvPr>
          <p:cNvSpPr/>
          <p:nvPr/>
        </p:nvSpPr>
        <p:spPr>
          <a:xfrm>
            <a:off x="9473334" y="2558176"/>
            <a:ext cx="2088000" cy="39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050" b="1" dirty="0">
                <a:solidFill>
                  <a:schemeClr val="tx2"/>
                </a:solidFill>
              </a:rPr>
              <a:t>Recruitment</a:t>
            </a:r>
          </a:p>
        </p:txBody>
      </p:sp>
      <p:pic>
        <p:nvPicPr>
          <p:cNvPr id="38" name="Graphic 37" descr="Radar Chart with solid fill">
            <a:extLst>
              <a:ext uri="{FF2B5EF4-FFF2-40B4-BE49-F238E27FC236}">
                <a16:creationId xmlns:a16="http://schemas.microsoft.com/office/drawing/2014/main" id="{9F72B752-FB50-5D38-FCBF-88B0840832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01374" y="2576623"/>
            <a:ext cx="361535" cy="361535"/>
          </a:xfrm>
          <a:prstGeom prst="rect">
            <a:avLst/>
          </a:prstGeom>
        </p:spPr>
      </p:pic>
      <p:pic>
        <p:nvPicPr>
          <p:cNvPr id="39" name="Graphic 38" descr="Excellent with solid fill">
            <a:extLst>
              <a:ext uri="{FF2B5EF4-FFF2-40B4-BE49-F238E27FC236}">
                <a16:creationId xmlns:a16="http://schemas.microsoft.com/office/drawing/2014/main" id="{F3213BB1-C221-16AD-33B1-28D27A52ED1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8670" y="2591519"/>
            <a:ext cx="348922" cy="348922"/>
          </a:xfrm>
          <a:prstGeom prst="rect">
            <a:avLst/>
          </a:prstGeom>
        </p:spPr>
      </p:pic>
      <p:pic>
        <p:nvPicPr>
          <p:cNvPr id="40" name="Graphic 39" descr="Hierarchy with solid fill">
            <a:extLst>
              <a:ext uri="{FF2B5EF4-FFF2-40B4-BE49-F238E27FC236}">
                <a16:creationId xmlns:a16="http://schemas.microsoft.com/office/drawing/2014/main" id="{F0BC3825-7DA2-6C2C-CD4F-0E151880CF9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973020" y="2573037"/>
            <a:ext cx="388002" cy="388002"/>
          </a:xfrm>
          <a:prstGeom prst="rect">
            <a:avLst/>
          </a:prstGeom>
        </p:spPr>
      </p:pic>
      <p:pic>
        <p:nvPicPr>
          <p:cNvPr id="42" name="Graphic 41" descr="Cheers with solid fill">
            <a:extLst>
              <a:ext uri="{FF2B5EF4-FFF2-40B4-BE49-F238E27FC236}">
                <a16:creationId xmlns:a16="http://schemas.microsoft.com/office/drawing/2014/main" id="{5A954F76-44E6-DA21-6B48-03898A016DC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85628" y="2596534"/>
            <a:ext cx="359563" cy="359563"/>
          </a:xfrm>
          <a:prstGeom prst="rect">
            <a:avLst/>
          </a:prstGeom>
        </p:spPr>
      </p:pic>
      <p:sp>
        <p:nvSpPr>
          <p:cNvPr id="43" name="Rectangle 42">
            <a:extLst>
              <a:ext uri="{FF2B5EF4-FFF2-40B4-BE49-F238E27FC236}">
                <a16:creationId xmlns:a16="http://schemas.microsoft.com/office/drawing/2014/main" id="{CA5414FD-6C2E-84F9-C603-84B1139AA584}"/>
              </a:ext>
            </a:extLst>
          </p:cNvPr>
          <p:cNvSpPr/>
          <p:nvPr/>
        </p:nvSpPr>
        <p:spPr>
          <a:xfrm>
            <a:off x="703583" y="2974341"/>
            <a:ext cx="1979617" cy="1000274"/>
          </a:xfrm>
          <a:prstGeom prst="rect">
            <a:avLst/>
          </a:prstGeom>
          <a:effectLst/>
        </p:spPr>
        <p:txBody>
          <a:bodyPr wrap="square" lIns="0">
            <a:spAutoFit/>
          </a:bodyPr>
          <a:lstStyle/>
          <a:p>
            <a:pPr marL="182563" indent="-182563">
              <a:spcBef>
                <a:spcPts val="100"/>
              </a:spcBef>
              <a:spcAft>
                <a:spcPts val="100"/>
              </a:spcAft>
              <a:buFont typeface="+mj-lt"/>
              <a:buAutoNum type="arabicPeriod"/>
              <a:defRPr/>
            </a:pPr>
            <a:r>
              <a:rPr lang="en-US" sz="900" dirty="0"/>
              <a:t>The importance of capability management</a:t>
            </a:r>
          </a:p>
          <a:p>
            <a:pPr marL="182563" indent="-182563">
              <a:spcBef>
                <a:spcPts val="100"/>
              </a:spcBef>
              <a:spcAft>
                <a:spcPts val="100"/>
              </a:spcAft>
              <a:buFont typeface="+mj-lt"/>
              <a:buAutoNum type="arabicPeriod"/>
              <a:defRPr/>
            </a:pPr>
            <a:r>
              <a:rPr lang="en-US" sz="900" dirty="0"/>
              <a:t>Desired capabilities</a:t>
            </a:r>
          </a:p>
          <a:p>
            <a:pPr marL="182563" indent="-182563">
              <a:spcBef>
                <a:spcPts val="100"/>
              </a:spcBef>
              <a:spcAft>
                <a:spcPts val="100"/>
              </a:spcAft>
              <a:buFont typeface="+mj-lt"/>
              <a:buAutoNum type="arabicPeriod"/>
              <a:defRPr/>
            </a:pPr>
            <a:r>
              <a:rPr lang="en-US" sz="900" dirty="0"/>
              <a:t>Current state and target state of each desired capabilities</a:t>
            </a:r>
          </a:p>
          <a:p>
            <a:pPr marL="182563" indent="-182563">
              <a:spcBef>
                <a:spcPts val="100"/>
              </a:spcBef>
              <a:spcAft>
                <a:spcPts val="100"/>
              </a:spcAft>
              <a:buFont typeface="+mj-lt"/>
              <a:buAutoNum type="arabicPeriod"/>
              <a:defRPr/>
            </a:pPr>
            <a:r>
              <a:rPr lang="en-US" sz="900" dirty="0"/>
              <a:t>Gap analysis and action plan</a:t>
            </a:r>
          </a:p>
        </p:txBody>
      </p:sp>
      <p:sp>
        <p:nvSpPr>
          <p:cNvPr id="44" name="Rectangle 43">
            <a:extLst>
              <a:ext uri="{FF2B5EF4-FFF2-40B4-BE49-F238E27FC236}">
                <a16:creationId xmlns:a16="http://schemas.microsoft.com/office/drawing/2014/main" id="{E748AE36-4AC9-5B97-4172-C9E181D44771}"/>
              </a:ext>
            </a:extLst>
          </p:cNvPr>
          <p:cNvSpPr/>
          <p:nvPr/>
        </p:nvSpPr>
        <p:spPr>
          <a:xfrm>
            <a:off x="2918482" y="2974341"/>
            <a:ext cx="1979617" cy="1061829"/>
          </a:xfrm>
          <a:prstGeom prst="rect">
            <a:avLst/>
          </a:prstGeom>
          <a:effectLst/>
        </p:spPr>
        <p:txBody>
          <a:bodyPr wrap="square" lIns="0">
            <a:spAutoFit/>
          </a:bodyPr>
          <a:lstStyle/>
          <a:p>
            <a:pPr marL="179388" indent="-179388">
              <a:buFont typeface="+mj-lt"/>
              <a:buAutoNum type="arabicPeriod"/>
              <a:defRPr/>
            </a:pPr>
            <a:r>
              <a:rPr lang="en-US" sz="900" dirty="0">
                <a:solidFill>
                  <a:srgbClr val="002776"/>
                </a:solidFill>
              </a:rPr>
              <a:t>The importance of structure &amp; governance</a:t>
            </a:r>
          </a:p>
          <a:p>
            <a:pPr marL="179388" indent="-179388">
              <a:buFont typeface="+mj-lt"/>
              <a:buAutoNum type="arabicPeriod"/>
              <a:defRPr/>
            </a:pPr>
            <a:r>
              <a:rPr lang="en-US" sz="900" dirty="0">
                <a:solidFill>
                  <a:srgbClr val="002776"/>
                </a:solidFill>
              </a:rPr>
              <a:t>Structure</a:t>
            </a:r>
          </a:p>
          <a:p>
            <a:pPr marL="179388" indent="-179388">
              <a:buFont typeface="+mj-lt"/>
              <a:buAutoNum type="arabicPeriod"/>
              <a:defRPr/>
            </a:pPr>
            <a:r>
              <a:rPr lang="en-US" sz="900" dirty="0">
                <a:solidFill>
                  <a:srgbClr val="002776"/>
                </a:solidFill>
              </a:rPr>
              <a:t>Roles and responsibilities</a:t>
            </a:r>
          </a:p>
          <a:p>
            <a:pPr marL="179388" indent="-179388">
              <a:buFont typeface="+mj-lt"/>
              <a:buAutoNum type="arabicPeriod"/>
              <a:defRPr/>
            </a:pPr>
            <a:r>
              <a:rPr lang="en-US" sz="900" dirty="0">
                <a:solidFill>
                  <a:srgbClr val="002776"/>
                </a:solidFill>
              </a:rPr>
              <a:t>Governance</a:t>
            </a:r>
          </a:p>
          <a:p>
            <a:pPr marL="179388" indent="-179388">
              <a:buFont typeface="+mj-lt"/>
              <a:buAutoNum type="arabicPeriod"/>
              <a:defRPr/>
            </a:pPr>
            <a:r>
              <a:rPr lang="en-US" sz="900" dirty="0">
                <a:solidFill>
                  <a:srgbClr val="002776"/>
                </a:solidFill>
              </a:rPr>
              <a:t>Workforce size</a:t>
            </a:r>
          </a:p>
          <a:p>
            <a:pPr marL="179388" indent="-179388">
              <a:buFont typeface="+mj-lt"/>
              <a:buAutoNum type="arabicPeriod"/>
              <a:defRPr/>
            </a:pPr>
            <a:r>
              <a:rPr lang="en-US" sz="900" dirty="0">
                <a:solidFill>
                  <a:srgbClr val="002776"/>
                </a:solidFill>
              </a:rPr>
              <a:t>Location model</a:t>
            </a:r>
          </a:p>
        </p:txBody>
      </p:sp>
      <p:sp>
        <p:nvSpPr>
          <p:cNvPr id="45" name="Rectangle 44">
            <a:extLst>
              <a:ext uri="{FF2B5EF4-FFF2-40B4-BE49-F238E27FC236}">
                <a16:creationId xmlns:a16="http://schemas.microsoft.com/office/drawing/2014/main" id="{7E79E934-1044-B166-C483-066099F9178B}"/>
              </a:ext>
            </a:extLst>
          </p:cNvPr>
          <p:cNvSpPr/>
          <p:nvPr/>
        </p:nvSpPr>
        <p:spPr>
          <a:xfrm>
            <a:off x="5094761" y="2974341"/>
            <a:ext cx="1979617" cy="1200329"/>
          </a:xfrm>
          <a:prstGeom prst="rect">
            <a:avLst/>
          </a:prstGeom>
          <a:effectLst/>
        </p:spPr>
        <p:txBody>
          <a:bodyPr wrap="square" lIns="0">
            <a:spAutoFit/>
          </a:bodyPr>
          <a:lstStyle/>
          <a:p>
            <a:pPr marL="179388" indent="-179388">
              <a:buFont typeface="+mj-lt"/>
              <a:buAutoNum type="arabicPeriod"/>
              <a:defRPr/>
            </a:pPr>
            <a:r>
              <a:rPr lang="en-US" sz="900" dirty="0"/>
              <a:t>The importance of organizational culture</a:t>
            </a:r>
          </a:p>
          <a:p>
            <a:pPr marL="179388" indent="-179388">
              <a:buFont typeface="+mj-lt"/>
              <a:buAutoNum type="arabicPeriod"/>
              <a:defRPr/>
            </a:pPr>
            <a:r>
              <a:rPr lang="en-US" sz="900" dirty="0"/>
              <a:t>Current culture assessment</a:t>
            </a:r>
          </a:p>
          <a:p>
            <a:pPr marL="179388" indent="-179388">
              <a:buFont typeface="+mj-lt"/>
              <a:buAutoNum type="arabicPeriod"/>
              <a:defRPr/>
            </a:pPr>
            <a:r>
              <a:rPr lang="en-US" sz="900" dirty="0"/>
              <a:t>Culture design principles</a:t>
            </a:r>
          </a:p>
          <a:p>
            <a:pPr marL="179388" indent="-179388">
              <a:buFont typeface="+mj-lt"/>
              <a:buAutoNum type="arabicPeriod"/>
              <a:defRPr/>
            </a:pPr>
            <a:r>
              <a:rPr lang="en-US" sz="900" dirty="0"/>
              <a:t>Highest performing cultures</a:t>
            </a:r>
          </a:p>
          <a:p>
            <a:pPr marL="179388" indent="-179388">
              <a:buFont typeface="+mj-lt"/>
              <a:buAutoNum type="arabicPeriod"/>
              <a:defRPr/>
            </a:pPr>
            <a:r>
              <a:rPr lang="en-US" sz="900" dirty="0"/>
              <a:t>Desired culture</a:t>
            </a:r>
          </a:p>
          <a:p>
            <a:pPr marL="179388" indent="-179388">
              <a:buFont typeface="+mj-lt"/>
              <a:buAutoNum type="arabicPeriod"/>
              <a:defRPr/>
            </a:pPr>
            <a:r>
              <a:rPr lang="en-US" sz="900" dirty="0"/>
              <a:t>Action plan</a:t>
            </a:r>
          </a:p>
          <a:p>
            <a:pPr marL="179388" indent="-179388">
              <a:buFont typeface="+mj-lt"/>
              <a:buAutoNum type="arabicPeriod"/>
              <a:defRPr/>
            </a:pPr>
            <a:r>
              <a:rPr lang="en-US" sz="900" dirty="0"/>
              <a:t>Progress monitoring</a:t>
            </a:r>
          </a:p>
        </p:txBody>
      </p:sp>
      <p:sp>
        <p:nvSpPr>
          <p:cNvPr id="46" name="Rectangle 45">
            <a:extLst>
              <a:ext uri="{FF2B5EF4-FFF2-40B4-BE49-F238E27FC236}">
                <a16:creationId xmlns:a16="http://schemas.microsoft.com/office/drawing/2014/main" id="{B257B63A-7C7F-7B13-F335-B5C896862EEB}"/>
              </a:ext>
            </a:extLst>
          </p:cNvPr>
          <p:cNvSpPr/>
          <p:nvPr/>
        </p:nvSpPr>
        <p:spPr>
          <a:xfrm>
            <a:off x="7317569" y="2974341"/>
            <a:ext cx="1979617" cy="1200329"/>
          </a:xfrm>
          <a:prstGeom prst="rect">
            <a:avLst/>
          </a:prstGeom>
          <a:effectLst/>
        </p:spPr>
        <p:txBody>
          <a:bodyPr wrap="square" lIns="0">
            <a:spAutoFit/>
          </a:bodyPr>
          <a:lstStyle/>
          <a:p>
            <a:pPr marL="179388" indent="-179388">
              <a:buFont typeface="+mj-lt"/>
              <a:buAutoNum type="arabicPeriod"/>
              <a:defRPr/>
            </a:pPr>
            <a:r>
              <a:rPr lang="en-US" sz="900" dirty="0"/>
              <a:t>The importance of competency management</a:t>
            </a:r>
          </a:p>
          <a:p>
            <a:pPr marL="179388" indent="-179388">
              <a:buFont typeface="+mj-lt"/>
              <a:buAutoNum type="arabicPeriod"/>
              <a:defRPr/>
            </a:pPr>
            <a:r>
              <a:rPr lang="en-US" sz="900" dirty="0"/>
              <a:t>Competency framework</a:t>
            </a:r>
          </a:p>
          <a:p>
            <a:pPr marL="179388" indent="-179388">
              <a:buFont typeface="+mj-lt"/>
              <a:buAutoNum type="arabicPeriod"/>
              <a:defRPr/>
            </a:pPr>
            <a:r>
              <a:rPr lang="en-US" sz="900" dirty="0"/>
              <a:t>Competency map</a:t>
            </a:r>
          </a:p>
          <a:p>
            <a:pPr marL="179388" indent="-179388">
              <a:buFont typeface="+mj-lt"/>
              <a:buAutoNum type="arabicPeriod"/>
              <a:defRPr/>
            </a:pPr>
            <a:r>
              <a:rPr lang="en-US" sz="900" dirty="0"/>
              <a:t>Competency development</a:t>
            </a:r>
          </a:p>
          <a:p>
            <a:pPr marL="179388" indent="-179388">
              <a:buFont typeface="+mj-lt"/>
              <a:buAutoNum type="arabicPeriod"/>
              <a:defRPr/>
            </a:pPr>
            <a:r>
              <a:rPr lang="en-US" sz="900" dirty="0"/>
              <a:t>Career progression</a:t>
            </a:r>
          </a:p>
          <a:p>
            <a:pPr marL="179388" indent="-179388">
              <a:buFont typeface="+mj-lt"/>
              <a:buAutoNum type="arabicPeriod"/>
              <a:defRPr/>
            </a:pPr>
            <a:r>
              <a:rPr lang="en-US" sz="900" dirty="0"/>
              <a:t>Competency management evaluation</a:t>
            </a:r>
          </a:p>
        </p:txBody>
      </p:sp>
      <p:sp>
        <p:nvSpPr>
          <p:cNvPr id="47" name="Rectangle: Rounded Corners 46">
            <a:extLst>
              <a:ext uri="{FF2B5EF4-FFF2-40B4-BE49-F238E27FC236}">
                <a16:creationId xmlns:a16="http://schemas.microsoft.com/office/drawing/2014/main" id="{3A68C064-BACC-C803-2A54-466A125CA239}"/>
              </a:ext>
            </a:extLst>
          </p:cNvPr>
          <p:cNvSpPr/>
          <p:nvPr/>
        </p:nvSpPr>
        <p:spPr>
          <a:xfrm>
            <a:off x="654464" y="4195135"/>
            <a:ext cx="2088000" cy="39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050" b="1" dirty="0">
                <a:solidFill>
                  <a:schemeClr val="tx2"/>
                </a:solidFill>
              </a:rPr>
              <a:t>Talent Development</a:t>
            </a:r>
          </a:p>
        </p:txBody>
      </p:sp>
      <p:sp>
        <p:nvSpPr>
          <p:cNvPr id="48" name="Rectangle: Rounded Corners 47">
            <a:extLst>
              <a:ext uri="{FF2B5EF4-FFF2-40B4-BE49-F238E27FC236}">
                <a16:creationId xmlns:a16="http://schemas.microsoft.com/office/drawing/2014/main" id="{4CCAE805-DE63-D140-7434-F6552646907E}"/>
              </a:ext>
            </a:extLst>
          </p:cNvPr>
          <p:cNvSpPr/>
          <p:nvPr/>
        </p:nvSpPr>
        <p:spPr>
          <a:xfrm>
            <a:off x="2859181" y="4195135"/>
            <a:ext cx="2088000" cy="39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050" b="1" dirty="0">
                <a:solidFill>
                  <a:schemeClr val="tx2"/>
                </a:solidFill>
              </a:rPr>
              <a:t>Mentoring</a:t>
            </a:r>
          </a:p>
        </p:txBody>
      </p:sp>
      <p:sp>
        <p:nvSpPr>
          <p:cNvPr id="49" name="Rectangle: Rounded Corners 48">
            <a:extLst>
              <a:ext uri="{FF2B5EF4-FFF2-40B4-BE49-F238E27FC236}">
                <a16:creationId xmlns:a16="http://schemas.microsoft.com/office/drawing/2014/main" id="{EACD41FE-8AF0-B17D-241D-A3D52F629EF9}"/>
              </a:ext>
            </a:extLst>
          </p:cNvPr>
          <p:cNvSpPr/>
          <p:nvPr/>
        </p:nvSpPr>
        <p:spPr>
          <a:xfrm>
            <a:off x="5063898" y="4195135"/>
            <a:ext cx="2088000" cy="39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050" b="1" dirty="0">
                <a:solidFill>
                  <a:schemeClr val="tx2"/>
                </a:solidFill>
              </a:rPr>
              <a:t>Performance Management</a:t>
            </a:r>
          </a:p>
        </p:txBody>
      </p:sp>
      <p:sp>
        <p:nvSpPr>
          <p:cNvPr id="50" name="Rectangle: Rounded Corners 49">
            <a:extLst>
              <a:ext uri="{FF2B5EF4-FFF2-40B4-BE49-F238E27FC236}">
                <a16:creationId xmlns:a16="http://schemas.microsoft.com/office/drawing/2014/main" id="{A5430C03-8B21-C3EB-EA2E-FABD7BA3E9D9}"/>
              </a:ext>
            </a:extLst>
          </p:cNvPr>
          <p:cNvSpPr/>
          <p:nvPr/>
        </p:nvSpPr>
        <p:spPr>
          <a:xfrm>
            <a:off x="7268615" y="4195135"/>
            <a:ext cx="2088000" cy="39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050" b="1" dirty="0">
                <a:solidFill>
                  <a:schemeClr val="tx2"/>
                </a:solidFill>
              </a:rPr>
              <a:t>Reward and Recognition</a:t>
            </a:r>
          </a:p>
        </p:txBody>
      </p:sp>
      <p:sp>
        <p:nvSpPr>
          <p:cNvPr id="51" name="Rectangle: Rounded Corners 50">
            <a:extLst>
              <a:ext uri="{FF2B5EF4-FFF2-40B4-BE49-F238E27FC236}">
                <a16:creationId xmlns:a16="http://schemas.microsoft.com/office/drawing/2014/main" id="{3B1D8347-9D5E-1A7A-8326-F26545A02DDA}"/>
              </a:ext>
            </a:extLst>
          </p:cNvPr>
          <p:cNvSpPr/>
          <p:nvPr/>
        </p:nvSpPr>
        <p:spPr>
          <a:xfrm>
            <a:off x="9473334" y="4195135"/>
            <a:ext cx="2088000" cy="396000"/>
          </a:xfrm>
          <a:prstGeom prst="roundRect">
            <a:avLst/>
          </a:prstGeom>
          <a:solidFill>
            <a:schemeClr val="accent5">
              <a:lumMod val="20000"/>
              <a:lumOff val="80000"/>
            </a:schemeClr>
          </a:solidFill>
          <a:ln w="9525" algn="ctr">
            <a:solidFill>
              <a:schemeClr val="accent1"/>
            </a:solidFill>
            <a:prstDash val="dash"/>
            <a:miter lim="800000"/>
            <a:headEnd/>
            <a:tailEnd/>
          </a:ln>
          <a:effectLst/>
        </p:spPr>
        <p:txBody>
          <a:bodyPr wrap="square" tIns="126000" bIns="91440" anchor="ctr">
            <a:noAutofit/>
          </a:bodyPr>
          <a:lstStyle/>
          <a:p>
            <a:pPr marL="446088"/>
            <a:r>
              <a:rPr lang="en-US" sz="1050" b="1" dirty="0">
                <a:solidFill>
                  <a:schemeClr val="tx2"/>
                </a:solidFill>
              </a:rPr>
              <a:t>Reassignment &amp; Termination</a:t>
            </a:r>
          </a:p>
        </p:txBody>
      </p:sp>
      <p:pic>
        <p:nvPicPr>
          <p:cNvPr id="52" name="Graphic 51" descr="Group with solid fill">
            <a:extLst>
              <a:ext uri="{FF2B5EF4-FFF2-40B4-BE49-F238E27FC236}">
                <a16:creationId xmlns:a16="http://schemas.microsoft.com/office/drawing/2014/main" id="{76BA5FC6-4EAD-4E3D-E13F-54F62A2E3A3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525049" y="2526121"/>
            <a:ext cx="478951" cy="478951"/>
          </a:xfrm>
          <a:prstGeom prst="rect">
            <a:avLst/>
          </a:prstGeom>
        </p:spPr>
      </p:pic>
      <p:sp>
        <p:nvSpPr>
          <p:cNvPr id="53" name="Rectangle 52">
            <a:extLst>
              <a:ext uri="{FF2B5EF4-FFF2-40B4-BE49-F238E27FC236}">
                <a16:creationId xmlns:a16="http://schemas.microsoft.com/office/drawing/2014/main" id="{11DA32BE-F319-2ACD-4BF6-1C98EA813901}"/>
              </a:ext>
            </a:extLst>
          </p:cNvPr>
          <p:cNvSpPr/>
          <p:nvPr/>
        </p:nvSpPr>
        <p:spPr>
          <a:xfrm>
            <a:off x="703583" y="4600758"/>
            <a:ext cx="2088000" cy="1215717"/>
          </a:xfrm>
          <a:prstGeom prst="rect">
            <a:avLst/>
          </a:prstGeom>
          <a:effectLst/>
        </p:spPr>
        <p:txBody>
          <a:bodyPr wrap="square" lIns="0">
            <a:spAutoFit/>
          </a:bodyPr>
          <a:lstStyle/>
          <a:p>
            <a:pPr marL="179388" indent="-179388">
              <a:spcBef>
                <a:spcPts val="100"/>
              </a:spcBef>
              <a:spcAft>
                <a:spcPts val="100"/>
              </a:spcAft>
              <a:buFont typeface="+mj-lt"/>
              <a:buAutoNum type="arabicPeriod"/>
              <a:defRPr/>
            </a:pPr>
            <a:r>
              <a:rPr lang="en-US" sz="900" dirty="0"/>
              <a:t>Talent assessment </a:t>
            </a:r>
          </a:p>
          <a:p>
            <a:pPr marL="179388" indent="-179388">
              <a:spcBef>
                <a:spcPts val="100"/>
              </a:spcBef>
              <a:spcAft>
                <a:spcPts val="100"/>
              </a:spcAft>
              <a:buFont typeface="+mj-lt"/>
              <a:buAutoNum type="arabicPeriod"/>
              <a:defRPr/>
            </a:pPr>
            <a:r>
              <a:rPr lang="en-US" sz="900" dirty="0"/>
              <a:t>Required competencies</a:t>
            </a:r>
          </a:p>
          <a:p>
            <a:pPr marL="179388" indent="-179388">
              <a:spcBef>
                <a:spcPts val="100"/>
              </a:spcBef>
              <a:spcAft>
                <a:spcPts val="100"/>
              </a:spcAft>
              <a:buFont typeface="+mj-lt"/>
              <a:buAutoNum type="arabicPeriod"/>
              <a:defRPr/>
            </a:pPr>
            <a:r>
              <a:rPr lang="en-US" sz="900" dirty="0"/>
              <a:t>Individual development plans</a:t>
            </a:r>
          </a:p>
          <a:p>
            <a:pPr marL="179388" indent="-179388">
              <a:spcBef>
                <a:spcPts val="100"/>
              </a:spcBef>
              <a:spcAft>
                <a:spcPts val="100"/>
              </a:spcAft>
              <a:buFont typeface="+mj-lt"/>
              <a:buAutoNum type="arabicPeriod"/>
              <a:defRPr/>
            </a:pPr>
            <a:r>
              <a:rPr lang="en-US" sz="900" dirty="0"/>
              <a:t>Effective training programs</a:t>
            </a:r>
          </a:p>
          <a:p>
            <a:pPr marL="179388" indent="-179388">
              <a:spcBef>
                <a:spcPts val="100"/>
              </a:spcBef>
              <a:spcAft>
                <a:spcPts val="100"/>
              </a:spcAft>
              <a:buFont typeface="+mj-lt"/>
              <a:buAutoNum type="arabicPeriod"/>
              <a:defRPr/>
            </a:pPr>
            <a:r>
              <a:rPr lang="en-US" sz="900" dirty="0"/>
              <a:t>Talent mobility and career pathing</a:t>
            </a:r>
          </a:p>
          <a:p>
            <a:pPr marL="179388" indent="-179388">
              <a:spcBef>
                <a:spcPts val="100"/>
              </a:spcBef>
              <a:spcAft>
                <a:spcPts val="100"/>
              </a:spcAft>
              <a:buFont typeface="+mj-lt"/>
              <a:buAutoNum type="arabicPeriod"/>
              <a:defRPr/>
            </a:pPr>
            <a:r>
              <a:rPr lang="en-US" sz="900" dirty="0"/>
              <a:t>Employee retention strategies</a:t>
            </a:r>
          </a:p>
          <a:p>
            <a:pPr marL="179388" indent="-179388">
              <a:spcBef>
                <a:spcPts val="100"/>
              </a:spcBef>
              <a:spcAft>
                <a:spcPts val="100"/>
              </a:spcAft>
              <a:buFont typeface="+mj-lt"/>
              <a:buAutoNum type="arabicPeriod"/>
              <a:defRPr/>
            </a:pPr>
            <a:r>
              <a:rPr lang="en-US" sz="900" dirty="0"/>
              <a:t>Succession plan</a:t>
            </a:r>
          </a:p>
        </p:txBody>
      </p:sp>
      <p:pic>
        <p:nvPicPr>
          <p:cNvPr id="54" name="Graphic 53" descr="Boardroom with solid fill">
            <a:extLst>
              <a:ext uri="{FF2B5EF4-FFF2-40B4-BE49-F238E27FC236}">
                <a16:creationId xmlns:a16="http://schemas.microsoft.com/office/drawing/2014/main" id="{EECAF624-D648-B157-67C6-18CE8825AED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945486" y="4212231"/>
            <a:ext cx="368026" cy="368026"/>
          </a:xfrm>
          <a:prstGeom prst="rect">
            <a:avLst/>
          </a:prstGeom>
        </p:spPr>
      </p:pic>
      <p:pic>
        <p:nvPicPr>
          <p:cNvPr id="55" name="Graphic 54" descr="Exit with solid fill">
            <a:extLst>
              <a:ext uri="{FF2B5EF4-FFF2-40B4-BE49-F238E27FC236}">
                <a16:creationId xmlns:a16="http://schemas.microsoft.com/office/drawing/2014/main" id="{4B1359CF-7596-FBC5-3D30-127480F678FD}"/>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618212" y="4222951"/>
            <a:ext cx="328638" cy="328638"/>
          </a:xfrm>
          <a:prstGeom prst="rect">
            <a:avLst/>
          </a:prstGeom>
        </p:spPr>
      </p:pic>
      <p:pic>
        <p:nvPicPr>
          <p:cNvPr id="56" name="Graphic 55" descr="Medal with solid fill">
            <a:extLst>
              <a:ext uri="{FF2B5EF4-FFF2-40B4-BE49-F238E27FC236}">
                <a16:creationId xmlns:a16="http://schemas.microsoft.com/office/drawing/2014/main" id="{14629401-F255-CAE3-5CF8-34F8D7CA8839}"/>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394817" y="4231561"/>
            <a:ext cx="347493" cy="347493"/>
          </a:xfrm>
          <a:prstGeom prst="rect">
            <a:avLst/>
          </a:prstGeom>
        </p:spPr>
      </p:pic>
      <p:pic>
        <p:nvPicPr>
          <p:cNvPr id="57" name="Graphic 56" descr="Rating Star with solid fill">
            <a:extLst>
              <a:ext uri="{FF2B5EF4-FFF2-40B4-BE49-F238E27FC236}">
                <a16:creationId xmlns:a16="http://schemas.microsoft.com/office/drawing/2014/main" id="{AC1D5C63-19A0-C575-68D0-0621A9FA140A}"/>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099118" y="4220131"/>
            <a:ext cx="350538" cy="350538"/>
          </a:xfrm>
          <a:prstGeom prst="rect">
            <a:avLst/>
          </a:prstGeom>
        </p:spPr>
      </p:pic>
      <p:pic>
        <p:nvPicPr>
          <p:cNvPr id="58" name="Graphic 57" descr="Business Growth">
            <a:extLst>
              <a:ext uri="{FF2B5EF4-FFF2-40B4-BE49-F238E27FC236}">
                <a16:creationId xmlns:a16="http://schemas.microsoft.com/office/drawing/2014/main" id="{CE93CEAA-AEA1-1C9D-041C-4E031B7D8B0D}"/>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737651" y="4186146"/>
            <a:ext cx="428688" cy="428687"/>
          </a:xfrm>
          <a:prstGeom prst="rect">
            <a:avLst/>
          </a:prstGeom>
        </p:spPr>
      </p:pic>
      <p:sp>
        <p:nvSpPr>
          <p:cNvPr id="59" name="Rectangle 58">
            <a:extLst>
              <a:ext uri="{FF2B5EF4-FFF2-40B4-BE49-F238E27FC236}">
                <a16:creationId xmlns:a16="http://schemas.microsoft.com/office/drawing/2014/main" id="{DFDA3CF9-F424-43D4-71F6-5062D73971C1}"/>
              </a:ext>
            </a:extLst>
          </p:cNvPr>
          <p:cNvSpPr/>
          <p:nvPr/>
        </p:nvSpPr>
        <p:spPr>
          <a:xfrm>
            <a:off x="9516709" y="2974341"/>
            <a:ext cx="2121184" cy="1200329"/>
          </a:xfrm>
          <a:prstGeom prst="rect">
            <a:avLst/>
          </a:prstGeom>
          <a:effectLst/>
        </p:spPr>
        <p:txBody>
          <a:bodyPr wrap="square" lIns="0">
            <a:spAutoFit/>
          </a:bodyPr>
          <a:lstStyle/>
          <a:p>
            <a:pPr marL="179388" indent="-179388">
              <a:buFont typeface="+mj-lt"/>
              <a:buAutoNum type="arabicPeriod"/>
              <a:defRPr/>
            </a:pPr>
            <a:r>
              <a:rPr lang="en-US" sz="900" dirty="0"/>
              <a:t>Employer branding strategy</a:t>
            </a:r>
          </a:p>
          <a:p>
            <a:pPr marL="179388" indent="-179388">
              <a:buFont typeface="+mj-lt"/>
              <a:buAutoNum type="arabicPeriod"/>
              <a:defRPr/>
            </a:pPr>
            <a:r>
              <a:rPr lang="en-US" sz="900" dirty="0"/>
              <a:t>Recruitment process &amp; strategy</a:t>
            </a:r>
          </a:p>
          <a:p>
            <a:pPr marL="179388" indent="-179388">
              <a:buFont typeface="+mj-lt"/>
              <a:buAutoNum type="arabicPeriod"/>
              <a:defRPr/>
            </a:pPr>
            <a:r>
              <a:rPr lang="en-US" sz="900" dirty="0"/>
              <a:t>AI and automation</a:t>
            </a:r>
          </a:p>
          <a:p>
            <a:pPr marL="179388" indent="-179388">
              <a:buFont typeface="+mj-lt"/>
              <a:buAutoNum type="arabicPeriod"/>
              <a:defRPr/>
            </a:pPr>
            <a:r>
              <a:rPr lang="en-US" sz="900" dirty="0"/>
              <a:t>Inclusive hiring practices</a:t>
            </a:r>
          </a:p>
          <a:p>
            <a:pPr marL="179388" indent="-179388">
              <a:buFont typeface="+mj-lt"/>
              <a:buAutoNum type="arabicPeriod"/>
              <a:defRPr/>
            </a:pPr>
            <a:r>
              <a:rPr lang="en-US" sz="900" dirty="0"/>
              <a:t>Hiring for culture fit</a:t>
            </a:r>
          </a:p>
          <a:p>
            <a:pPr marL="179388" indent="-179388">
              <a:buFont typeface="+mj-lt"/>
              <a:buAutoNum type="arabicPeriod"/>
              <a:defRPr/>
            </a:pPr>
            <a:r>
              <a:rPr lang="en-US" sz="900" dirty="0"/>
              <a:t>Recruitment KPIs</a:t>
            </a:r>
          </a:p>
          <a:p>
            <a:pPr marL="179388" indent="-179388">
              <a:buFont typeface="+mj-lt"/>
              <a:buAutoNum type="arabicPeriod"/>
              <a:defRPr/>
            </a:pPr>
            <a:r>
              <a:rPr lang="en-US" sz="900" dirty="0"/>
              <a:t>Recruitment outsourcing</a:t>
            </a:r>
          </a:p>
          <a:p>
            <a:pPr marL="179388" indent="-179388">
              <a:buFont typeface="+mj-lt"/>
              <a:buAutoNum type="arabicPeriod"/>
              <a:defRPr/>
            </a:pPr>
            <a:r>
              <a:rPr lang="en-US" sz="900" dirty="0"/>
              <a:t>Candidate experience &amp; onboarding</a:t>
            </a:r>
          </a:p>
        </p:txBody>
      </p:sp>
      <p:sp>
        <p:nvSpPr>
          <p:cNvPr id="60" name="Rectangle 59">
            <a:extLst>
              <a:ext uri="{FF2B5EF4-FFF2-40B4-BE49-F238E27FC236}">
                <a16:creationId xmlns:a16="http://schemas.microsoft.com/office/drawing/2014/main" id="{5864481F-99A1-60B1-AC29-2D7D9E2B6CE6}"/>
              </a:ext>
            </a:extLst>
          </p:cNvPr>
          <p:cNvSpPr/>
          <p:nvPr/>
        </p:nvSpPr>
        <p:spPr>
          <a:xfrm>
            <a:off x="2901208" y="4600758"/>
            <a:ext cx="2088000" cy="1061829"/>
          </a:xfrm>
          <a:prstGeom prst="rect">
            <a:avLst/>
          </a:prstGeom>
          <a:effectLst/>
        </p:spPr>
        <p:txBody>
          <a:bodyPr wrap="square" lIns="0">
            <a:spAutoFit/>
          </a:bodyPr>
          <a:lstStyle/>
          <a:p>
            <a:pPr marL="179388" indent="-179388">
              <a:buFont typeface="+mj-lt"/>
              <a:buAutoNum type="arabicPeriod"/>
              <a:defRPr/>
            </a:pPr>
            <a:r>
              <a:rPr lang="en-US" sz="900" dirty="0"/>
              <a:t>Setting up a mentoring program</a:t>
            </a:r>
          </a:p>
          <a:p>
            <a:pPr marL="179388" indent="-179388">
              <a:buFont typeface="+mj-lt"/>
              <a:buAutoNum type="arabicPeriod"/>
              <a:defRPr/>
            </a:pPr>
            <a:r>
              <a:rPr lang="en-US" sz="900" dirty="0"/>
              <a:t>Mentor-mentee matching</a:t>
            </a:r>
          </a:p>
          <a:p>
            <a:pPr marL="179388" indent="-179388">
              <a:buFont typeface="+mj-lt"/>
              <a:buAutoNum type="arabicPeriod"/>
              <a:defRPr/>
            </a:pPr>
            <a:r>
              <a:rPr lang="en-US" sz="900" dirty="0"/>
              <a:t>Mentoring culture</a:t>
            </a:r>
          </a:p>
          <a:p>
            <a:pPr marL="179388" indent="-179388">
              <a:buFont typeface="+mj-lt"/>
              <a:buAutoNum type="arabicPeriod"/>
              <a:defRPr/>
            </a:pPr>
            <a:r>
              <a:rPr lang="en-US" sz="900" dirty="0"/>
              <a:t>Reverse mentoring </a:t>
            </a:r>
          </a:p>
          <a:p>
            <a:pPr marL="179388" indent="-179388">
              <a:buFont typeface="+mj-lt"/>
              <a:buAutoNum type="arabicPeriod"/>
              <a:defRPr/>
            </a:pPr>
            <a:r>
              <a:rPr lang="en-US" sz="900" dirty="0"/>
              <a:t>Impact of mentoring programs</a:t>
            </a:r>
          </a:p>
          <a:p>
            <a:pPr marL="179388" indent="-179388">
              <a:buFont typeface="+mj-lt"/>
              <a:buAutoNum type="arabicPeriod"/>
              <a:defRPr/>
            </a:pPr>
            <a:r>
              <a:rPr lang="en-US" sz="900" dirty="0"/>
              <a:t>Current trends and innovations in mentoring</a:t>
            </a:r>
          </a:p>
        </p:txBody>
      </p:sp>
      <p:sp>
        <p:nvSpPr>
          <p:cNvPr id="61" name="Rectangle 60">
            <a:extLst>
              <a:ext uri="{FF2B5EF4-FFF2-40B4-BE49-F238E27FC236}">
                <a16:creationId xmlns:a16="http://schemas.microsoft.com/office/drawing/2014/main" id="{EF747008-17D3-DABB-3591-12DC56732A18}"/>
              </a:ext>
            </a:extLst>
          </p:cNvPr>
          <p:cNvSpPr/>
          <p:nvPr/>
        </p:nvSpPr>
        <p:spPr>
          <a:xfrm>
            <a:off x="5094761" y="4600758"/>
            <a:ext cx="2088000" cy="1200329"/>
          </a:xfrm>
          <a:prstGeom prst="rect">
            <a:avLst/>
          </a:prstGeom>
          <a:effectLst/>
        </p:spPr>
        <p:txBody>
          <a:bodyPr wrap="square" lIns="0">
            <a:spAutoFit/>
          </a:bodyPr>
          <a:lstStyle/>
          <a:p>
            <a:pPr marL="179388" indent="-179388">
              <a:buFont typeface="+mj-lt"/>
              <a:buAutoNum type="arabicPeriod"/>
              <a:defRPr/>
            </a:pPr>
            <a:r>
              <a:rPr lang="en-US" sz="900" dirty="0"/>
              <a:t>Top 8 models and approaches</a:t>
            </a:r>
          </a:p>
          <a:p>
            <a:pPr marL="179388" indent="-179388">
              <a:buFont typeface="+mj-lt"/>
              <a:buAutoNum type="arabicPeriod"/>
              <a:defRPr/>
            </a:pPr>
            <a:r>
              <a:rPr lang="en-US" sz="900" dirty="0"/>
              <a:t>Implementing OKR framework</a:t>
            </a:r>
          </a:p>
          <a:p>
            <a:pPr marL="179388" indent="-179388">
              <a:buFont typeface="+mj-lt"/>
              <a:buAutoNum type="arabicPeriod"/>
              <a:defRPr/>
            </a:pPr>
            <a:r>
              <a:rPr lang="en-US" sz="900" dirty="0"/>
              <a:t>Feedback and performance conversations</a:t>
            </a:r>
          </a:p>
          <a:p>
            <a:pPr marL="179388" indent="-179388">
              <a:buFont typeface="+mj-lt"/>
              <a:buAutoNum type="arabicPeriod"/>
              <a:defRPr/>
            </a:pPr>
            <a:r>
              <a:rPr lang="en-US" sz="900" dirty="0"/>
              <a:t>Leveraging technology in performance management</a:t>
            </a:r>
          </a:p>
          <a:p>
            <a:pPr marL="179388" indent="-179388">
              <a:buFont typeface="+mj-lt"/>
              <a:buAutoNum type="arabicPeriod"/>
              <a:defRPr/>
            </a:pPr>
            <a:r>
              <a:rPr lang="en-US" sz="900" dirty="0"/>
              <a:t>Measuring the success of performance management plans</a:t>
            </a:r>
          </a:p>
        </p:txBody>
      </p:sp>
      <p:sp>
        <p:nvSpPr>
          <p:cNvPr id="64" name="Rectangle 63">
            <a:extLst>
              <a:ext uri="{FF2B5EF4-FFF2-40B4-BE49-F238E27FC236}">
                <a16:creationId xmlns:a16="http://schemas.microsoft.com/office/drawing/2014/main" id="{3CF6B053-10B9-C789-A008-4D51F0B059C6}"/>
              </a:ext>
            </a:extLst>
          </p:cNvPr>
          <p:cNvSpPr/>
          <p:nvPr/>
        </p:nvSpPr>
        <p:spPr>
          <a:xfrm>
            <a:off x="7310125" y="4600758"/>
            <a:ext cx="2088000" cy="1200329"/>
          </a:xfrm>
          <a:prstGeom prst="rect">
            <a:avLst/>
          </a:prstGeom>
          <a:effectLst/>
        </p:spPr>
        <p:txBody>
          <a:bodyPr wrap="square" lIns="0">
            <a:spAutoFit/>
          </a:bodyPr>
          <a:lstStyle/>
          <a:p>
            <a:pPr marL="179388" indent="-179388">
              <a:buFont typeface="+mj-lt"/>
              <a:buAutoNum type="arabicPeriod"/>
              <a:defRPr/>
            </a:pPr>
            <a:r>
              <a:rPr lang="en-US" sz="900" dirty="0"/>
              <a:t>Setting up a reward and recognition program</a:t>
            </a:r>
          </a:p>
          <a:p>
            <a:pPr marL="179388" indent="-179388">
              <a:buFont typeface="+mj-lt"/>
              <a:buAutoNum type="arabicPeriod"/>
              <a:defRPr/>
            </a:pPr>
            <a:r>
              <a:rPr lang="en-US" sz="900" dirty="0"/>
              <a:t>Transparency and equity in reward systems</a:t>
            </a:r>
          </a:p>
          <a:p>
            <a:pPr marL="179388" indent="-179388">
              <a:buFont typeface="+mj-lt"/>
              <a:buAutoNum type="arabicPeriod"/>
              <a:defRPr/>
            </a:pPr>
            <a:r>
              <a:rPr lang="en-US" sz="900" dirty="0"/>
              <a:t>Leveraging technology for reward management</a:t>
            </a:r>
          </a:p>
          <a:p>
            <a:pPr marL="179388" indent="-179388">
              <a:buFont typeface="+mj-lt"/>
              <a:buAutoNum type="arabicPeriod"/>
              <a:defRPr/>
            </a:pPr>
            <a:r>
              <a:rPr lang="en-US" sz="900" dirty="0"/>
              <a:t>Evaluating the impact of reward and recognition programs</a:t>
            </a:r>
          </a:p>
        </p:txBody>
      </p:sp>
      <p:sp>
        <p:nvSpPr>
          <p:cNvPr id="69" name="Rectangle 68">
            <a:extLst>
              <a:ext uri="{FF2B5EF4-FFF2-40B4-BE49-F238E27FC236}">
                <a16:creationId xmlns:a16="http://schemas.microsoft.com/office/drawing/2014/main" id="{1D1AF2DC-380A-F8EC-ACD3-10FF19FE93AA}"/>
              </a:ext>
            </a:extLst>
          </p:cNvPr>
          <p:cNvSpPr/>
          <p:nvPr/>
        </p:nvSpPr>
        <p:spPr>
          <a:xfrm>
            <a:off x="9518365" y="4600758"/>
            <a:ext cx="2088000" cy="923330"/>
          </a:xfrm>
          <a:prstGeom prst="rect">
            <a:avLst/>
          </a:prstGeom>
          <a:effectLst/>
        </p:spPr>
        <p:txBody>
          <a:bodyPr wrap="square" lIns="0">
            <a:spAutoFit/>
          </a:bodyPr>
          <a:lstStyle/>
          <a:p>
            <a:pPr marL="179388" indent="-179388">
              <a:buFont typeface="+mj-lt"/>
              <a:buAutoNum type="arabicPeriod"/>
              <a:defRPr/>
            </a:pPr>
            <a:r>
              <a:rPr lang="en-US" sz="900" dirty="0"/>
              <a:t>Strategies for employee reassignment</a:t>
            </a:r>
          </a:p>
          <a:p>
            <a:pPr marL="179388" indent="-179388">
              <a:buFont typeface="+mj-lt"/>
              <a:buAutoNum type="arabicPeriod"/>
              <a:defRPr/>
            </a:pPr>
            <a:r>
              <a:rPr lang="en-US" sz="900" dirty="0"/>
              <a:t>Termination processes and protocols </a:t>
            </a:r>
          </a:p>
          <a:p>
            <a:pPr marL="179388" indent="-179388">
              <a:buFont typeface="+mj-lt"/>
              <a:buAutoNum type="arabicPeriod"/>
              <a:defRPr/>
            </a:pPr>
            <a:r>
              <a:rPr lang="en-US" sz="900" dirty="0"/>
              <a:t>Managing downsizing and layoffs</a:t>
            </a:r>
          </a:p>
          <a:p>
            <a:pPr marL="179388" indent="-179388">
              <a:buFont typeface="+mj-lt"/>
              <a:buAutoNum type="arabicPeriod"/>
              <a:defRPr/>
            </a:pPr>
            <a:r>
              <a:rPr lang="en-US" sz="900" dirty="0"/>
              <a:t>Legal and ethical considerations</a:t>
            </a:r>
          </a:p>
        </p:txBody>
      </p:sp>
      <p:sp>
        <p:nvSpPr>
          <p:cNvPr id="6" name="Rectangle: Rounded Corners 5">
            <a:extLst>
              <a:ext uri="{FF2B5EF4-FFF2-40B4-BE49-F238E27FC236}">
                <a16:creationId xmlns:a16="http://schemas.microsoft.com/office/drawing/2014/main" id="{F3C05129-652A-0F4D-BC65-334FD5FC1866}"/>
              </a:ext>
            </a:extLst>
          </p:cNvPr>
          <p:cNvSpPr/>
          <p:nvPr/>
        </p:nvSpPr>
        <p:spPr>
          <a:xfrm>
            <a:off x="2031469" y="1560392"/>
            <a:ext cx="1296000" cy="576000"/>
          </a:xfrm>
          <a:prstGeom prst="roundRect">
            <a:avLst>
              <a:gd name="adj" fmla="val 768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00" b="1" dirty="0">
                <a:solidFill>
                  <a:schemeClr val="tx1"/>
                </a:solidFill>
              </a:rPr>
              <a:t>HR Analysis</a:t>
            </a:r>
          </a:p>
        </p:txBody>
      </p:sp>
      <p:sp>
        <p:nvSpPr>
          <p:cNvPr id="2" name="Footer Placeholder 1">
            <a:extLst>
              <a:ext uri="{FF2B5EF4-FFF2-40B4-BE49-F238E27FC236}">
                <a16:creationId xmlns:a16="http://schemas.microsoft.com/office/drawing/2014/main" id="{23ACC2BD-F3BC-578F-62C5-969868818A0B}"/>
              </a:ext>
            </a:extLst>
          </p:cNvPr>
          <p:cNvSpPr>
            <a:spLocks noGrp="1"/>
          </p:cNvSpPr>
          <p:nvPr>
            <p:ph type="ftr" sz="quarter" idx="3"/>
          </p:nvPr>
        </p:nvSpPr>
        <p:spPr/>
        <p:txBody>
          <a:bodyPr/>
          <a:lstStyle/>
          <a:p>
            <a:r>
              <a:rPr lang="en-US" dirty="0"/>
              <a:t>Domont Consulting</a:t>
            </a:r>
          </a:p>
        </p:txBody>
      </p:sp>
      <p:sp>
        <p:nvSpPr>
          <p:cNvPr id="11" name="Slide Number Placeholder 10">
            <a:extLst>
              <a:ext uri="{FF2B5EF4-FFF2-40B4-BE49-F238E27FC236}">
                <a16:creationId xmlns:a16="http://schemas.microsoft.com/office/drawing/2014/main" id="{6C31D521-2509-B7DC-A897-19F6082EFAB5}"/>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2387808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7646652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1 ‘HR and Talent Management Strategy’ </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76" name="Rectangle: Rounded Corners 75">
            <a:extLst>
              <a:ext uri="{FF2B5EF4-FFF2-40B4-BE49-F238E27FC236}">
                <a16:creationId xmlns:a16="http://schemas.microsoft.com/office/drawing/2014/main" id="{CFBE3C49-B4E1-51BB-C14B-91B7BE9BE64B}"/>
              </a:ext>
            </a:extLst>
          </p:cNvPr>
          <p:cNvSpPr/>
          <p:nvPr/>
        </p:nvSpPr>
        <p:spPr>
          <a:xfrm>
            <a:off x="9967224"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75DD022F-3BD3-9106-39C7-A6D7E8EDAD4B}"/>
              </a:ext>
            </a:extLst>
          </p:cNvPr>
          <p:cNvSpPr/>
          <p:nvPr/>
        </p:nvSpPr>
        <p:spPr>
          <a:xfrm>
            <a:off x="9967224"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FD7EE931-6AD5-D45D-476B-2726384F99CA}"/>
              </a:ext>
            </a:extLst>
          </p:cNvPr>
          <p:cNvSpPr/>
          <p:nvPr/>
        </p:nvSpPr>
        <p:spPr>
          <a:xfrm>
            <a:off x="9649778" y="294574"/>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Rectangle: Rounded Corners 4">
            <a:extLst>
              <a:ext uri="{FF2B5EF4-FFF2-40B4-BE49-F238E27FC236}">
                <a16:creationId xmlns:a16="http://schemas.microsoft.com/office/drawing/2014/main" id="{F0D767BE-7F08-C9F6-8590-E385E4590C68}"/>
              </a:ext>
            </a:extLst>
          </p:cNvPr>
          <p:cNvSpPr/>
          <p:nvPr/>
        </p:nvSpPr>
        <p:spPr>
          <a:xfrm>
            <a:off x="10276901"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 name="Rectangle: Rounded Corners 6">
            <a:extLst>
              <a:ext uri="{FF2B5EF4-FFF2-40B4-BE49-F238E27FC236}">
                <a16:creationId xmlns:a16="http://schemas.microsoft.com/office/drawing/2014/main" id="{F2F23D4D-9E57-627E-F77F-A73F8B19ECD1}"/>
              </a:ext>
            </a:extLst>
          </p:cNvPr>
          <p:cNvSpPr/>
          <p:nvPr/>
        </p:nvSpPr>
        <p:spPr>
          <a:xfrm>
            <a:off x="10276901"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034B92C9-9A98-AF8C-FF06-BF7E269798E7}"/>
              </a:ext>
            </a:extLst>
          </p:cNvPr>
          <p:cNvSpPr/>
          <p:nvPr/>
        </p:nvSpPr>
        <p:spPr>
          <a:xfrm>
            <a:off x="10586578"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Rectangle: Rounded Corners 8">
            <a:extLst>
              <a:ext uri="{FF2B5EF4-FFF2-40B4-BE49-F238E27FC236}">
                <a16:creationId xmlns:a16="http://schemas.microsoft.com/office/drawing/2014/main" id="{19D9F4FA-6444-6050-018E-6391A5206C5B}"/>
              </a:ext>
            </a:extLst>
          </p:cNvPr>
          <p:cNvSpPr/>
          <p:nvPr/>
        </p:nvSpPr>
        <p:spPr>
          <a:xfrm>
            <a:off x="10586578"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0" name="Rectangle: Rounded Corners 9">
            <a:extLst>
              <a:ext uri="{FF2B5EF4-FFF2-40B4-BE49-F238E27FC236}">
                <a16:creationId xmlns:a16="http://schemas.microsoft.com/office/drawing/2014/main" id="{2C07BD53-558F-FA96-3DBF-9D56F5DE43B9}"/>
              </a:ext>
            </a:extLst>
          </p:cNvPr>
          <p:cNvSpPr/>
          <p:nvPr/>
        </p:nvSpPr>
        <p:spPr>
          <a:xfrm>
            <a:off x="10896255"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1" name="Rectangle: Rounded Corners 10">
            <a:extLst>
              <a:ext uri="{FF2B5EF4-FFF2-40B4-BE49-F238E27FC236}">
                <a16:creationId xmlns:a16="http://schemas.microsoft.com/office/drawing/2014/main" id="{79FD4E9C-0147-694F-5641-BEC8CB63EC58}"/>
              </a:ext>
            </a:extLst>
          </p:cNvPr>
          <p:cNvSpPr/>
          <p:nvPr/>
        </p:nvSpPr>
        <p:spPr>
          <a:xfrm>
            <a:off x="10896255"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2" name="Rectangle: Rounded Corners 11">
            <a:extLst>
              <a:ext uri="{FF2B5EF4-FFF2-40B4-BE49-F238E27FC236}">
                <a16:creationId xmlns:a16="http://schemas.microsoft.com/office/drawing/2014/main" id="{F8D76013-B491-5F53-E608-1F341CFC390F}"/>
              </a:ext>
            </a:extLst>
          </p:cNvPr>
          <p:cNvSpPr/>
          <p:nvPr/>
        </p:nvSpPr>
        <p:spPr>
          <a:xfrm>
            <a:off x="11205932"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9" name="Rectangle: Rounded Corners 18">
            <a:extLst>
              <a:ext uri="{FF2B5EF4-FFF2-40B4-BE49-F238E27FC236}">
                <a16:creationId xmlns:a16="http://schemas.microsoft.com/office/drawing/2014/main" id="{0D164DCB-424A-E26C-00E3-35F52538C96C}"/>
              </a:ext>
            </a:extLst>
          </p:cNvPr>
          <p:cNvSpPr/>
          <p:nvPr/>
        </p:nvSpPr>
        <p:spPr>
          <a:xfrm>
            <a:off x="11205932"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pic>
        <p:nvPicPr>
          <p:cNvPr id="20" name="Picture 19">
            <a:extLst>
              <a:ext uri="{FF2B5EF4-FFF2-40B4-BE49-F238E27FC236}">
                <a16:creationId xmlns:a16="http://schemas.microsoft.com/office/drawing/2014/main" id="{31F19C94-950E-0C7E-749D-13C94049CCB5}"/>
              </a:ext>
            </a:extLst>
          </p:cNvPr>
          <p:cNvPicPr>
            <a:picLocks noChangeAspect="1"/>
          </p:cNvPicPr>
          <p:nvPr/>
        </p:nvPicPr>
        <p:blipFill>
          <a:blip r:embed="rId5"/>
          <a:stretch>
            <a:fillRect/>
          </a:stretch>
        </p:blipFill>
        <p:spPr>
          <a:xfrm>
            <a:off x="719201" y="1820681"/>
            <a:ext cx="3520000" cy="19800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79AAB289-943C-5BC9-3542-B2F7D5415C28}"/>
              </a:ext>
            </a:extLst>
          </p:cNvPr>
          <p:cNvPicPr>
            <a:picLocks noChangeAspect="1"/>
          </p:cNvPicPr>
          <p:nvPr/>
        </p:nvPicPr>
        <p:blipFill>
          <a:blip r:embed="rId6"/>
          <a:stretch>
            <a:fillRect/>
          </a:stretch>
        </p:blipFill>
        <p:spPr>
          <a:xfrm>
            <a:off x="7939528" y="1820681"/>
            <a:ext cx="3520000" cy="1980000"/>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0A0405D8-D75D-1700-2D8F-78238F926849}"/>
              </a:ext>
            </a:extLst>
          </p:cNvPr>
          <p:cNvPicPr>
            <a:picLocks noChangeAspect="1"/>
          </p:cNvPicPr>
          <p:nvPr/>
        </p:nvPicPr>
        <p:blipFill>
          <a:blip r:embed="rId7"/>
          <a:stretch>
            <a:fillRect/>
          </a:stretch>
        </p:blipFill>
        <p:spPr>
          <a:xfrm>
            <a:off x="719200" y="4258306"/>
            <a:ext cx="3520000" cy="1980000"/>
          </a:xfrm>
          <a:prstGeom prst="rect">
            <a:avLst/>
          </a:prstGeom>
          <a:effectLst>
            <a:outerShdw blurRad="50800" dist="38100" dir="5400000" algn="t" rotWithShape="0">
              <a:prstClr val="black">
                <a:alpha val="40000"/>
              </a:prstClr>
            </a:outerShdw>
          </a:effectLst>
        </p:spPr>
      </p:pic>
      <p:pic>
        <p:nvPicPr>
          <p:cNvPr id="23" name="Picture 22">
            <a:extLst>
              <a:ext uri="{FF2B5EF4-FFF2-40B4-BE49-F238E27FC236}">
                <a16:creationId xmlns:a16="http://schemas.microsoft.com/office/drawing/2014/main" id="{59F35831-B6E3-E93A-031E-73AC1AE78C64}"/>
              </a:ext>
            </a:extLst>
          </p:cNvPr>
          <p:cNvPicPr>
            <a:picLocks noChangeAspect="1"/>
          </p:cNvPicPr>
          <p:nvPr/>
        </p:nvPicPr>
        <p:blipFill>
          <a:blip r:embed="rId8"/>
          <a:stretch>
            <a:fillRect/>
          </a:stretch>
        </p:blipFill>
        <p:spPr>
          <a:xfrm>
            <a:off x="4328566" y="4258306"/>
            <a:ext cx="3520000" cy="1980000"/>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7660A845-DD39-1A38-1BE0-8C5A3CCCE93C}"/>
              </a:ext>
            </a:extLst>
          </p:cNvPr>
          <p:cNvPicPr>
            <a:picLocks noChangeAspect="1"/>
          </p:cNvPicPr>
          <p:nvPr/>
        </p:nvPicPr>
        <p:blipFill>
          <a:blip r:embed="rId9"/>
          <a:stretch>
            <a:fillRect/>
          </a:stretch>
        </p:blipFill>
        <p:spPr>
          <a:xfrm>
            <a:off x="4329365" y="1820681"/>
            <a:ext cx="3520000" cy="1980000"/>
          </a:xfrm>
          <a:prstGeom prst="rect">
            <a:avLst/>
          </a:prstGeom>
          <a:effectLst>
            <a:outerShdw blurRad="50800" dist="38100" dir="5400000" algn="t" rotWithShape="0">
              <a:prstClr val="black">
                <a:alpha val="40000"/>
              </a:prstClr>
            </a:outerShdw>
          </a:effectLst>
        </p:spPr>
      </p:pic>
      <p:pic>
        <p:nvPicPr>
          <p:cNvPr id="30" name="Picture 29">
            <a:extLst>
              <a:ext uri="{FF2B5EF4-FFF2-40B4-BE49-F238E27FC236}">
                <a16:creationId xmlns:a16="http://schemas.microsoft.com/office/drawing/2014/main" id="{EDAA9A16-D4AF-09D4-3A83-4D4EBFA519EC}"/>
              </a:ext>
            </a:extLst>
          </p:cNvPr>
          <p:cNvPicPr>
            <a:picLocks noChangeAspect="1"/>
          </p:cNvPicPr>
          <p:nvPr/>
        </p:nvPicPr>
        <p:blipFill>
          <a:blip r:embed="rId10"/>
          <a:stretch>
            <a:fillRect/>
          </a:stretch>
        </p:blipFill>
        <p:spPr>
          <a:xfrm>
            <a:off x="7937932" y="4258306"/>
            <a:ext cx="3520000" cy="1980000"/>
          </a:xfrm>
          <a:prstGeom prst="rect">
            <a:avLst/>
          </a:prstGeom>
          <a:effectLst>
            <a:outerShdw blurRad="50800" dist="38100" dir="5400000" algn="t" rotWithShape="0">
              <a:prstClr val="black">
                <a:alpha val="40000"/>
              </a:prstClr>
            </a:outerShdw>
          </a:effectLst>
        </p:spPr>
      </p:pic>
      <p:sp>
        <p:nvSpPr>
          <p:cNvPr id="4" name="Footer Placeholder 3">
            <a:extLst>
              <a:ext uri="{FF2B5EF4-FFF2-40B4-BE49-F238E27FC236}">
                <a16:creationId xmlns:a16="http://schemas.microsoft.com/office/drawing/2014/main" id="{20904A5D-772A-CC8A-9393-F31771ADB8EC}"/>
              </a:ext>
            </a:extLst>
          </p:cNvPr>
          <p:cNvSpPr>
            <a:spLocks noGrp="1"/>
          </p:cNvSpPr>
          <p:nvPr>
            <p:ph type="ftr" sz="quarter" idx="3"/>
          </p:nvPr>
        </p:nvSpPr>
        <p:spPr/>
        <p:txBody>
          <a:bodyPr/>
          <a:lstStyle/>
          <a:p>
            <a:r>
              <a:rPr lang="en-US" dirty="0"/>
              <a:t>Domont Consulting</a:t>
            </a:r>
          </a:p>
        </p:txBody>
      </p:sp>
      <p:sp>
        <p:nvSpPr>
          <p:cNvPr id="25" name="Slide Number Placeholder 24">
            <a:extLst>
              <a:ext uri="{FF2B5EF4-FFF2-40B4-BE49-F238E27FC236}">
                <a16:creationId xmlns:a16="http://schemas.microsoft.com/office/drawing/2014/main" id="{3BAC8106-ECA9-4BA2-2B10-0A893D2756ED}"/>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Tree>
    <p:extLst>
      <p:ext uri="{BB962C8B-B14F-4D97-AF65-F5344CB8AC3E}">
        <p14:creationId xmlns:p14="http://schemas.microsoft.com/office/powerpoint/2010/main" val="348420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1862652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4" name="Picture 33">
            <a:extLst>
              <a:ext uri="{FF2B5EF4-FFF2-40B4-BE49-F238E27FC236}">
                <a16:creationId xmlns:a16="http://schemas.microsoft.com/office/drawing/2014/main" id="{DAB8BB13-55AB-5122-2F94-835F9235C071}"/>
              </a:ext>
            </a:extLst>
          </p:cNvPr>
          <p:cNvPicPr>
            <a:picLocks noChangeAspect="1"/>
          </p:cNvPicPr>
          <p:nvPr/>
        </p:nvPicPr>
        <p:blipFill>
          <a:blip r:embed="rId5"/>
          <a:stretch>
            <a:fillRect/>
          </a:stretch>
        </p:blipFill>
        <p:spPr>
          <a:xfrm>
            <a:off x="724671" y="1820681"/>
            <a:ext cx="3519999" cy="1980000"/>
          </a:xfrm>
          <a:prstGeom prst="rect">
            <a:avLst/>
          </a:prstGeom>
          <a:effectLst>
            <a:outerShdw blurRad="50800" dist="38100" dir="5400000" algn="t" rotWithShape="0">
              <a:prstClr val="black">
                <a:alpha val="40000"/>
              </a:prstClr>
            </a:outerShdw>
          </a:effectLst>
        </p:spPr>
      </p:pic>
      <p:pic>
        <p:nvPicPr>
          <p:cNvPr id="35" name="Picture 34">
            <a:extLst>
              <a:ext uri="{FF2B5EF4-FFF2-40B4-BE49-F238E27FC236}">
                <a16:creationId xmlns:a16="http://schemas.microsoft.com/office/drawing/2014/main" id="{52C1CFAC-E3C2-3D9C-7381-5853108EBAEB}"/>
              </a:ext>
            </a:extLst>
          </p:cNvPr>
          <p:cNvPicPr>
            <a:picLocks noChangeAspect="1"/>
          </p:cNvPicPr>
          <p:nvPr/>
        </p:nvPicPr>
        <p:blipFill>
          <a:blip r:embed="rId6"/>
          <a:stretch>
            <a:fillRect/>
          </a:stretch>
        </p:blipFill>
        <p:spPr>
          <a:xfrm>
            <a:off x="717360" y="4258306"/>
            <a:ext cx="3519999" cy="1980000"/>
          </a:xfrm>
          <a:prstGeom prst="rect">
            <a:avLst/>
          </a:prstGeom>
          <a:effectLst>
            <a:outerShdw blurRad="50800" dist="38100" dir="5400000" algn="t" rotWithShape="0">
              <a:prstClr val="black">
                <a:alpha val="40000"/>
              </a:prstClr>
            </a:outerShdw>
          </a:effectLst>
        </p:spPr>
      </p:pic>
      <p:pic>
        <p:nvPicPr>
          <p:cNvPr id="36" name="Picture 35">
            <a:extLst>
              <a:ext uri="{FF2B5EF4-FFF2-40B4-BE49-F238E27FC236}">
                <a16:creationId xmlns:a16="http://schemas.microsoft.com/office/drawing/2014/main" id="{1466DE81-6FC5-2196-BAFB-3443E1B89F5B}"/>
              </a:ext>
            </a:extLst>
          </p:cNvPr>
          <p:cNvPicPr>
            <a:picLocks noChangeAspect="1"/>
          </p:cNvPicPr>
          <p:nvPr/>
        </p:nvPicPr>
        <p:blipFill>
          <a:blip r:embed="rId7"/>
          <a:stretch>
            <a:fillRect/>
          </a:stretch>
        </p:blipFill>
        <p:spPr>
          <a:xfrm>
            <a:off x="4327647" y="1828597"/>
            <a:ext cx="3519999" cy="1980000"/>
          </a:xfrm>
          <a:prstGeom prst="rect">
            <a:avLst/>
          </a:prstGeom>
          <a:effectLst>
            <a:outerShdw blurRad="50800" dist="38100" dir="5400000" algn="t" rotWithShape="0">
              <a:prstClr val="black">
                <a:alpha val="40000"/>
              </a:prstClr>
            </a:outerShdw>
          </a:effectLst>
        </p:spPr>
      </p:pic>
      <p:pic>
        <p:nvPicPr>
          <p:cNvPr id="37" name="Picture 36">
            <a:extLst>
              <a:ext uri="{FF2B5EF4-FFF2-40B4-BE49-F238E27FC236}">
                <a16:creationId xmlns:a16="http://schemas.microsoft.com/office/drawing/2014/main" id="{B5C08718-0B69-8F77-554E-8FE260C940DC}"/>
              </a:ext>
            </a:extLst>
          </p:cNvPr>
          <p:cNvPicPr>
            <a:picLocks noChangeAspect="1"/>
          </p:cNvPicPr>
          <p:nvPr/>
        </p:nvPicPr>
        <p:blipFill>
          <a:blip r:embed="rId8"/>
          <a:stretch>
            <a:fillRect/>
          </a:stretch>
        </p:blipFill>
        <p:spPr>
          <a:xfrm>
            <a:off x="7934059" y="1830674"/>
            <a:ext cx="3520000" cy="1980000"/>
          </a:xfrm>
          <a:prstGeom prst="rect">
            <a:avLst/>
          </a:prstGeom>
          <a:effectLst>
            <a:outerShdw blurRad="50800" dist="38100" dir="5400000" algn="t" rotWithShape="0">
              <a:prstClr val="black">
                <a:alpha val="40000"/>
              </a:prstClr>
            </a:outerShdw>
          </a:effectLst>
        </p:spPr>
      </p:pic>
      <p:pic>
        <p:nvPicPr>
          <p:cNvPr id="38" name="Picture 37">
            <a:extLst>
              <a:ext uri="{FF2B5EF4-FFF2-40B4-BE49-F238E27FC236}">
                <a16:creationId xmlns:a16="http://schemas.microsoft.com/office/drawing/2014/main" id="{862490E9-1BB1-E52D-4B39-726B766C41C4}"/>
              </a:ext>
            </a:extLst>
          </p:cNvPr>
          <p:cNvPicPr>
            <a:picLocks noChangeAspect="1"/>
          </p:cNvPicPr>
          <p:nvPr/>
        </p:nvPicPr>
        <p:blipFill>
          <a:blip r:embed="rId9"/>
          <a:stretch>
            <a:fillRect/>
          </a:stretch>
        </p:blipFill>
        <p:spPr>
          <a:xfrm>
            <a:off x="4327646" y="4250390"/>
            <a:ext cx="3519999" cy="1980000"/>
          </a:xfrm>
          <a:prstGeom prst="rect">
            <a:avLst/>
          </a:prstGeom>
          <a:effectLst>
            <a:outerShdw blurRad="50800" dist="38100" dir="5400000" algn="t" rotWithShape="0">
              <a:prstClr val="black">
                <a:alpha val="40000"/>
              </a:prstClr>
            </a:outerShdw>
          </a:effectLst>
        </p:spPr>
      </p:pic>
      <p:pic>
        <p:nvPicPr>
          <p:cNvPr id="39" name="Picture 38">
            <a:extLst>
              <a:ext uri="{FF2B5EF4-FFF2-40B4-BE49-F238E27FC236}">
                <a16:creationId xmlns:a16="http://schemas.microsoft.com/office/drawing/2014/main" id="{94F10F59-F624-DE1C-FB73-5D998A9A4B2A}"/>
              </a:ext>
            </a:extLst>
          </p:cNvPr>
          <p:cNvPicPr>
            <a:picLocks noChangeAspect="1"/>
          </p:cNvPicPr>
          <p:nvPr/>
        </p:nvPicPr>
        <p:blipFill>
          <a:blip r:embed="rId10"/>
          <a:stretch>
            <a:fillRect/>
          </a:stretch>
        </p:blipFill>
        <p:spPr>
          <a:xfrm>
            <a:off x="7952801" y="4258306"/>
            <a:ext cx="3519999"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2 ‘10 Pillars to reach our HR and Talent Management Strategic Objectives’ (1/2)</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76" name="Rectangle: Rounded Corners 75">
            <a:extLst>
              <a:ext uri="{FF2B5EF4-FFF2-40B4-BE49-F238E27FC236}">
                <a16:creationId xmlns:a16="http://schemas.microsoft.com/office/drawing/2014/main" id="{CFBE3C49-B4E1-51BB-C14B-91B7BE9BE64B}"/>
              </a:ext>
            </a:extLst>
          </p:cNvPr>
          <p:cNvSpPr/>
          <p:nvPr/>
        </p:nvSpPr>
        <p:spPr>
          <a:xfrm>
            <a:off x="9967224"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75DD022F-3BD3-9106-39C7-A6D7E8EDAD4B}"/>
              </a:ext>
            </a:extLst>
          </p:cNvPr>
          <p:cNvSpPr/>
          <p:nvPr/>
        </p:nvSpPr>
        <p:spPr>
          <a:xfrm>
            <a:off x="9967224"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FD7EE931-6AD5-D45D-476B-2726384F99CA}"/>
              </a:ext>
            </a:extLst>
          </p:cNvPr>
          <p:cNvSpPr/>
          <p:nvPr/>
        </p:nvSpPr>
        <p:spPr>
          <a:xfrm>
            <a:off x="9649778" y="666715"/>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Rectangle: Rounded Corners 4">
            <a:extLst>
              <a:ext uri="{FF2B5EF4-FFF2-40B4-BE49-F238E27FC236}">
                <a16:creationId xmlns:a16="http://schemas.microsoft.com/office/drawing/2014/main" id="{F0D767BE-7F08-C9F6-8590-E385E4590C68}"/>
              </a:ext>
            </a:extLst>
          </p:cNvPr>
          <p:cNvSpPr/>
          <p:nvPr/>
        </p:nvSpPr>
        <p:spPr>
          <a:xfrm>
            <a:off x="10276901"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 name="Rectangle: Rounded Corners 6">
            <a:extLst>
              <a:ext uri="{FF2B5EF4-FFF2-40B4-BE49-F238E27FC236}">
                <a16:creationId xmlns:a16="http://schemas.microsoft.com/office/drawing/2014/main" id="{F2F23D4D-9E57-627E-F77F-A73F8B19ECD1}"/>
              </a:ext>
            </a:extLst>
          </p:cNvPr>
          <p:cNvSpPr/>
          <p:nvPr/>
        </p:nvSpPr>
        <p:spPr>
          <a:xfrm>
            <a:off x="10276901"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034B92C9-9A98-AF8C-FF06-BF7E269798E7}"/>
              </a:ext>
            </a:extLst>
          </p:cNvPr>
          <p:cNvSpPr/>
          <p:nvPr/>
        </p:nvSpPr>
        <p:spPr>
          <a:xfrm>
            <a:off x="10586578"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Rectangle: Rounded Corners 8">
            <a:extLst>
              <a:ext uri="{FF2B5EF4-FFF2-40B4-BE49-F238E27FC236}">
                <a16:creationId xmlns:a16="http://schemas.microsoft.com/office/drawing/2014/main" id="{19D9F4FA-6444-6050-018E-6391A5206C5B}"/>
              </a:ext>
            </a:extLst>
          </p:cNvPr>
          <p:cNvSpPr/>
          <p:nvPr/>
        </p:nvSpPr>
        <p:spPr>
          <a:xfrm>
            <a:off x="10586578"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0" name="Rectangle: Rounded Corners 9">
            <a:extLst>
              <a:ext uri="{FF2B5EF4-FFF2-40B4-BE49-F238E27FC236}">
                <a16:creationId xmlns:a16="http://schemas.microsoft.com/office/drawing/2014/main" id="{2C07BD53-558F-FA96-3DBF-9D56F5DE43B9}"/>
              </a:ext>
            </a:extLst>
          </p:cNvPr>
          <p:cNvSpPr/>
          <p:nvPr/>
        </p:nvSpPr>
        <p:spPr>
          <a:xfrm>
            <a:off x="10896255"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1" name="Rectangle: Rounded Corners 10">
            <a:extLst>
              <a:ext uri="{FF2B5EF4-FFF2-40B4-BE49-F238E27FC236}">
                <a16:creationId xmlns:a16="http://schemas.microsoft.com/office/drawing/2014/main" id="{79FD4E9C-0147-694F-5641-BEC8CB63EC58}"/>
              </a:ext>
            </a:extLst>
          </p:cNvPr>
          <p:cNvSpPr/>
          <p:nvPr/>
        </p:nvSpPr>
        <p:spPr>
          <a:xfrm>
            <a:off x="10896255"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2" name="Rectangle: Rounded Corners 11">
            <a:extLst>
              <a:ext uri="{FF2B5EF4-FFF2-40B4-BE49-F238E27FC236}">
                <a16:creationId xmlns:a16="http://schemas.microsoft.com/office/drawing/2014/main" id="{F8D76013-B491-5F53-E608-1F341CFC390F}"/>
              </a:ext>
            </a:extLst>
          </p:cNvPr>
          <p:cNvSpPr/>
          <p:nvPr/>
        </p:nvSpPr>
        <p:spPr>
          <a:xfrm>
            <a:off x="11205932"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9" name="Rectangle: Rounded Corners 18">
            <a:extLst>
              <a:ext uri="{FF2B5EF4-FFF2-40B4-BE49-F238E27FC236}">
                <a16:creationId xmlns:a16="http://schemas.microsoft.com/office/drawing/2014/main" id="{0D164DCB-424A-E26C-00E3-35F52538C96C}"/>
              </a:ext>
            </a:extLst>
          </p:cNvPr>
          <p:cNvSpPr/>
          <p:nvPr/>
        </p:nvSpPr>
        <p:spPr>
          <a:xfrm>
            <a:off x="11205932"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4" name="Footer Placeholder 3">
            <a:extLst>
              <a:ext uri="{FF2B5EF4-FFF2-40B4-BE49-F238E27FC236}">
                <a16:creationId xmlns:a16="http://schemas.microsoft.com/office/drawing/2014/main" id="{9648EF2B-22C4-FE95-B1A2-9BE8E7098110}"/>
              </a:ext>
            </a:extLst>
          </p:cNvPr>
          <p:cNvSpPr>
            <a:spLocks noGrp="1"/>
          </p:cNvSpPr>
          <p:nvPr>
            <p:ph type="ftr" sz="quarter" idx="3"/>
          </p:nvPr>
        </p:nvSpPr>
        <p:spPr/>
        <p:txBody>
          <a:bodyPr/>
          <a:lstStyle/>
          <a:p>
            <a:r>
              <a:rPr lang="en-US" dirty="0"/>
              <a:t>Domont Consulting</a:t>
            </a:r>
          </a:p>
        </p:txBody>
      </p:sp>
      <p:sp>
        <p:nvSpPr>
          <p:cNvPr id="20" name="Slide Number Placeholder 19">
            <a:extLst>
              <a:ext uri="{FF2B5EF4-FFF2-40B4-BE49-F238E27FC236}">
                <a16:creationId xmlns:a16="http://schemas.microsoft.com/office/drawing/2014/main" id="{80440C7C-92AE-0F78-CA7E-AEED21ADED1A}"/>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1598780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151807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7" name="Picture 26">
            <a:extLst>
              <a:ext uri="{FF2B5EF4-FFF2-40B4-BE49-F238E27FC236}">
                <a16:creationId xmlns:a16="http://schemas.microsoft.com/office/drawing/2014/main" id="{36910B1E-D485-08A0-3DB5-555C2480AAB2}"/>
              </a:ext>
            </a:extLst>
          </p:cNvPr>
          <p:cNvPicPr>
            <a:picLocks noChangeAspect="1"/>
          </p:cNvPicPr>
          <p:nvPr/>
        </p:nvPicPr>
        <p:blipFill>
          <a:blip r:embed="rId5"/>
          <a:stretch>
            <a:fillRect/>
          </a:stretch>
        </p:blipFill>
        <p:spPr>
          <a:xfrm>
            <a:off x="7944806" y="1817480"/>
            <a:ext cx="3519999" cy="1980000"/>
          </a:xfrm>
          <a:prstGeom prst="rect">
            <a:avLst/>
          </a:prstGeom>
          <a:effectLst>
            <a:outerShdw blurRad="50800" dist="38100" dir="5400000" algn="t" rotWithShape="0">
              <a:prstClr val="black">
                <a:alpha val="40000"/>
              </a:prstClr>
            </a:outerShdw>
          </a:effectLst>
        </p:spPr>
      </p:pic>
      <p:pic>
        <p:nvPicPr>
          <p:cNvPr id="28" name="Picture 27">
            <a:extLst>
              <a:ext uri="{FF2B5EF4-FFF2-40B4-BE49-F238E27FC236}">
                <a16:creationId xmlns:a16="http://schemas.microsoft.com/office/drawing/2014/main" id="{BBC2881C-70BC-50D6-9103-7403F070A65D}"/>
              </a:ext>
            </a:extLst>
          </p:cNvPr>
          <p:cNvPicPr>
            <a:picLocks noChangeAspect="1"/>
          </p:cNvPicPr>
          <p:nvPr/>
        </p:nvPicPr>
        <p:blipFill>
          <a:blip r:embed="rId6"/>
          <a:stretch>
            <a:fillRect/>
          </a:stretch>
        </p:blipFill>
        <p:spPr>
          <a:xfrm>
            <a:off x="7930619" y="4278415"/>
            <a:ext cx="3520000" cy="1980000"/>
          </a:xfrm>
          <a:prstGeom prst="rect">
            <a:avLst/>
          </a:prstGeom>
          <a:effectLst>
            <a:outerShdw blurRad="50800" dist="38100" dir="5400000" algn="t" rotWithShape="0">
              <a:prstClr val="black">
                <a:alpha val="40000"/>
              </a:prstClr>
            </a:outerShdw>
          </a:effectLst>
        </p:spPr>
      </p:pic>
      <p:pic>
        <p:nvPicPr>
          <p:cNvPr id="29" name="Picture 28">
            <a:extLst>
              <a:ext uri="{FF2B5EF4-FFF2-40B4-BE49-F238E27FC236}">
                <a16:creationId xmlns:a16="http://schemas.microsoft.com/office/drawing/2014/main" id="{1B0FDF7D-FD14-4C1C-6672-659455ED0846}"/>
              </a:ext>
            </a:extLst>
          </p:cNvPr>
          <p:cNvPicPr>
            <a:picLocks noChangeAspect="1"/>
          </p:cNvPicPr>
          <p:nvPr/>
        </p:nvPicPr>
        <p:blipFill>
          <a:blip r:embed="rId7"/>
          <a:stretch>
            <a:fillRect/>
          </a:stretch>
        </p:blipFill>
        <p:spPr>
          <a:xfrm>
            <a:off x="724671" y="4250390"/>
            <a:ext cx="3520000" cy="1980000"/>
          </a:xfrm>
          <a:prstGeom prst="rect">
            <a:avLst/>
          </a:prstGeom>
          <a:effectLst>
            <a:outerShdw blurRad="50800" dist="38100" dir="5400000" algn="t" rotWithShape="0">
              <a:prstClr val="black">
                <a:alpha val="40000"/>
              </a:prstClr>
            </a:outerShdw>
          </a:effectLst>
        </p:spPr>
      </p:pic>
      <p:pic>
        <p:nvPicPr>
          <p:cNvPr id="30" name="Picture 29">
            <a:extLst>
              <a:ext uri="{FF2B5EF4-FFF2-40B4-BE49-F238E27FC236}">
                <a16:creationId xmlns:a16="http://schemas.microsoft.com/office/drawing/2014/main" id="{5BA3D192-6043-614E-2253-DF5EAB9E3772}"/>
              </a:ext>
            </a:extLst>
          </p:cNvPr>
          <p:cNvPicPr>
            <a:picLocks noChangeAspect="1"/>
          </p:cNvPicPr>
          <p:nvPr/>
        </p:nvPicPr>
        <p:blipFill>
          <a:blip r:embed="rId8"/>
          <a:stretch>
            <a:fillRect/>
          </a:stretch>
        </p:blipFill>
        <p:spPr>
          <a:xfrm>
            <a:off x="699737" y="1849432"/>
            <a:ext cx="3520000" cy="1980000"/>
          </a:xfrm>
          <a:prstGeom prst="rect">
            <a:avLst/>
          </a:prstGeom>
          <a:effectLst>
            <a:outerShdw blurRad="50800" dist="38100" dir="5400000" algn="t" rotWithShape="0">
              <a:prstClr val="black">
                <a:alpha val="40000"/>
              </a:prstClr>
            </a:outerShdw>
          </a:effectLst>
        </p:spPr>
      </p:pic>
      <p:pic>
        <p:nvPicPr>
          <p:cNvPr id="31" name="Picture 30">
            <a:extLst>
              <a:ext uri="{FF2B5EF4-FFF2-40B4-BE49-F238E27FC236}">
                <a16:creationId xmlns:a16="http://schemas.microsoft.com/office/drawing/2014/main" id="{851FC683-18DA-3EE6-3D82-8D87D6C1203B}"/>
              </a:ext>
            </a:extLst>
          </p:cNvPr>
          <p:cNvPicPr>
            <a:picLocks noChangeAspect="1"/>
          </p:cNvPicPr>
          <p:nvPr/>
        </p:nvPicPr>
        <p:blipFill>
          <a:blip r:embed="rId9"/>
          <a:stretch>
            <a:fillRect/>
          </a:stretch>
        </p:blipFill>
        <p:spPr>
          <a:xfrm>
            <a:off x="4327644" y="1840193"/>
            <a:ext cx="3520000" cy="1980000"/>
          </a:xfrm>
          <a:prstGeom prst="rect">
            <a:avLst/>
          </a:prstGeom>
          <a:effectLst>
            <a:outerShdw blurRad="50800" dist="38100" dir="5400000" algn="t" rotWithShape="0">
              <a:prstClr val="black">
                <a:alpha val="40000"/>
              </a:prstClr>
            </a:outerShdw>
          </a:effectLst>
        </p:spPr>
      </p:pic>
      <p:pic>
        <p:nvPicPr>
          <p:cNvPr id="32" name="Picture 31">
            <a:extLst>
              <a:ext uri="{FF2B5EF4-FFF2-40B4-BE49-F238E27FC236}">
                <a16:creationId xmlns:a16="http://schemas.microsoft.com/office/drawing/2014/main" id="{9AFE32AA-2CA9-F202-E1E9-B09AFA63B99C}"/>
              </a:ext>
            </a:extLst>
          </p:cNvPr>
          <p:cNvPicPr>
            <a:picLocks noChangeAspect="1"/>
          </p:cNvPicPr>
          <p:nvPr/>
        </p:nvPicPr>
        <p:blipFill>
          <a:blip r:embed="rId10"/>
          <a:stretch>
            <a:fillRect/>
          </a:stretch>
        </p:blipFill>
        <p:spPr>
          <a:xfrm>
            <a:off x="4327645" y="4255224"/>
            <a:ext cx="3519999"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2 ‘10 Pillars to reach our HR and Talent Management Strategic Objectives’ (2/2)</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76" name="Rectangle: Rounded Corners 75">
            <a:extLst>
              <a:ext uri="{FF2B5EF4-FFF2-40B4-BE49-F238E27FC236}">
                <a16:creationId xmlns:a16="http://schemas.microsoft.com/office/drawing/2014/main" id="{CFBE3C49-B4E1-51BB-C14B-91B7BE9BE64B}"/>
              </a:ext>
            </a:extLst>
          </p:cNvPr>
          <p:cNvSpPr/>
          <p:nvPr/>
        </p:nvSpPr>
        <p:spPr>
          <a:xfrm>
            <a:off x="9967224"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75DD022F-3BD3-9106-39C7-A6D7E8EDAD4B}"/>
              </a:ext>
            </a:extLst>
          </p:cNvPr>
          <p:cNvSpPr/>
          <p:nvPr/>
        </p:nvSpPr>
        <p:spPr>
          <a:xfrm>
            <a:off x="9967224"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FD7EE931-6AD5-D45D-476B-2726384F99CA}"/>
              </a:ext>
            </a:extLst>
          </p:cNvPr>
          <p:cNvSpPr/>
          <p:nvPr/>
        </p:nvSpPr>
        <p:spPr>
          <a:xfrm>
            <a:off x="9649778" y="666715"/>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Rectangle: Rounded Corners 4">
            <a:extLst>
              <a:ext uri="{FF2B5EF4-FFF2-40B4-BE49-F238E27FC236}">
                <a16:creationId xmlns:a16="http://schemas.microsoft.com/office/drawing/2014/main" id="{F0D767BE-7F08-C9F6-8590-E385E4590C68}"/>
              </a:ext>
            </a:extLst>
          </p:cNvPr>
          <p:cNvSpPr/>
          <p:nvPr/>
        </p:nvSpPr>
        <p:spPr>
          <a:xfrm>
            <a:off x="10276901"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 name="Rectangle: Rounded Corners 6">
            <a:extLst>
              <a:ext uri="{FF2B5EF4-FFF2-40B4-BE49-F238E27FC236}">
                <a16:creationId xmlns:a16="http://schemas.microsoft.com/office/drawing/2014/main" id="{F2F23D4D-9E57-627E-F77F-A73F8B19ECD1}"/>
              </a:ext>
            </a:extLst>
          </p:cNvPr>
          <p:cNvSpPr/>
          <p:nvPr/>
        </p:nvSpPr>
        <p:spPr>
          <a:xfrm>
            <a:off x="10276901"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034B92C9-9A98-AF8C-FF06-BF7E269798E7}"/>
              </a:ext>
            </a:extLst>
          </p:cNvPr>
          <p:cNvSpPr/>
          <p:nvPr/>
        </p:nvSpPr>
        <p:spPr>
          <a:xfrm>
            <a:off x="10586578"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Rectangle: Rounded Corners 8">
            <a:extLst>
              <a:ext uri="{FF2B5EF4-FFF2-40B4-BE49-F238E27FC236}">
                <a16:creationId xmlns:a16="http://schemas.microsoft.com/office/drawing/2014/main" id="{19D9F4FA-6444-6050-018E-6391A5206C5B}"/>
              </a:ext>
            </a:extLst>
          </p:cNvPr>
          <p:cNvSpPr/>
          <p:nvPr/>
        </p:nvSpPr>
        <p:spPr>
          <a:xfrm>
            <a:off x="10586578"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0" name="Rectangle: Rounded Corners 9">
            <a:extLst>
              <a:ext uri="{FF2B5EF4-FFF2-40B4-BE49-F238E27FC236}">
                <a16:creationId xmlns:a16="http://schemas.microsoft.com/office/drawing/2014/main" id="{2C07BD53-558F-FA96-3DBF-9D56F5DE43B9}"/>
              </a:ext>
            </a:extLst>
          </p:cNvPr>
          <p:cNvSpPr/>
          <p:nvPr/>
        </p:nvSpPr>
        <p:spPr>
          <a:xfrm>
            <a:off x="10896255"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1" name="Rectangle: Rounded Corners 10">
            <a:extLst>
              <a:ext uri="{FF2B5EF4-FFF2-40B4-BE49-F238E27FC236}">
                <a16:creationId xmlns:a16="http://schemas.microsoft.com/office/drawing/2014/main" id="{79FD4E9C-0147-694F-5641-BEC8CB63EC58}"/>
              </a:ext>
            </a:extLst>
          </p:cNvPr>
          <p:cNvSpPr/>
          <p:nvPr/>
        </p:nvSpPr>
        <p:spPr>
          <a:xfrm>
            <a:off x="10896255"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2" name="Rectangle: Rounded Corners 11">
            <a:extLst>
              <a:ext uri="{FF2B5EF4-FFF2-40B4-BE49-F238E27FC236}">
                <a16:creationId xmlns:a16="http://schemas.microsoft.com/office/drawing/2014/main" id="{F8D76013-B491-5F53-E608-1F341CFC390F}"/>
              </a:ext>
            </a:extLst>
          </p:cNvPr>
          <p:cNvSpPr/>
          <p:nvPr/>
        </p:nvSpPr>
        <p:spPr>
          <a:xfrm>
            <a:off x="11205932"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9" name="Rectangle: Rounded Corners 18">
            <a:extLst>
              <a:ext uri="{FF2B5EF4-FFF2-40B4-BE49-F238E27FC236}">
                <a16:creationId xmlns:a16="http://schemas.microsoft.com/office/drawing/2014/main" id="{0D164DCB-424A-E26C-00E3-35F52538C96C}"/>
              </a:ext>
            </a:extLst>
          </p:cNvPr>
          <p:cNvSpPr/>
          <p:nvPr/>
        </p:nvSpPr>
        <p:spPr>
          <a:xfrm>
            <a:off x="11205932"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4" name="Footer Placeholder 3">
            <a:extLst>
              <a:ext uri="{FF2B5EF4-FFF2-40B4-BE49-F238E27FC236}">
                <a16:creationId xmlns:a16="http://schemas.microsoft.com/office/drawing/2014/main" id="{4FC82F3B-1B28-BABC-64F4-492D746D47CE}"/>
              </a:ext>
            </a:extLst>
          </p:cNvPr>
          <p:cNvSpPr>
            <a:spLocks noGrp="1"/>
          </p:cNvSpPr>
          <p:nvPr>
            <p:ph type="ftr" sz="quarter" idx="3"/>
          </p:nvPr>
        </p:nvSpPr>
        <p:spPr/>
        <p:txBody>
          <a:bodyPr/>
          <a:lstStyle/>
          <a:p>
            <a:r>
              <a:rPr lang="en-US" dirty="0"/>
              <a:t>Domont Consulting</a:t>
            </a:r>
          </a:p>
        </p:txBody>
      </p:sp>
      <p:sp>
        <p:nvSpPr>
          <p:cNvPr id="20" name="Slide Number Placeholder 19">
            <a:extLst>
              <a:ext uri="{FF2B5EF4-FFF2-40B4-BE49-F238E27FC236}">
                <a16:creationId xmlns:a16="http://schemas.microsoft.com/office/drawing/2014/main" id="{A073E806-87E3-0C21-243E-6C722E715DF1}"/>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2985957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813563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3 ‘Potential Initiatives for each Pillar’</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76" name="Rectangle: Rounded Corners 75">
            <a:extLst>
              <a:ext uri="{FF2B5EF4-FFF2-40B4-BE49-F238E27FC236}">
                <a16:creationId xmlns:a16="http://schemas.microsoft.com/office/drawing/2014/main" id="{CFBE3C49-B4E1-51BB-C14B-91B7BE9BE64B}"/>
              </a:ext>
            </a:extLst>
          </p:cNvPr>
          <p:cNvSpPr/>
          <p:nvPr/>
        </p:nvSpPr>
        <p:spPr>
          <a:xfrm>
            <a:off x="9967224"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75DD022F-3BD3-9106-39C7-A6D7E8EDAD4B}"/>
              </a:ext>
            </a:extLst>
          </p:cNvPr>
          <p:cNvSpPr/>
          <p:nvPr/>
        </p:nvSpPr>
        <p:spPr>
          <a:xfrm>
            <a:off x="9967224"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FD7EE931-6AD5-D45D-476B-2726384F99CA}"/>
              </a:ext>
            </a:extLst>
          </p:cNvPr>
          <p:cNvSpPr/>
          <p:nvPr/>
        </p:nvSpPr>
        <p:spPr>
          <a:xfrm>
            <a:off x="9649778" y="975065"/>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Rectangle: Rounded Corners 4">
            <a:extLst>
              <a:ext uri="{FF2B5EF4-FFF2-40B4-BE49-F238E27FC236}">
                <a16:creationId xmlns:a16="http://schemas.microsoft.com/office/drawing/2014/main" id="{F0D767BE-7F08-C9F6-8590-E385E4590C68}"/>
              </a:ext>
            </a:extLst>
          </p:cNvPr>
          <p:cNvSpPr/>
          <p:nvPr/>
        </p:nvSpPr>
        <p:spPr>
          <a:xfrm>
            <a:off x="10276901"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 name="Rectangle: Rounded Corners 6">
            <a:extLst>
              <a:ext uri="{FF2B5EF4-FFF2-40B4-BE49-F238E27FC236}">
                <a16:creationId xmlns:a16="http://schemas.microsoft.com/office/drawing/2014/main" id="{F2F23D4D-9E57-627E-F77F-A73F8B19ECD1}"/>
              </a:ext>
            </a:extLst>
          </p:cNvPr>
          <p:cNvSpPr/>
          <p:nvPr/>
        </p:nvSpPr>
        <p:spPr>
          <a:xfrm>
            <a:off x="10276901"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034B92C9-9A98-AF8C-FF06-BF7E269798E7}"/>
              </a:ext>
            </a:extLst>
          </p:cNvPr>
          <p:cNvSpPr/>
          <p:nvPr/>
        </p:nvSpPr>
        <p:spPr>
          <a:xfrm>
            <a:off x="10586578"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Rectangle: Rounded Corners 8">
            <a:extLst>
              <a:ext uri="{FF2B5EF4-FFF2-40B4-BE49-F238E27FC236}">
                <a16:creationId xmlns:a16="http://schemas.microsoft.com/office/drawing/2014/main" id="{19D9F4FA-6444-6050-018E-6391A5206C5B}"/>
              </a:ext>
            </a:extLst>
          </p:cNvPr>
          <p:cNvSpPr/>
          <p:nvPr/>
        </p:nvSpPr>
        <p:spPr>
          <a:xfrm>
            <a:off x="10586578"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0" name="Rectangle: Rounded Corners 9">
            <a:extLst>
              <a:ext uri="{FF2B5EF4-FFF2-40B4-BE49-F238E27FC236}">
                <a16:creationId xmlns:a16="http://schemas.microsoft.com/office/drawing/2014/main" id="{2C07BD53-558F-FA96-3DBF-9D56F5DE43B9}"/>
              </a:ext>
            </a:extLst>
          </p:cNvPr>
          <p:cNvSpPr/>
          <p:nvPr/>
        </p:nvSpPr>
        <p:spPr>
          <a:xfrm>
            <a:off x="10896255"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1" name="Rectangle: Rounded Corners 10">
            <a:extLst>
              <a:ext uri="{FF2B5EF4-FFF2-40B4-BE49-F238E27FC236}">
                <a16:creationId xmlns:a16="http://schemas.microsoft.com/office/drawing/2014/main" id="{79FD4E9C-0147-694F-5641-BEC8CB63EC58}"/>
              </a:ext>
            </a:extLst>
          </p:cNvPr>
          <p:cNvSpPr/>
          <p:nvPr/>
        </p:nvSpPr>
        <p:spPr>
          <a:xfrm>
            <a:off x="10896255"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2" name="Rectangle: Rounded Corners 11">
            <a:extLst>
              <a:ext uri="{FF2B5EF4-FFF2-40B4-BE49-F238E27FC236}">
                <a16:creationId xmlns:a16="http://schemas.microsoft.com/office/drawing/2014/main" id="{F8D76013-B491-5F53-E608-1F341CFC390F}"/>
              </a:ext>
            </a:extLst>
          </p:cNvPr>
          <p:cNvSpPr/>
          <p:nvPr/>
        </p:nvSpPr>
        <p:spPr>
          <a:xfrm>
            <a:off x="11205932"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9" name="Rectangle: Rounded Corners 18">
            <a:extLst>
              <a:ext uri="{FF2B5EF4-FFF2-40B4-BE49-F238E27FC236}">
                <a16:creationId xmlns:a16="http://schemas.microsoft.com/office/drawing/2014/main" id="{0D164DCB-424A-E26C-00E3-35F52538C96C}"/>
              </a:ext>
            </a:extLst>
          </p:cNvPr>
          <p:cNvSpPr/>
          <p:nvPr/>
        </p:nvSpPr>
        <p:spPr>
          <a:xfrm>
            <a:off x="11205932"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pic>
        <p:nvPicPr>
          <p:cNvPr id="32" name="Picture 31">
            <a:extLst>
              <a:ext uri="{FF2B5EF4-FFF2-40B4-BE49-F238E27FC236}">
                <a16:creationId xmlns:a16="http://schemas.microsoft.com/office/drawing/2014/main" id="{12DE0DC3-5C9C-E629-0F4E-57AA6B9B5B25}"/>
              </a:ext>
            </a:extLst>
          </p:cNvPr>
          <p:cNvPicPr>
            <a:picLocks noChangeAspect="1"/>
          </p:cNvPicPr>
          <p:nvPr/>
        </p:nvPicPr>
        <p:blipFill rotWithShape="1">
          <a:blip r:embed="rId5"/>
          <a:srcRect t="1429"/>
          <a:stretch/>
        </p:blipFill>
        <p:spPr>
          <a:xfrm>
            <a:off x="745343" y="1758272"/>
            <a:ext cx="8291428" cy="2976769"/>
          </a:xfrm>
          <a:prstGeom prst="rect">
            <a:avLst/>
          </a:prstGeom>
          <a:effectLst>
            <a:outerShdw blurRad="50800" dist="38100" dir="5400000" algn="t" rotWithShape="0">
              <a:prstClr val="black">
                <a:alpha val="40000"/>
              </a:prstClr>
            </a:outerShdw>
          </a:effectLst>
        </p:spPr>
      </p:pic>
      <p:pic>
        <p:nvPicPr>
          <p:cNvPr id="31" name="Picture 30">
            <a:extLst>
              <a:ext uri="{FF2B5EF4-FFF2-40B4-BE49-F238E27FC236}">
                <a16:creationId xmlns:a16="http://schemas.microsoft.com/office/drawing/2014/main" id="{67FF5F58-14EE-6E01-4909-018D8CBEFCA2}"/>
              </a:ext>
            </a:extLst>
          </p:cNvPr>
          <p:cNvPicPr>
            <a:picLocks noChangeAspect="1"/>
          </p:cNvPicPr>
          <p:nvPr/>
        </p:nvPicPr>
        <p:blipFill>
          <a:blip r:embed="rId6"/>
          <a:stretch>
            <a:fillRect/>
          </a:stretch>
        </p:blipFill>
        <p:spPr>
          <a:xfrm>
            <a:off x="6890961" y="3808763"/>
            <a:ext cx="4559186" cy="2560491"/>
          </a:xfrm>
          <a:prstGeom prst="rect">
            <a:avLst/>
          </a:prstGeom>
          <a:effectLst>
            <a:outerShdw blurRad="50800" dist="38100" dir="5400000" algn="t" rotWithShape="0">
              <a:prstClr val="black">
                <a:alpha val="40000"/>
              </a:prstClr>
            </a:outerShdw>
          </a:effectLst>
        </p:spPr>
      </p:pic>
      <p:sp>
        <p:nvSpPr>
          <p:cNvPr id="4" name="Footer Placeholder 3">
            <a:extLst>
              <a:ext uri="{FF2B5EF4-FFF2-40B4-BE49-F238E27FC236}">
                <a16:creationId xmlns:a16="http://schemas.microsoft.com/office/drawing/2014/main" id="{67329FD7-9612-385A-4B66-2159715CEFDE}"/>
              </a:ext>
            </a:extLst>
          </p:cNvPr>
          <p:cNvSpPr>
            <a:spLocks noGrp="1"/>
          </p:cNvSpPr>
          <p:nvPr>
            <p:ph type="ftr" sz="quarter" idx="3"/>
          </p:nvPr>
        </p:nvSpPr>
        <p:spPr/>
        <p:txBody>
          <a:bodyPr/>
          <a:lstStyle/>
          <a:p>
            <a:r>
              <a:rPr lang="en-US" dirty="0"/>
              <a:t>Domont Consulting</a:t>
            </a:r>
          </a:p>
        </p:txBody>
      </p:sp>
      <p:sp>
        <p:nvSpPr>
          <p:cNvPr id="20" name="Slide Number Placeholder 19">
            <a:extLst>
              <a:ext uri="{FF2B5EF4-FFF2-40B4-BE49-F238E27FC236}">
                <a16:creationId xmlns:a16="http://schemas.microsoft.com/office/drawing/2014/main" id="{80388C98-0C12-C2F3-9C13-21ECB8C69DAF}"/>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3823632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5588492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4 ‘Business cases and financial models to assess potential projects’</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76" name="Rectangle: Rounded Corners 75">
            <a:extLst>
              <a:ext uri="{FF2B5EF4-FFF2-40B4-BE49-F238E27FC236}">
                <a16:creationId xmlns:a16="http://schemas.microsoft.com/office/drawing/2014/main" id="{CFBE3C49-B4E1-51BB-C14B-91B7BE9BE64B}"/>
              </a:ext>
            </a:extLst>
          </p:cNvPr>
          <p:cNvSpPr/>
          <p:nvPr/>
        </p:nvSpPr>
        <p:spPr>
          <a:xfrm>
            <a:off x="9967224"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75DD022F-3BD3-9106-39C7-A6D7E8EDAD4B}"/>
              </a:ext>
            </a:extLst>
          </p:cNvPr>
          <p:cNvSpPr/>
          <p:nvPr/>
        </p:nvSpPr>
        <p:spPr>
          <a:xfrm>
            <a:off x="9967224"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FD7EE931-6AD5-D45D-476B-2726384F99CA}"/>
              </a:ext>
            </a:extLst>
          </p:cNvPr>
          <p:cNvSpPr/>
          <p:nvPr/>
        </p:nvSpPr>
        <p:spPr>
          <a:xfrm>
            <a:off x="9649778" y="1092025"/>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Rectangle: Rounded Corners 4">
            <a:extLst>
              <a:ext uri="{FF2B5EF4-FFF2-40B4-BE49-F238E27FC236}">
                <a16:creationId xmlns:a16="http://schemas.microsoft.com/office/drawing/2014/main" id="{F0D767BE-7F08-C9F6-8590-E385E4590C68}"/>
              </a:ext>
            </a:extLst>
          </p:cNvPr>
          <p:cNvSpPr/>
          <p:nvPr/>
        </p:nvSpPr>
        <p:spPr>
          <a:xfrm>
            <a:off x="10276901"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 name="Rectangle: Rounded Corners 6">
            <a:extLst>
              <a:ext uri="{FF2B5EF4-FFF2-40B4-BE49-F238E27FC236}">
                <a16:creationId xmlns:a16="http://schemas.microsoft.com/office/drawing/2014/main" id="{F2F23D4D-9E57-627E-F77F-A73F8B19ECD1}"/>
              </a:ext>
            </a:extLst>
          </p:cNvPr>
          <p:cNvSpPr/>
          <p:nvPr/>
        </p:nvSpPr>
        <p:spPr>
          <a:xfrm>
            <a:off x="10276901"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034B92C9-9A98-AF8C-FF06-BF7E269798E7}"/>
              </a:ext>
            </a:extLst>
          </p:cNvPr>
          <p:cNvSpPr/>
          <p:nvPr/>
        </p:nvSpPr>
        <p:spPr>
          <a:xfrm>
            <a:off x="10586578"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Rectangle: Rounded Corners 8">
            <a:extLst>
              <a:ext uri="{FF2B5EF4-FFF2-40B4-BE49-F238E27FC236}">
                <a16:creationId xmlns:a16="http://schemas.microsoft.com/office/drawing/2014/main" id="{19D9F4FA-6444-6050-018E-6391A5206C5B}"/>
              </a:ext>
            </a:extLst>
          </p:cNvPr>
          <p:cNvSpPr/>
          <p:nvPr/>
        </p:nvSpPr>
        <p:spPr>
          <a:xfrm>
            <a:off x="10586578"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0" name="Rectangle: Rounded Corners 9">
            <a:extLst>
              <a:ext uri="{FF2B5EF4-FFF2-40B4-BE49-F238E27FC236}">
                <a16:creationId xmlns:a16="http://schemas.microsoft.com/office/drawing/2014/main" id="{2C07BD53-558F-FA96-3DBF-9D56F5DE43B9}"/>
              </a:ext>
            </a:extLst>
          </p:cNvPr>
          <p:cNvSpPr/>
          <p:nvPr/>
        </p:nvSpPr>
        <p:spPr>
          <a:xfrm>
            <a:off x="10896255"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1" name="Rectangle: Rounded Corners 10">
            <a:extLst>
              <a:ext uri="{FF2B5EF4-FFF2-40B4-BE49-F238E27FC236}">
                <a16:creationId xmlns:a16="http://schemas.microsoft.com/office/drawing/2014/main" id="{79FD4E9C-0147-694F-5641-BEC8CB63EC58}"/>
              </a:ext>
            </a:extLst>
          </p:cNvPr>
          <p:cNvSpPr/>
          <p:nvPr/>
        </p:nvSpPr>
        <p:spPr>
          <a:xfrm>
            <a:off x="10896255"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2" name="Rectangle: Rounded Corners 11">
            <a:extLst>
              <a:ext uri="{FF2B5EF4-FFF2-40B4-BE49-F238E27FC236}">
                <a16:creationId xmlns:a16="http://schemas.microsoft.com/office/drawing/2014/main" id="{F8D76013-B491-5F53-E608-1F341CFC390F}"/>
              </a:ext>
            </a:extLst>
          </p:cNvPr>
          <p:cNvSpPr/>
          <p:nvPr/>
        </p:nvSpPr>
        <p:spPr>
          <a:xfrm>
            <a:off x="11205932"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9" name="Rectangle: Rounded Corners 18">
            <a:extLst>
              <a:ext uri="{FF2B5EF4-FFF2-40B4-BE49-F238E27FC236}">
                <a16:creationId xmlns:a16="http://schemas.microsoft.com/office/drawing/2014/main" id="{0D164DCB-424A-E26C-00E3-35F52538C96C}"/>
              </a:ext>
            </a:extLst>
          </p:cNvPr>
          <p:cNvSpPr/>
          <p:nvPr/>
        </p:nvSpPr>
        <p:spPr>
          <a:xfrm>
            <a:off x="11205932"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pic>
        <p:nvPicPr>
          <p:cNvPr id="21" name="Picture 20">
            <a:extLst>
              <a:ext uri="{FF2B5EF4-FFF2-40B4-BE49-F238E27FC236}">
                <a16:creationId xmlns:a16="http://schemas.microsoft.com/office/drawing/2014/main" id="{520D1475-C04F-C908-5393-34DFDBFF264B}"/>
              </a:ext>
            </a:extLst>
          </p:cNvPr>
          <p:cNvPicPr>
            <a:picLocks noChangeAspect="1"/>
          </p:cNvPicPr>
          <p:nvPr/>
        </p:nvPicPr>
        <p:blipFill>
          <a:blip r:embed="rId5"/>
          <a:stretch>
            <a:fillRect/>
          </a:stretch>
        </p:blipFill>
        <p:spPr>
          <a:xfrm>
            <a:off x="1077223" y="1807368"/>
            <a:ext cx="5559205" cy="4564337"/>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285FBCF5-4206-F06C-345F-56801EE4EEDE}"/>
              </a:ext>
            </a:extLst>
          </p:cNvPr>
          <p:cNvPicPr>
            <a:picLocks noChangeAspect="1"/>
          </p:cNvPicPr>
          <p:nvPr/>
        </p:nvPicPr>
        <p:blipFill>
          <a:blip r:embed="rId6"/>
          <a:stretch>
            <a:fillRect/>
          </a:stretch>
        </p:blipFill>
        <p:spPr>
          <a:xfrm>
            <a:off x="7459759" y="4081350"/>
            <a:ext cx="3672398" cy="2290355"/>
          </a:xfrm>
          <a:prstGeom prst="rect">
            <a:avLst/>
          </a:prstGeom>
          <a:effectLst>
            <a:outerShdw blurRad="50800" dist="38100" dir="5400000" algn="t" rotWithShape="0">
              <a:prstClr val="black">
                <a:alpha val="40000"/>
              </a:prstClr>
            </a:outerShdw>
          </a:effectLst>
        </p:spPr>
      </p:pic>
      <p:pic>
        <p:nvPicPr>
          <p:cNvPr id="25" name="Picture 24">
            <a:extLst>
              <a:ext uri="{FF2B5EF4-FFF2-40B4-BE49-F238E27FC236}">
                <a16:creationId xmlns:a16="http://schemas.microsoft.com/office/drawing/2014/main" id="{805AACDA-3504-CF11-14F6-4347F9685B46}"/>
              </a:ext>
            </a:extLst>
          </p:cNvPr>
          <p:cNvPicPr>
            <a:picLocks noChangeAspect="1"/>
          </p:cNvPicPr>
          <p:nvPr/>
        </p:nvPicPr>
        <p:blipFill>
          <a:blip r:embed="rId7"/>
          <a:stretch>
            <a:fillRect/>
          </a:stretch>
        </p:blipFill>
        <p:spPr>
          <a:xfrm>
            <a:off x="7459759" y="1807368"/>
            <a:ext cx="3655018" cy="2055947"/>
          </a:xfrm>
          <a:prstGeom prst="rect">
            <a:avLst/>
          </a:prstGeom>
          <a:effectLst>
            <a:outerShdw blurRad="50800" dist="38100" dir="5400000" algn="t" rotWithShape="0">
              <a:prstClr val="black">
                <a:alpha val="40000"/>
              </a:prstClr>
            </a:outerShdw>
          </a:effectLst>
        </p:spPr>
      </p:pic>
      <p:sp>
        <p:nvSpPr>
          <p:cNvPr id="4" name="Footer Placeholder 3">
            <a:extLst>
              <a:ext uri="{FF2B5EF4-FFF2-40B4-BE49-F238E27FC236}">
                <a16:creationId xmlns:a16="http://schemas.microsoft.com/office/drawing/2014/main" id="{EB7EB6E3-6963-166B-1C8C-532DA7E7E68A}"/>
              </a:ext>
            </a:extLst>
          </p:cNvPr>
          <p:cNvSpPr>
            <a:spLocks noGrp="1"/>
          </p:cNvSpPr>
          <p:nvPr>
            <p:ph type="ftr" sz="quarter" idx="3"/>
          </p:nvPr>
        </p:nvSpPr>
        <p:spPr/>
        <p:txBody>
          <a:bodyPr/>
          <a:lstStyle/>
          <a:p>
            <a:r>
              <a:rPr lang="en-US" dirty="0"/>
              <a:t>Domont Consulting</a:t>
            </a:r>
          </a:p>
        </p:txBody>
      </p:sp>
      <p:sp>
        <p:nvSpPr>
          <p:cNvPr id="20" name="Slide Number Placeholder 19">
            <a:extLst>
              <a:ext uri="{FF2B5EF4-FFF2-40B4-BE49-F238E27FC236}">
                <a16:creationId xmlns:a16="http://schemas.microsoft.com/office/drawing/2014/main" id="{A1BBD254-3432-A2E1-46E7-DAD87CE13488}"/>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3016347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295347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5 ‘Project Prioritization, Business Roadmap and Implementation’</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76" name="Rectangle: Rounded Corners 75">
            <a:extLst>
              <a:ext uri="{FF2B5EF4-FFF2-40B4-BE49-F238E27FC236}">
                <a16:creationId xmlns:a16="http://schemas.microsoft.com/office/drawing/2014/main" id="{CFBE3C49-B4E1-51BB-C14B-91B7BE9BE64B}"/>
              </a:ext>
            </a:extLst>
          </p:cNvPr>
          <p:cNvSpPr/>
          <p:nvPr/>
        </p:nvSpPr>
        <p:spPr>
          <a:xfrm>
            <a:off x="9967224"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75DD022F-3BD3-9106-39C7-A6D7E8EDAD4B}"/>
              </a:ext>
            </a:extLst>
          </p:cNvPr>
          <p:cNvSpPr/>
          <p:nvPr/>
        </p:nvSpPr>
        <p:spPr>
          <a:xfrm>
            <a:off x="9967224"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FD7EE931-6AD5-D45D-476B-2726384F99CA}"/>
              </a:ext>
            </a:extLst>
          </p:cNvPr>
          <p:cNvSpPr/>
          <p:nvPr/>
        </p:nvSpPr>
        <p:spPr>
          <a:xfrm>
            <a:off x="9649778" y="1177086"/>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Rectangle: Rounded Corners 4">
            <a:extLst>
              <a:ext uri="{FF2B5EF4-FFF2-40B4-BE49-F238E27FC236}">
                <a16:creationId xmlns:a16="http://schemas.microsoft.com/office/drawing/2014/main" id="{F0D767BE-7F08-C9F6-8590-E385E4590C68}"/>
              </a:ext>
            </a:extLst>
          </p:cNvPr>
          <p:cNvSpPr/>
          <p:nvPr/>
        </p:nvSpPr>
        <p:spPr>
          <a:xfrm>
            <a:off x="10276901"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 name="Rectangle: Rounded Corners 6">
            <a:extLst>
              <a:ext uri="{FF2B5EF4-FFF2-40B4-BE49-F238E27FC236}">
                <a16:creationId xmlns:a16="http://schemas.microsoft.com/office/drawing/2014/main" id="{F2F23D4D-9E57-627E-F77F-A73F8B19ECD1}"/>
              </a:ext>
            </a:extLst>
          </p:cNvPr>
          <p:cNvSpPr/>
          <p:nvPr/>
        </p:nvSpPr>
        <p:spPr>
          <a:xfrm>
            <a:off x="10276901"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034B92C9-9A98-AF8C-FF06-BF7E269798E7}"/>
              </a:ext>
            </a:extLst>
          </p:cNvPr>
          <p:cNvSpPr/>
          <p:nvPr/>
        </p:nvSpPr>
        <p:spPr>
          <a:xfrm>
            <a:off x="10586578"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Rectangle: Rounded Corners 8">
            <a:extLst>
              <a:ext uri="{FF2B5EF4-FFF2-40B4-BE49-F238E27FC236}">
                <a16:creationId xmlns:a16="http://schemas.microsoft.com/office/drawing/2014/main" id="{19D9F4FA-6444-6050-018E-6391A5206C5B}"/>
              </a:ext>
            </a:extLst>
          </p:cNvPr>
          <p:cNvSpPr/>
          <p:nvPr/>
        </p:nvSpPr>
        <p:spPr>
          <a:xfrm>
            <a:off x="10586578"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0" name="Rectangle: Rounded Corners 9">
            <a:extLst>
              <a:ext uri="{FF2B5EF4-FFF2-40B4-BE49-F238E27FC236}">
                <a16:creationId xmlns:a16="http://schemas.microsoft.com/office/drawing/2014/main" id="{2C07BD53-558F-FA96-3DBF-9D56F5DE43B9}"/>
              </a:ext>
            </a:extLst>
          </p:cNvPr>
          <p:cNvSpPr/>
          <p:nvPr/>
        </p:nvSpPr>
        <p:spPr>
          <a:xfrm>
            <a:off x="10896255"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1" name="Rectangle: Rounded Corners 10">
            <a:extLst>
              <a:ext uri="{FF2B5EF4-FFF2-40B4-BE49-F238E27FC236}">
                <a16:creationId xmlns:a16="http://schemas.microsoft.com/office/drawing/2014/main" id="{79FD4E9C-0147-694F-5641-BEC8CB63EC58}"/>
              </a:ext>
            </a:extLst>
          </p:cNvPr>
          <p:cNvSpPr/>
          <p:nvPr/>
        </p:nvSpPr>
        <p:spPr>
          <a:xfrm>
            <a:off x="10896255"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2" name="Rectangle: Rounded Corners 11">
            <a:extLst>
              <a:ext uri="{FF2B5EF4-FFF2-40B4-BE49-F238E27FC236}">
                <a16:creationId xmlns:a16="http://schemas.microsoft.com/office/drawing/2014/main" id="{F8D76013-B491-5F53-E608-1F341CFC390F}"/>
              </a:ext>
            </a:extLst>
          </p:cNvPr>
          <p:cNvSpPr/>
          <p:nvPr/>
        </p:nvSpPr>
        <p:spPr>
          <a:xfrm>
            <a:off x="11205932"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9" name="Rectangle: Rounded Corners 18">
            <a:extLst>
              <a:ext uri="{FF2B5EF4-FFF2-40B4-BE49-F238E27FC236}">
                <a16:creationId xmlns:a16="http://schemas.microsoft.com/office/drawing/2014/main" id="{0D164DCB-424A-E26C-00E3-35F52538C96C}"/>
              </a:ext>
            </a:extLst>
          </p:cNvPr>
          <p:cNvSpPr/>
          <p:nvPr/>
        </p:nvSpPr>
        <p:spPr>
          <a:xfrm>
            <a:off x="11205932"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pic>
        <p:nvPicPr>
          <p:cNvPr id="26" name="Picture 25">
            <a:extLst>
              <a:ext uri="{FF2B5EF4-FFF2-40B4-BE49-F238E27FC236}">
                <a16:creationId xmlns:a16="http://schemas.microsoft.com/office/drawing/2014/main" id="{66BFB5FA-24FA-BA8A-FD85-A2F483F36D84}"/>
              </a:ext>
            </a:extLst>
          </p:cNvPr>
          <p:cNvPicPr>
            <a:picLocks noChangeAspect="1"/>
          </p:cNvPicPr>
          <p:nvPr/>
        </p:nvPicPr>
        <p:blipFill>
          <a:blip r:embed="rId5"/>
          <a:stretch>
            <a:fillRect/>
          </a:stretch>
        </p:blipFill>
        <p:spPr>
          <a:xfrm>
            <a:off x="6714491" y="4133266"/>
            <a:ext cx="3987200" cy="224280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6E68B9EC-EFF6-DFFA-D3B2-85562675F9B1}"/>
              </a:ext>
            </a:extLst>
          </p:cNvPr>
          <p:cNvPicPr>
            <a:picLocks noChangeAspect="1"/>
          </p:cNvPicPr>
          <p:nvPr/>
        </p:nvPicPr>
        <p:blipFill>
          <a:blip r:embed="rId6"/>
          <a:stretch>
            <a:fillRect/>
          </a:stretch>
        </p:blipFill>
        <p:spPr>
          <a:xfrm>
            <a:off x="6714491" y="1709681"/>
            <a:ext cx="3987200" cy="2242800"/>
          </a:xfrm>
          <a:prstGeom prst="rect">
            <a:avLst/>
          </a:prstGeom>
          <a:effectLst>
            <a:outerShdw blurRad="50800" dist="38100" dir="5400000" algn="t" rotWithShape="0">
              <a:prstClr val="black">
                <a:alpha val="40000"/>
              </a:prstClr>
            </a:outerShdw>
          </a:effectLst>
        </p:spPr>
      </p:pic>
      <p:pic>
        <p:nvPicPr>
          <p:cNvPr id="28" name="Picture 27">
            <a:extLst>
              <a:ext uri="{FF2B5EF4-FFF2-40B4-BE49-F238E27FC236}">
                <a16:creationId xmlns:a16="http://schemas.microsoft.com/office/drawing/2014/main" id="{A915DE5F-9108-95A2-7BEF-1296F8732FFA}"/>
              </a:ext>
            </a:extLst>
          </p:cNvPr>
          <p:cNvPicPr>
            <a:picLocks noChangeAspect="1"/>
          </p:cNvPicPr>
          <p:nvPr/>
        </p:nvPicPr>
        <p:blipFill>
          <a:blip r:embed="rId7"/>
          <a:stretch>
            <a:fillRect/>
          </a:stretch>
        </p:blipFill>
        <p:spPr>
          <a:xfrm>
            <a:off x="1571871" y="4133266"/>
            <a:ext cx="3987200" cy="2242800"/>
          </a:xfrm>
          <a:prstGeom prst="rect">
            <a:avLst/>
          </a:prstGeom>
          <a:effectLst>
            <a:outerShdw blurRad="50800" dist="38100" dir="5400000" algn="t" rotWithShape="0">
              <a:prstClr val="black">
                <a:alpha val="40000"/>
              </a:prstClr>
            </a:outerShdw>
          </a:effectLst>
        </p:spPr>
      </p:pic>
      <p:pic>
        <p:nvPicPr>
          <p:cNvPr id="29" name="Picture 28">
            <a:extLst>
              <a:ext uri="{FF2B5EF4-FFF2-40B4-BE49-F238E27FC236}">
                <a16:creationId xmlns:a16="http://schemas.microsoft.com/office/drawing/2014/main" id="{76D97A86-CDD7-D339-3851-5B65A7328F80}"/>
              </a:ext>
            </a:extLst>
          </p:cNvPr>
          <p:cNvPicPr>
            <a:picLocks noChangeAspect="1"/>
          </p:cNvPicPr>
          <p:nvPr/>
        </p:nvPicPr>
        <p:blipFill>
          <a:blip r:embed="rId8"/>
          <a:stretch>
            <a:fillRect/>
          </a:stretch>
        </p:blipFill>
        <p:spPr>
          <a:xfrm>
            <a:off x="1571871" y="1710247"/>
            <a:ext cx="3981649" cy="2241668"/>
          </a:xfrm>
          <a:prstGeom prst="rect">
            <a:avLst/>
          </a:prstGeom>
          <a:effectLst>
            <a:outerShdw blurRad="50800" dist="38100" dir="5400000" algn="t" rotWithShape="0">
              <a:prstClr val="black">
                <a:alpha val="40000"/>
              </a:prstClr>
            </a:outerShdw>
          </a:effectLst>
        </p:spPr>
      </p:pic>
      <p:sp>
        <p:nvSpPr>
          <p:cNvPr id="4" name="Footer Placeholder 3">
            <a:extLst>
              <a:ext uri="{FF2B5EF4-FFF2-40B4-BE49-F238E27FC236}">
                <a16:creationId xmlns:a16="http://schemas.microsoft.com/office/drawing/2014/main" id="{C8A687F2-D675-9A9B-79A6-B6B4CF39F2C0}"/>
              </a:ext>
            </a:extLst>
          </p:cNvPr>
          <p:cNvSpPr>
            <a:spLocks noGrp="1"/>
          </p:cNvSpPr>
          <p:nvPr>
            <p:ph type="ftr" sz="quarter" idx="3"/>
          </p:nvPr>
        </p:nvSpPr>
        <p:spPr/>
        <p:txBody>
          <a:bodyPr/>
          <a:lstStyle/>
          <a:p>
            <a:r>
              <a:rPr lang="en-US" dirty="0"/>
              <a:t>Domont Consulting</a:t>
            </a:r>
          </a:p>
        </p:txBody>
      </p:sp>
      <p:sp>
        <p:nvSpPr>
          <p:cNvPr id="20" name="Slide Number Placeholder 19">
            <a:extLst>
              <a:ext uri="{FF2B5EF4-FFF2-40B4-BE49-F238E27FC236}">
                <a16:creationId xmlns:a16="http://schemas.microsoft.com/office/drawing/2014/main" id="{2B3A34EB-08C8-1559-3AE2-CB3C9A498395}"/>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4075100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834052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6" name="Picture 25">
            <a:extLst>
              <a:ext uri="{FF2B5EF4-FFF2-40B4-BE49-F238E27FC236}">
                <a16:creationId xmlns:a16="http://schemas.microsoft.com/office/drawing/2014/main" id="{21573A11-8D30-F8DF-9BEE-9014DB6203E6}"/>
              </a:ext>
            </a:extLst>
          </p:cNvPr>
          <p:cNvPicPr>
            <a:picLocks noChangeAspect="1"/>
          </p:cNvPicPr>
          <p:nvPr/>
        </p:nvPicPr>
        <p:blipFill>
          <a:blip r:embed="rId5"/>
          <a:stretch>
            <a:fillRect/>
          </a:stretch>
        </p:blipFill>
        <p:spPr>
          <a:xfrm>
            <a:off x="6714491" y="1720294"/>
            <a:ext cx="3987200" cy="224280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8C500736-DD2F-935D-28A2-C1744999C6CB}"/>
              </a:ext>
            </a:extLst>
          </p:cNvPr>
          <p:cNvPicPr>
            <a:picLocks noChangeAspect="1"/>
          </p:cNvPicPr>
          <p:nvPr/>
        </p:nvPicPr>
        <p:blipFill>
          <a:blip r:embed="rId6"/>
          <a:stretch>
            <a:fillRect/>
          </a:stretch>
        </p:blipFill>
        <p:spPr>
          <a:xfrm>
            <a:off x="1571871" y="1720294"/>
            <a:ext cx="3987200" cy="2242800"/>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9CB75D8B-E63D-8B1A-C348-D05836542269}"/>
              </a:ext>
            </a:extLst>
          </p:cNvPr>
          <p:cNvPicPr>
            <a:picLocks noChangeAspect="1"/>
          </p:cNvPicPr>
          <p:nvPr/>
        </p:nvPicPr>
        <p:blipFill>
          <a:blip r:embed="rId7"/>
          <a:stretch>
            <a:fillRect/>
          </a:stretch>
        </p:blipFill>
        <p:spPr>
          <a:xfrm>
            <a:off x="6714491" y="4143292"/>
            <a:ext cx="3987199" cy="22428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phase 6 ‘Change Management, Internal Communication and Stakeholder Engagement’</a:t>
            </a:r>
            <a:endParaRPr lang="en-US" b="0" dirty="0"/>
          </a:p>
        </p:txBody>
      </p:sp>
      <p:sp>
        <p:nvSpPr>
          <p:cNvPr id="13" name="Rectangle: Rounded Corners 12">
            <a:extLst>
              <a:ext uri="{FF2B5EF4-FFF2-40B4-BE49-F238E27FC236}">
                <a16:creationId xmlns:a16="http://schemas.microsoft.com/office/drawing/2014/main" id="{3A1DE33E-EB84-CFA3-DADE-60337BDE9DFB}"/>
              </a:ext>
            </a:extLst>
          </p:cNvPr>
          <p:cNvSpPr/>
          <p:nvPr/>
        </p:nvSpPr>
        <p:spPr>
          <a:xfrm>
            <a:off x="9877648" y="317253"/>
            <a:ext cx="1695866" cy="181975"/>
          </a:xfrm>
          <a:prstGeom prst="roundRect">
            <a:avLst>
              <a:gd name="adj" fmla="val 2394"/>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bg1">
                  <a:lumMod val="95000"/>
                </a:schemeClr>
              </a:solidFill>
            </a:endParaRPr>
          </a:p>
        </p:txBody>
      </p:sp>
      <p:sp>
        <p:nvSpPr>
          <p:cNvPr id="14" name="Rectangle: Rounded Corners 13">
            <a:extLst>
              <a:ext uri="{FF2B5EF4-FFF2-40B4-BE49-F238E27FC236}">
                <a16:creationId xmlns:a16="http://schemas.microsoft.com/office/drawing/2014/main" id="{67DEF38A-FD79-4818-B46C-14F237E0F9FB}"/>
              </a:ext>
            </a:extLst>
          </p:cNvPr>
          <p:cNvSpPr/>
          <p:nvPr/>
        </p:nvSpPr>
        <p:spPr>
          <a:xfrm>
            <a:off x="9877648" y="533919"/>
            <a:ext cx="1695866" cy="487278"/>
          </a:xfrm>
          <a:prstGeom prst="roundRect">
            <a:avLst>
              <a:gd name="adj" fmla="val 60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b="1" dirty="0">
              <a:solidFill>
                <a:schemeClr val="tx1"/>
              </a:solidFill>
            </a:endParaRPr>
          </a:p>
        </p:txBody>
      </p:sp>
      <p:sp>
        <p:nvSpPr>
          <p:cNvPr id="15" name="Rectangle: Rounded Corners 14">
            <a:extLst>
              <a:ext uri="{FF2B5EF4-FFF2-40B4-BE49-F238E27FC236}">
                <a16:creationId xmlns:a16="http://schemas.microsoft.com/office/drawing/2014/main" id="{F1B5EC43-BF81-6D0E-BCB7-180E8E7435E1}"/>
              </a:ext>
            </a:extLst>
          </p:cNvPr>
          <p:cNvSpPr/>
          <p:nvPr/>
        </p:nvSpPr>
        <p:spPr>
          <a:xfrm>
            <a:off x="9877648" y="1152984"/>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6" name="Rectangle: Rounded Corners 15">
            <a:extLst>
              <a:ext uri="{FF2B5EF4-FFF2-40B4-BE49-F238E27FC236}">
                <a16:creationId xmlns:a16="http://schemas.microsoft.com/office/drawing/2014/main" id="{C368E3D6-2116-2E18-8725-4C5E32279F0E}"/>
              </a:ext>
            </a:extLst>
          </p:cNvPr>
          <p:cNvSpPr/>
          <p:nvPr/>
        </p:nvSpPr>
        <p:spPr>
          <a:xfrm>
            <a:off x="9877648" y="1250078"/>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17" name="Rectangle: Rounded Corners 16">
            <a:extLst>
              <a:ext uri="{FF2B5EF4-FFF2-40B4-BE49-F238E27FC236}">
                <a16:creationId xmlns:a16="http://schemas.microsoft.com/office/drawing/2014/main" id="{C59A6CEF-E5FE-D9D3-5D53-8E987F9A3484}"/>
              </a:ext>
            </a:extLst>
          </p:cNvPr>
          <p:cNvSpPr/>
          <p:nvPr/>
        </p:nvSpPr>
        <p:spPr>
          <a:xfrm>
            <a:off x="9877648" y="1347173"/>
            <a:ext cx="1695866" cy="72000"/>
          </a:xfrm>
          <a:prstGeom prst="roundRect">
            <a:avLst>
              <a:gd name="adj" fmla="val 92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kern="0" dirty="0">
              <a:solidFill>
                <a:schemeClr val="tx1"/>
              </a:solidFill>
            </a:endParaRPr>
          </a:p>
        </p:txBody>
      </p:sp>
      <p:sp>
        <p:nvSpPr>
          <p:cNvPr id="18" name="Rectangle: Rounded Corners 17">
            <a:extLst>
              <a:ext uri="{FF2B5EF4-FFF2-40B4-BE49-F238E27FC236}">
                <a16:creationId xmlns:a16="http://schemas.microsoft.com/office/drawing/2014/main" id="{C2F24FBD-6B7F-3D3D-6095-6AA08B8EBC39}"/>
              </a:ext>
            </a:extLst>
          </p:cNvPr>
          <p:cNvSpPr/>
          <p:nvPr/>
        </p:nvSpPr>
        <p:spPr>
          <a:xfrm>
            <a:off x="9877648" y="1055890"/>
            <a:ext cx="1695866" cy="72000"/>
          </a:xfrm>
          <a:prstGeom prst="roundRect">
            <a:avLst>
              <a:gd name="adj" fmla="val 929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tx1"/>
              </a:solidFill>
            </a:endParaRPr>
          </a:p>
        </p:txBody>
      </p:sp>
      <p:sp>
        <p:nvSpPr>
          <p:cNvPr id="76" name="Rectangle: Rounded Corners 75">
            <a:extLst>
              <a:ext uri="{FF2B5EF4-FFF2-40B4-BE49-F238E27FC236}">
                <a16:creationId xmlns:a16="http://schemas.microsoft.com/office/drawing/2014/main" id="{CFBE3C49-B4E1-51BB-C14B-91B7BE9BE64B}"/>
              </a:ext>
            </a:extLst>
          </p:cNvPr>
          <p:cNvSpPr/>
          <p:nvPr/>
        </p:nvSpPr>
        <p:spPr>
          <a:xfrm>
            <a:off x="9967224"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2" name="Rectangle: Rounded Corners 81">
            <a:extLst>
              <a:ext uri="{FF2B5EF4-FFF2-40B4-BE49-F238E27FC236}">
                <a16:creationId xmlns:a16="http://schemas.microsoft.com/office/drawing/2014/main" id="{75DD022F-3BD3-9106-39C7-A6D7E8EDAD4B}"/>
              </a:ext>
            </a:extLst>
          </p:cNvPr>
          <p:cNvSpPr/>
          <p:nvPr/>
        </p:nvSpPr>
        <p:spPr>
          <a:xfrm>
            <a:off x="9967224"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3" name="Arrow: Right 2">
            <a:extLst>
              <a:ext uri="{FF2B5EF4-FFF2-40B4-BE49-F238E27FC236}">
                <a16:creationId xmlns:a16="http://schemas.microsoft.com/office/drawing/2014/main" id="{FD7EE931-6AD5-D45D-476B-2726384F99CA}"/>
              </a:ext>
            </a:extLst>
          </p:cNvPr>
          <p:cNvSpPr/>
          <p:nvPr/>
        </p:nvSpPr>
        <p:spPr>
          <a:xfrm>
            <a:off x="9649778" y="1283414"/>
            <a:ext cx="188259" cy="204654"/>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Rectangle: Rounded Corners 4">
            <a:extLst>
              <a:ext uri="{FF2B5EF4-FFF2-40B4-BE49-F238E27FC236}">
                <a16:creationId xmlns:a16="http://schemas.microsoft.com/office/drawing/2014/main" id="{F0D767BE-7F08-C9F6-8590-E385E4590C68}"/>
              </a:ext>
            </a:extLst>
          </p:cNvPr>
          <p:cNvSpPr/>
          <p:nvPr/>
        </p:nvSpPr>
        <p:spPr>
          <a:xfrm>
            <a:off x="10276901"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7" name="Rectangle: Rounded Corners 6">
            <a:extLst>
              <a:ext uri="{FF2B5EF4-FFF2-40B4-BE49-F238E27FC236}">
                <a16:creationId xmlns:a16="http://schemas.microsoft.com/office/drawing/2014/main" id="{F2F23D4D-9E57-627E-F77F-A73F8B19ECD1}"/>
              </a:ext>
            </a:extLst>
          </p:cNvPr>
          <p:cNvSpPr/>
          <p:nvPr/>
        </p:nvSpPr>
        <p:spPr>
          <a:xfrm>
            <a:off x="10276901"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8" name="Rectangle: Rounded Corners 7">
            <a:extLst>
              <a:ext uri="{FF2B5EF4-FFF2-40B4-BE49-F238E27FC236}">
                <a16:creationId xmlns:a16="http://schemas.microsoft.com/office/drawing/2014/main" id="{034B92C9-9A98-AF8C-FF06-BF7E269798E7}"/>
              </a:ext>
            </a:extLst>
          </p:cNvPr>
          <p:cNvSpPr/>
          <p:nvPr/>
        </p:nvSpPr>
        <p:spPr>
          <a:xfrm>
            <a:off x="10586578"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9" name="Rectangle: Rounded Corners 8">
            <a:extLst>
              <a:ext uri="{FF2B5EF4-FFF2-40B4-BE49-F238E27FC236}">
                <a16:creationId xmlns:a16="http://schemas.microsoft.com/office/drawing/2014/main" id="{19D9F4FA-6444-6050-018E-6391A5206C5B}"/>
              </a:ext>
            </a:extLst>
          </p:cNvPr>
          <p:cNvSpPr/>
          <p:nvPr/>
        </p:nvSpPr>
        <p:spPr>
          <a:xfrm>
            <a:off x="10586578"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0" name="Rectangle: Rounded Corners 9">
            <a:extLst>
              <a:ext uri="{FF2B5EF4-FFF2-40B4-BE49-F238E27FC236}">
                <a16:creationId xmlns:a16="http://schemas.microsoft.com/office/drawing/2014/main" id="{2C07BD53-558F-FA96-3DBF-9D56F5DE43B9}"/>
              </a:ext>
            </a:extLst>
          </p:cNvPr>
          <p:cNvSpPr/>
          <p:nvPr/>
        </p:nvSpPr>
        <p:spPr>
          <a:xfrm>
            <a:off x="10896255"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1" name="Rectangle: Rounded Corners 10">
            <a:extLst>
              <a:ext uri="{FF2B5EF4-FFF2-40B4-BE49-F238E27FC236}">
                <a16:creationId xmlns:a16="http://schemas.microsoft.com/office/drawing/2014/main" id="{79FD4E9C-0147-694F-5641-BEC8CB63EC58}"/>
              </a:ext>
            </a:extLst>
          </p:cNvPr>
          <p:cNvSpPr/>
          <p:nvPr/>
        </p:nvSpPr>
        <p:spPr>
          <a:xfrm>
            <a:off x="10896255"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2" name="Rectangle: Rounded Corners 11">
            <a:extLst>
              <a:ext uri="{FF2B5EF4-FFF2-40B4-BE49-F238E27FC236}">
                <a16:creationId xmlns:a16="http://schemas.microsoft.com/office/drawing/2014/main" id="{F8D76013-B491-5F53-E608-1F341CFC390F}"/>
              </a:ext>
            </a:extLst>
          </p:cNvPr>
          <p:cNvSpPr/>
          <p:nvPr/>
        </p:nvSpPr>
        <p:spPr>
          <a:xfrm>
            <a:off x="11205932" y="602405"/>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19" name="Rectangle: Rounded Corners 18">
            <a:extLst>
              <a:ext uri="{FF2B5EF4-FFF2-40B4-BE49-F238E27FC236}">
                <a16:creationId xmlns:a16="http://schemas.microsoft.com/office/drawing/2014/main" id="{0D164DCB-424A-E26C-00E3-35F52538C96C}"/>
              </a:ext>
            </a:extLst>
          </p:cNvPr>
          <p:cNvSpPr/>
          <p:nvPr/>
        </p:nvSpPr>
        <p:spPr>
          <a:xfrm>
            <a:off x="11205932" y="808802"/>
            <a:ext cx="252000" cy="137912"/>
          </a:xfrm>
          <a:prstGeom prst="roundRect">
            <a:avLst/>
          </a:prstGeom>
          <a:solidFill>
            <a:schemeClr val="bg1">
              <a:lumMod val="75000"/>
            </a:schemeClr>
          </a:solidFill>
          <a:ln w="9525" algn="ctr">
            <a:solidFill>
              <a:schemeClr val="accent1"/>
            </a:solidFill>
            <a:prstDash val="dash"/>
            <a:miter lim="800000"/>
            <a:headEnd/>
            <a:tailEnd/>
          </a:ln>
          <a:effectLst/>
        </p:spPr>
        <p:txBody>
          <a:bodyPr wrap="square" tIns="126000" bIns="91440" anchor="ctr">
            <a:noAutofit/>
          </a:bodyPr>
          <a:lstStyle/>
          <a:p>
            <a:pPr marL="446088"/>
            <a:endParaRPr lang="en-US" sz="1200" b="1" dirty="0">
              <a:solidFill>
                <a:schemeClr val="tx2"/>
              </a:solidFill>
            </a:endParaRPr>
          </a:p>
        </p:txBody>
      </p:sp>
      <p:sp>
        <p:nvSpPr>
          <p:cNvPr id="21" name="Footer Placeholder 20">
            <a:extLst>
              <a:ext uri="{FF2B5EF4-FFF2-40B4-BE49-F238E27FC236}">
                <a16:creationId xmlns:a16="http://schemas.microsoft.com/office/drawing/2014/main" id="{DC6F8D46-B23A-CF6C-C473-3089DF08B3F4}"/>
              </a:ext>
            </a:extLst>
          </p:cNvPr>
          <p:cNvSpPr>
            <a:spLocks noGrp="1"/>
          </p:cNvSpPr>
          <p:nvPr>
            <p:ph type="ftr" sz="quarter" idx="3"/>
          </p:nvPr>
        </p:nvSpPr>
        <p:spPr/>
        <p:txBody>
          <a:bodyPr/>
          <a:lstStyle/>
          <a:p>
            <a:r>
              <a:rPr lang="en-US" dirty="0"/>
              <a:t>Domont Consulting</a:t>
            </a:r>
          </a:p>
        </p:txBody>
      </p:sp>
      <p:sp>
        <p:nvSpPr>
          <p:cNvPr id="22" name="Slide Number Placeholder 21">
            <a:extLst>
              <a:ext uri="{FF2B5EF4-FFF2-40B4-BE49-F238E27FC236}">
                <a16:creationId xmlns:a16="http://schemas.microsoft.com/office/drawing/2014/main" id="{9086F187-0495-BDDA-9E05-A2B4E3B91068}"/>
              </a:ext>
            </a:extLst>
          </p:cNvPr>
          <p:cNvSpPr>
            <a:spLocks noGrp="1"/>
          </p:cNvSpPr>
          <p:nvPr>
            <p:ph type="sldNum" sz="quarter" idx="4"/>
          </p:nvPr>
        </p:nvSpPr>
        <p:spPr/>
        <p:txBody>
          <a:bodyPr/>
          <a:lstStyle/>
          <a:p>
            <a:fld id="{37F5C94B-8C55-478B-B509-BAE6A06B2E2A}" type="slidenum">
              <a:rPr lang="en-US" smtClean="0"/>
              <a:pPr/>
              <a:t>16</a:t>
            </a:fld>
            <a:endParaRPr lang="en-US" dirty="0"/>
          </a:p>
        </p:txBody>
      </p:sp>
      <p:pic>
        <p:nvPicPr>
          <p:cNvPr id="23" name="Picture 22">
            <a:extLst>
              <a:ext uri="{FF2B5EF4-FFF2-40B4-BE49-F238E27FC236}">
                <a16:creationId xmlns:a16="http://schemas.microsoft.com/office/drawing/2014/main" id="{FB0D1C6F-5B56-3A82-6F0B-6D239C1F4FCC}"/>
              </a:ext>
            </a:extLst>
          </p:cNvPr>
          <p:cNvPicPr>
            <a:picLocks noChangeAspect="1"/>
          </p:cNvPicPr>
          <p:nvPr/>
        </p:nvPicPr>
        <p:blipFill rotWithShape="1">
          <a:blip r:embed="rId8"/>
          <a:srcRect l="1600"/>
          <a:stretch/>
        </p:blipFill>
        <p:spPr>
          <a:xfrm>
            <a:off x="1559514" y="4133506"/>
            <a:ext cx="3992410" cy="2252586"/>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773617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6" name="Rectangle: Rounded Corners 5">
            <a:extLst>
              <a:ext uri="{FF2B5EF4-FFF2-40B4-BE49-F238E27FC236}">
                <a16:creationId xmlns:a16="http://schemas.microsoft.com/office/drawing/2014/main" id="{E1C86821-54CE-8A1B-CBED-54B7AF9E8611}"/>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1B22B2CC-25AA-263D-1020-C20A807B7EB8}"/>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D0572104-6430-3E61-5813-3590A3CFE972}"/>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D6B23995-4475-E84D-EF57-7992732496E4}"/>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2">
            <a:extLst>
              <a:ext uri="{FF2B5EF4-FFF2-40B4-BE49-F238E27FC236}">
                <a16:creationId xmlns:a16="http://schemas.microsoft.com/office/drawing/2014/main" id="{F8D9CE97-3B89-11F5-DD37-F399ADABEF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ownload Microsoft Excel Logo in SVG Vector or PNG File Format - Logo.wine">
            <a:extLst>
              <a:ext uri="{FF2B5EF4-FFF2-40B4-BE49-F238E27FC236}">
                <a16:creationId xmlns:a16="http://schemas.microsoft.com/office/drawing/2014/main" id="{B71C95D7-A854-1E0E-C591-CD4E72F4E2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Open folder outline">
            <a:extLst>
              <a:ext uri="{FF2B5EF4-FFF2-40B4-BE49-F238E27FC236}">
                <a16:creationId xmlns:a16="http://schemas.microsoft.com/office/drawing/2014/main" id="{9EE88CF5-F9D5-B7D1-ABD0-E1C6B217D73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14" name="TextBox 13">
            <a:extLst>
              <a:ext uri="{FF2B5EF4-FFF2-40B4-BE49-F238E27FC236}">
                <a16:creationId xmlns:a16="http://schemas.microsoft.com/office/drawing/2014/main" id="{4A437ECF-467E-1AD6-2C2E-4087FF953203}"/>
              </a:ext>
            </a:extLst>
          </p:cNvPr>
          <p:cNvSpPr txBox="1"/>
          <p:nvPr/>
        </p:nvSpPr>
        <p:spPr>
          <a:xfrm>
            <a:off x="1863088" y="1994804"/>
            <a:ext cx="4400551" cy="338554"/>
          </a:xfrm>
          <a:prstGeom prst="rect">
            <a:avLst/>
          </a:prstGeom>
          <a:noFill/>
        </p:spPr>
        <p:txBody>
          <a:bodyPr wrap="square" rtlCol="0">
            <a:spAutoFit/>
          </a:bodyPr>
          <a:lstStyle/>
          <a:p>
            <a:r>
              <a:rPr lang="en-US" sz="1600" b="1" dirty="0"/>
              <a:t>550 editable PowerPoint slides*</a:t>
            </a:r>
          </a:p>
        </p:txBody>
      </p:sp>
      <p:sp>
        <p:nvSpPr>
          <p:cNvPr id="15" name="TextBox 14">
            <a:extLst>
              <a:ext uri="{FF2B5EF4-FFF2-40B4-BE49-F238E27FC236}">
                <a16:creationId xmlns:a16="http://schemas.microsoft.com/office/drawing/2014/main" id="{777600B6-F58C-3E6A-BB6D-D47C974412BF}"/>
              </a:ext>
            </a:extLst>
          </p:cNvPr>
          <p:cNvSpPr txBox="1"/>
          <p:nvPr/>
        </p:nvSpPr>
        <p:spPr>
          <a:xfrm>
            <a:off x="1863088" y="3125122"/>
            <a:ext cx="3005768" cy="338554"/>
          </a:xfrm>
          <a:prstGeom prst="rect">
            <a:avLst/>
          </a:prstGeom>
          <a:noFill/>
        </p:spPr>
        <p:txBody>
          <a:bodyPr wrap="square" rtlCol="0">
            <a:spAutoFit/>
          </a:bodyPr>
          <a:lstStyle/>
          <a:p>
            <a:r>
              <a:rPr lang="en-US" sz="1600" b="1" dirty="0"/>
              <a:t>27 Excel sheets*</a:t>
            </a:r>
          </a:p>
        </p:txBody>
      </p:sp>
      <p:sp>
        <p:nvSpPr>
          <p:cNvPr id="17" name="TextBox 16">
            <a:extLst>
              <a:ext uri="{FF2B5EF4-FFF2-40B4-BE49-F238E27FC236}">
                <a16:creationId xmlns:a16="http://schemas.microsoft.com/office/drawing/2014/main" id="{FE597C27-D46E-623C-682B-08389CD25348}"/>
              </a:ext>
            </a:extLst>
          </p:cNvPr>
          <p:cNvSpPr txBox="1"/>
          <p:nvPr/>
        </p:nvSpPr>
        <p:spPr>
          <a:xfrm>
            <a:off x="1863088" y="4153332"/>
            <a:ext cx="3450672" cy="338554"/>
          </a:xfrm>
          <a:prstGeom prst="rect">
            <a:avLst/>
          </a:prstGeom>
          <a:noFill/>
        </p:spPr>
        <p:txBody>
          <a:bodyPr wrap="square" rtlCol="0">
            <a:spAutoFit/>
          </a:bodyPr>
          <a:lstStyle/>
          <a:p>
            <a:r>
              <a:rPr lang="en-US" sz="1600" b="1" dirty="0"/>
              <a:t>1 hour of Video training</a:t>
            </a:r>
          </a:p>
        </p:txBody>
      </p:sp>
      <p:sp>
        <p:nvSpPr>
          <p:cNvPr id="19" name="Rectangle 18">
            <a:extLst>
              <a:ext uri="{FF2B5EF4-FFF2-40B4-BE49-F238E27FC236}">
                <a16:creationId xmlns:a16="http://schemas.microsoft.com/office/drawing/2014/main" id="{58B932BA-CA7A-E3C4-9CC0-B95F841B1AA1}"/>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0FE0B1D-EED1-17BD-8FCD-7A8076B46A80}"/>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0FC0FE-A163-ED1A-A296-D87A1C3FBA7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99470BB-701E-9F9B-5EED-CC4D40F693E5}"/>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CBE2770C-6D4F-9F15-A358-CC0DFDE1D3D0}"/>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4" name="TextBox 3">
            <a:extLst>
              <a:ext uri="{FF2B5EF4-FFF2-40B4-BE49-F238E27FC236}">
                <a16:creationId xmlns:a16="http://schemas.microsoft.com/office/drawing/2014/main" id="{3DA7D5B7-F351-613B-43C9-E391CFAFC58A}"/>
              </a:ext>
            </a:extLst>
          </p:cNvPr>
          <p:cNvSpPr txBox="1"/>
          <p:nvPr/>
        </p:nvSpPr>
        <p:spPr>
          <a:xfrm>
            <a:off x="1863087" y="5008794"/>
            <a:ext cx="9707760" cy="806123"/>
          </a:xfrm>
          <a:prstGeom prst="rect">
            <a:avLst/>
          </a:prstGeom>
          <a:noFill/>
        </p:spPr>
        <p:txBody>
          <a:bodyPr wrap="square" numCol="2" rtlCol="0">
            <a:noAutofit/>
          </a:bodyPr>
          <a:lstStyle/>
          <a:p>
            <a:pPr marL="228600" indent="-228600">
              <a:buFont typeface="+mj-lt"/>
              <a:buAutoNum type="arabicPeriod"/>
            </a:pPr>
            <a:r>
              <a:rPr lang="en-US" sz="1100" dirty="0"/>
              <a:t>Overview and Approach</a:t>
            </a:r>
          </a:p>
          <a:p>
            <a:pPr marL="228600" indent="-228600">
              <a:buFont typeface="+mj-lt"/>
              <a:buAutoNum type="arabicPeriod"/>
            </a:pPr>
            <a:r>
              <a:rPr lang="en-US" sz="1100" dirty="0"/>
              <a:t>HR and Talent Management Strategy</a:t>
            </a:r>
          </a:p>
          <a:p>
            <a:pPr marL="228600" indent="-228600">
              <a:buFont typeface="+mj-lt"/>
              <a:buAutoNum type="arabicPeriod"/>
            </a:pPr>
            <a:r>
              <a:rPr lang="en-US" sz="1100" dirty="0"/>
              <a:t>Ten Pillars</a:t>
            </a:r>
          </a:p>
          <a:p>
            <a:pPr marL="228600" indent="-228600">
              <a:buFont typeface="+mj-lt"/>
              <a:buAutoNum type="arabicPeriod"/>
            </a:pPr>
            <a:r>
              <a:rPr lang="en-US" sz="1100" dirty="0"/>
              <a:t>Potential Initiatives</a:t>
            </a:r>
          </a:p>
          <a:p>
            <a:pPr marL="228600" indent="-228600">
              <a:buFont typeface="+mj-lt"/>
              <a:buAutoNum type="arabicPeriod"/>
            </a:pPr>
            <a:r>
              <a:rPr lang="en-US" sz="1100" dirty="0"/>
              <a:t>Business Cases and Financial Models</a:t>
            </a:r>
          </a:p>
          <a:p>
            <a:pPr marL="228600" indent="-228600">
              <a:buFont typeface="+mj-lt"/>
              <a:buAutoNum type="arabicPeriod"/>
            </a:pPr>
            <a:r>
              <a:rPr lang="en-US" sz="1100" dirty="0"/>
              <a:t>Project Prioritization, Business Roadmap and Implementation</a:t>
            </a:r>
          </a:p>
          <a:p>
            <a:pPr marL="228600" indent="-228600">
              <a:buFont typeface="+mj-lt"/>
              <a:buAutoNum type="arabicPeriod"/>
            </a:pPr>
            <a:r>
              <a:rPr lang="en-US" sz="1100" dirty="0"/>
              <a:t>Change Management, Internal Communication &amp; Stakeholder Engagement</a:t>
            </a:r>
          </a:p>
        </p:txBody>
      </p:sp>
      <p:sp>
        <p:nvSpPr>
          <p:cNvPr id="3" name="Footer Placeholder 2">
            <a:extLst>
              <a:ext uri="{FF2B5EF4-FFF2-40B4-BE49-F238E27FC236}">
                <a16:creationId xmlns:a16="http://schemas.microsoft.com/office/drawing/2014/main" id="{6BAB1B60-0E9A-4A45-18AA-0E6AE382C27F}"/>
              </a:ext>
            </a:extLst>
          </p:cNvPr>
          <p:cNvSpPr>
            <a:spLocks noGrp="1"/>
          </p:cNvSpPr>
          <p:nvPr>
            <p:ph type="ftr" sz="quarter" idx="3"/>
          </p:nvPr>
        </p:nvSpPr>
        <p:spPr/>
        <p:txBody>
          <a:bodyPr/>
          <a:lstStyle/>
          <a:p>
            <a:r>
              <a:rPr lang="en-US" dirty="0"/>
              <a:t>Domont Consulting</a:t>
            </a:r>
          </a:p>
        </p:txBody>
      </p:sp>
      <p:sp>
        <p:nvSpPr>
          <p:cNvPr id="18" name="Slide Number Placeholder 17">
            <a:extLst>
              <a:ext uri="{FF2B5EF4-FFF2-40B4-BE49-F238E27FC236}">
                <a16:creationId xmlns:a16="http://schemas.microsoft.com/office/drawing/2014/main" id="{DE818C32-C88D-17EE-9E0D-4ECFF26E8705}"/>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6" name="Footer Placeholder 5">
            <a:extLst>
              <a:ext uri="{FF2B5EF4-FFF2-40B4-BE49-F238E27FC236}">
                <a16:creationId xmlns:a16="http://schemas.microsoft.com/office/drawing/2014/main" id="{95ABA54E-FD10-DE6E-1CBF-D24C740BE0F5}"/>
              </a:ext>
            </a:extLst>
          </p:cNvPr>
          <p:cNvSpPr>
            <a:spLocks noGrp="1"/>
          </p:cNvSpPr>
          <p:nvPr>
            <p:ph type="ftr" sz="quarter" idx="3"/>
          </p:nvPr>
        </p:nvSpPr>
        <p:spPr/>
        <p:txBody>
          <a:bodyPr/>
          <a:lstStyle/>
          <a:p>
            <a:r>
              <a:rPr lang="en-US" dirty="0"/>
              <a:t>Domont Consulting</a:t>
            </a:r>
          </a:p>
        </p:txBody>
      </p:sp>
      <p:sp>
        <p:nvSpPr>
          <p:cNvPr id="14" name="Slide Number Placeholder 13">
            <a:extLst>
              <a:ext uri="{FF2B5EF4-FFF2-40B4-BE49-F238E27FC236}">
                <a16:creationId xmlns:a16="http://schemas.microsoft.com/office/drawing/2014/main" id="{33FA59B1-9B9F-2E09-0341-425F955AB876}"/>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2B6F5DDB-2AE4-51BB-97A4-5383B8847972}"/>
              </a:ext>
            </a:extLst>
          </p:cNvPr>
          <p:cNvSpPr>
            <a:spLocks noGrp="1"/>
          </p:cNvSpPr>
          <p:nvPr>
            <p:ph type="ftr" sz="quarter" idx="3"/>
          </p:nvPr>
        </p:nvSpPr>
        <p:spPr/>
        <p:txBody>
          <a:bodyPr/>
          <a:lstStyle/>
          <a:p>
            <a:r>
              <a:rPr lang="en-US" dirty="0"/>
              <a:t>Domont Consulting</a:t>
            </a:r>
          </a:p>
        </p:txBody>
      </p:sp>
      <p:sp>
        <p:nvSpPr>
          <p:cNvPr id="10" name="Slide Number Placeholder 9">
            <a:extLst>
              <a:ext uri="{FF2B5EF4-FFF2-40B4-BE49-F238E27FC236}">
                <a16:creationId xmlns:a16="http://schemas.microsoft.com/office/drawing/2014/main" id="{5EC45B2F-2A49-FEA8-1DD1-0BB896EB1A28}"/>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10"/>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67"/>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62"/>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69"/>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62"/>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6"/>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48"/>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6"/>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2"/>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5"/>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11" name="Footer Placeholder 10">
            <a:extLst>
              <a:ext uri="{FF2B5EF4-FFF2-40B4-BE49-F238E27FC236}">
                <a16:creationId xmlns:a16="http://schemas.microsoft.com/office/drawing/2014/main" id="{69907773-443B-A054-C9A5-A9C5041CC123}"/>
              </a:ext>
            </a:extLst>
          </p:cNvPr>
          <p:cNvSpPr>
            <a:spLocks noGrp="1"/>
          </p:cNvSpPr>
          <p:nvPr>
            <p:ph type="ftr" sz="quarter" idx="3"/>
          </p:nvPr>
        </p:nvSpPr>
        <p:spPr/>
        <p:txBody>
          <a:bodyPr/>
          <a:lstStyle/>
          <a:p>
            <a:r>
              <a:rPr lang="en-US" dirty="0"/>
              <a:t>Domont Consulting</a:t>
            </a:r>
          </a:p>
        </p:txBody>
      </p:sp>
      <p:sp>
        <p:nvSpPr>
          <p:cNvPr id="25" name="Slide Number Placeholder 24">
            <a:extLst>
              <a:ext uri="{FF2B5EF4-FFF2-40B4-BE49-F238E27FC236}">
                <a16:creationId xmlns:a16="http://schemas.microsoft.com/office/drawing/2014/main" id="{523D596B-B23D-7E74-F28E-945B058F7060}"/>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8" name="Footer Placeholder 7">
            <a:extLst>
              <a:ext uri="{FF2B5EF4-FFF2-40B4-BE49-F238E27FC236}">
                <a16:creationId xmlns:a16="http://schemas.microsoft.com/office/drawing/2014/main" id="{26F4BCED-33D6-A020-7E76-608751A68A0E}"/>
              </a:ext>
            </a:extLst>
          </p:cNvPr>
          <p:cNvSpPr>
            <a:spLocks noGrp="1"/>
          </p:cNvSpPr>
          <p:nvPr>
            <p:ph type="ftr" sz="quarter" idx="3"/>
          </p:nvPr>
        </p:nvSpPr>
        <p:spPr/>
        <p:txBody>
          <a:bodyPr/>
          <a:lstStyle/>
          <a:p>
            <a:r>
              <a:rPr lang="en-US" dirty="0"/>
              <a:t>Domont Consulting</a:t>
            </a:r>
          </a:p>
        </p:txBody>
      </p:sp>
      <p:sp>
        <p:nvSpPr>
          <p:cNvPr id="9" name="Slide Number Placeholder 8">
            <a:extLst>
              <a:ext uri="{FF2B5EF4-FFF2-40B4-BE49-F238E27FC236}">
                <a16:creationId xmlns:a16="http://schemas.microsoft.com/office/drawing/2014/main" id="{2FCA0F4A-8A9D-6DC5-FDCA-EC56556CCCFF}"/>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8" name="Footer Placeholder 7">
            <a:extLst>
              <a:ext uri="{FF2B5EF4-FFF2-40B4-BE49-F238E27FC236}">
                <a16:creationId xmlns:a16="http://schemas.microsoft.com/office/drawing/2014/main" id="{319B69A6-2885-F4E6-8FC7-1EDFA33BF262}"/>
              </a:ext>
            </a:extLst>
          </p:cNvPr>
          <p:cNvSpPr>
            <a:spLocks noGrp="1"/>
          </p:cNvSpPr>
          <p:nvPr>
            <p:ph type="ftr" sz="quarter" idx="3"/>
          </p:nvPr>
        </p:nvSpPr>
        <p:spPr/>
        <p:txBody>
          <a:bodyPr/>
          <a:lstStyle/>
          <a:p>
            <a:r>
              <a:rPr lang="en-US" dirty="0"/>
              <a:t>Domont Consulting</a:t>
            </a:r>
          </a:p>
        </p:txBody>
      </p:sp>
      <p:sp>
        <p:nvSpPr>
          <p:cNvPr id="9" name="Slide Number Placeholder 8">
            <a:extLst>
              <a:ext uri="{FF2B5EF4-FFF2-40B4-BE49-F238E27FC236}">
                <a16:creationId xmlns:a16="http://schemas.microsoft.com/office/drawing/2014/main" id="{7143E3EE-AC95-DFF2-4120-7E98A85CC9EA}"/>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yfDMdUs05hRffMQYLzAli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pXrcbAkeJ3Gg5hIkV6rPq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9YL8G8Ec53MgNjO0CgmfB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9fL9.6WrsiYoaHgEAYeVR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kFp4_wFVtSvwwwC0Y6y.7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ABWqO6Mt.WnMQuFctvVZW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f6YjvzzhxgmZcMQWMdz8J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RFds_qCuWoT78O5njlb00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IzxE3otWnCzNnCWeK1Lyt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CS6fBausvmcbQtWmyKlPz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umqU1WG8WyiGT2_uFTfAA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5rKRX626SnfF4.M4UZQt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6898</TotalTime>
  <Words>1940</Words>
  <Application>Microsoft Office PowerPoint</Application>
  <PresentationFormat>Widescreen</PresentationFormat>
  <Paragraphs>254</Paragraphs>
  <Slides>23</Slides>
  <Notes>11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1" baseType="lpstr">
      <vt:lpstr>ＭＳ Ｐゴシック</vt:lpstr>
      <vt:lpstr>Arial</vt:lpstr>
      <vt:lpstr>Arial (Body)</vt:lpstr>
      <vt:lpstr>Calibri</vt:lpstr>
      <vt:lpstr>Helvetica</vt:lpstr>
      <vt:lpstr>Lato Light</vt:lpstr>
      <vt:lpstr>1_Theme3</vt:lpstr>
      <vt:lpstr>think-cell Slide</vt:lpstr>
      <vt:lpstr>PowerPoint Presentation</vt:lpstr>
      <vt:lpstr>PowerPoint Presentation</vt:lpstr>
      <vt:lpstr>Introduction</vt:lpstr>
      <vt:lpstr>Context: Superior talent is up to 8 times more productive than average talent</vt:lpstr>
      <vt:lpstr>Problem: The HR function is often barely contributing to organizational performance</vt:lpstr>
      <vt:lpstr>Solution: Our ex-McKinsey, Deloitte &amp; BCG consultants created a Toolkit to help you reach your value creation objectives</vt:lpstr>
      <vt:lpstr>Our Toolkit will help you fulfill multiple objectives</vt:lpstr>
      <vt:lpstr>Video demonstration of the HR and Talent Management Toolkit</vt:lpstr>
      <vt:lpstr>The Toolkit includes a 6-phase approach that we have built and refined over the past 20 years through constant trial and error</vt:lpstr>
      <vt:lpstr>Small preview of the phase 1 ‘HR and Talent Management Strategy’ </vt:lpstr>
      <vt:lpstr>Small preview of the phase 2 ‘10 Pillars to reach our HR and Talent Management Strategic Objectives’ (1/2)</vt:lpstr>
      <vt:lpstr>Small preview of the phase 2 ‘10 Pillars to reach our HR and Talent Management Strategic Objectives’ (2/2)</vt:lpstr>
      <vt:lpstr>Small preview of the phase 3 ‘Potential Initiatives for each Pillar’</vt:lpstr>
      <vt:lpstr>Small preview of the phase 4 ‘Business cases and financial models to assess potential projects’</vt:lpstr>
      <vt:lpstr>Small preview of the phase 5 ‘Project Prioritization, Business Roadmap and Implementation’</vt:lpstr>
      <vt:lpstr>Small preview of the phase 6 ‘Change Management, Internal Communication and Stakeholder Engagement’</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2025-07-02T04:07:18Z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