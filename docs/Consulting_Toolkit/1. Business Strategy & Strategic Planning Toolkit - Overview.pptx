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5.xml" ContentType="application/vnd.openxmlformats-officedocument.presentationml.notesSlide+xml"/>
  <Override PartName="/ppt/tags/tag19.xml" ContentType="application/vnd.openxmlformats-officedocument.presentationml.tags+xml"/>
  <Override PartName="/ppt/notesSlides/notesSlide6.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charts/chart5.xml" ContentType="application/vnd.openxmlformats-officedocument.drawingml.chart+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7.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tags/tag76.xml" ContentType="application/vnd.openxmlformats-officedocument.presentationml.tags+xml"/>
  <Override PartName="/ppt/notesSlides/notesSlide8.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9.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10.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11.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12.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33"/>
  </p:notesMasterIdLst>
  <p:handoutMasterIdLst>
    <p:handoutMasterId r:id="rId34"/>
  </p:handoutMasterIdLst>
  <p:sldIdLst>
    <p:sldId id="527" r:id="rId5"/>
    <p:sldId id="526" r:id="rId6"/>
    <p:sldId id="3289" r:id="rId7"/>
    <p:sldId id="2559" r:id="rId8"/>
    <p:sldId id="2560" r:id="rId9"/>
    <p:sldId id="2162" r:id="rId10"/>
    <p:sldId id="3377" r:id="rId11"/>
    <p:sldId id="3294" r:id="rId12"/>
    <p:sldId id="3284" r:id="rId13"/>
    <p:sldId id="3285" r:id="rId14"/>
    <p:sldId id="3300" r:id="rId15"/>
    <p:sldId id="3302" r:id="rId16"/>
    <p:sldId id="3303" r:id="rId17"/>
    <p:sldId id="3292" r:id="rId18"/>
    <p:sldId id="3376" r:id="rId19"/>
    <p:sldId id="2562" r:id="rId20"/>
    <p:sldId id="3290" r:id="rId21"/>
    <p:sldId id="2558" r:id="rId22"/>
    <p:sldId id="2557" r:id="rId23"/>
    <p:sldId id="3291" r:id="rId24"/>
    <p:sldId id="530" r:id="rId25"/>
    <p:sldId id="2338" r:id="rId26"/>
    <p:sldId id="2034" r:id="rId27"/>
    <p:sldId id="3282" r:id="rId28"/>
    <p:sldId id="1711" r:id="rId29"/>
    <p:sldId id="1598" r:id="rId30"/>
    <p:sldId id="2240" r:id="rId31"/>
    <p:sldId id="1600" r:id="rId32"/>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3B6CF8-8A1D-47AF-8D14-DC583E3C9E29}">
          <p14:sldIdLst>
            <p14:sldId id="527"/>
            <p14:sldId id="526"/>
            <p14:sldId id="3289"/>
            <p14:sldId id="2559"/>
            <p14:sldId id="2560"/>
          </p14:sldIdLst>
        </p14:section>
        <p14:section name="Toolkit overview" id="{8F95E3A1-2D49-46DA-95AA-53E68C5F8ABA}">
          <p14:sldIdLst>
            <p14:sldId id="2162"/>
            <p14:sldId id="3377"/>
            <p14:sldId id="3294"/>
            <p14:sldId id="3284"/>
            <p14:sldId id="3285"/>
            <p14:sldId id="3300"/>
            <p14:sldId id="3302"/>
            <p14:sldId id="3303"/>
            <p14:sldId id="3292"/>
            <p14:sldId id="3376"/>
            <p14:sldId id="2562"/>
            <p14:sldId id="3290"/>
            <p14:sldId id="2558"/>
            <p14:sldId id="2557"/>
            <p14:sldId id="3291"/>
            <p14:sldId id="530"/>
            <p14:sldId id="2338"/>
          </p14:sldIdLst>
        </p14:section>
        <p14:section name="Domont Consulting overview" id="{87777135-31ED-4D65-B68C-797B56E247E4}">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B4D469-B671-444C-8BAB-5F6463EB3ACB}" v="4" dt="2025-06-25T02:24:44.912"/>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2" d="100"/>
          <a:sy n="62" d="100"/>
        </p:scale>
        <p:origin x="2496" y="31"/>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gs" Target="tags/tag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AABA1416-4740-4FEA-A91C-A3DACBE38F86}"/>
    <pc:docChg chg="undo redo custSel addSld delSld modSld sldOrd modMainMaster addSection modSection replTag modNotesMaster">
      <pc:chgData name="Aurelien Domont" userId="6da7715ce44349b3" providerId="LiveId" clId="{AABA1416-4740-4FEA-A91C-A3DACBE38F86}" dt="2024-12-06T03:16:09.106" v="14516" actId="20577"/>
      <pc:docMkLst>
        <pc:docMk/>
      </pc:docMkLst>
      <pc:sldChg chg="addSp delSp modSp mod modNotes">
        <pc:chgData name="Aurelien Domont" userId="6da7715ce44349b3" providerId="LiveId" clId="{AABA1416-4740-4FEA-A91C-A3DACBE38F86}" dt="2024-12-06T02:50:01.462" v="14514" actId="1035"/>
        <pc:sldMkLst>
          <pc:docMk/>
          <pc:sldMk cId="3956982643" sldId="526"/>
        </pc:sldMkLst>
      </pc:sldChg>
      <pc:sldChg chg="add del">
        <pc:chgData name="Aurelien Domont" userId="6da7715ce44349b3" providerId="LiveId" clId="{AABA1416-4740-4FEA-A91C-A3DACBE38F86}" dt="2023-12-08T00:08:19" v="13058"/>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2-08T00:16:14.820" v="13186" actId="313"/>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4-12-06T02:37:22.874" v="14505"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4-12-06T02:30:14.206" v="14227" actId="403"/>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2-08T00:08:19" v="13058"/>
        <pc:sldMkLst>
          <pc:docMk/>
          <pc:sldMk cId="1263786278" sldId="2557"/>
        </pc:sldMkLst>
      </pc:sldChg>
      <pc:sldChg chg="addSp delSp modSp add del mod">
        <pc:chgData name="Aurelien Domont" userId="6da7715ce44349b3" providerId="LiveId" clId="{AABA1416-4740-4FEA-A91C-A3DACBE38F86}" dt="2023-12-08T00:08:17.210" v="13057" actId="47"/>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del mod">
        <pc:chgData name="Aurelien Domont" userId="6da7715ce44349b3" providerId="LiveId" clId="{AABA1416-4740-4FEA-A91C-A3DACBE38F86}" dt="2023-12-08T00:08:17.210" v="13057" actId="47"/>
        <pc:sldMkLst>
          <pc:docMk/>
          <pc:sldMk cId="2304312946" sldId="2558"/>
        </pc:sldMkLst>
      </pc:sldChg>
      <pc:sldChg chg="add del">
        <pc:chgData name="Aurelien Domont" userId="6da7715ce44349b3" providerId="LiveId" clId="{AABA1416-4740-4FEA-A91C-A3DACBE38F86}" dt="2023-12-08T00:08:19" v="13058"/>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del mod">
        <pc:chgData name="Aurelien Domont" userId="6da7715ce44349b3" providerId="LiveId" clId="{AABA1416-4740-4FEA-A91C-A3DACBE38F86}" dt="2024-11-28T03:14:32.763" v="13384" actId="47"/>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add">
        <pc:chgData name="Aurelien Domont" userId="6da7715ce44349b3" providerId="LiveId" clId="{AABA1416-4740-4FEA-A91C-A3DACBE38F86}" dt="2023-12-08T00:08:19" v="13058"/>
        <pc:sldMkLst>
          <pc:docMk/>
          <pc:sldMk cId="303369600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4-12-06T02:12:06.917" v="13709" actId="408"/>
        <pc:sldMkLst>
          <pc:docMk/>
          <pc:sldMk cId="416818066" sldId="3284"/>
        </pc:sldMkLst>
      </pc:sldChg>
      <pc:sldChg chg="addSp delSp modSp add mod ord">
        <pc:chgData name="Aurelien Domont" userId="6da7715ce44349b3" providerId="LiveId" clId="{AABA1416-4740-4FEA-A91C-A3DACBE38F86}" dt="2024-12-06T02:12:30.328" v="13725" actId="408"/>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del mod">
        <pc:chgData name="Aurelien Domont" userId="6da7715ce44349b3" providerId="LiveId" clId="{AABA1416-4740-4FEA-A91C-A3DACBE38F86}" dt="2024-12-06T02:13:26.830" v="13751" actId="47"/>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del mod">
        <pc:chgData name="Aurelien Domont" userId="6da7715ce44349b3" providerId="LiveId" clId="{AABA1416-4740-4FEA-A91C-A3DACBE38F86}" dt="2024-12-06T02:15:43.887" v="13824" actId="47"/>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4-12-06T03:16:09.106" v="14516" actId="20577"/>
        <pc:sldMkLst>
          <pc:docMk/>
          <pc:sldMk cId="2246164536" sldId="3289"/>
        </pc:sldMkLst>
      </pc:sldChg>
      <pc:sldChg chg="add del">
        <pc:chgData name="Aurelien Domont" userId="6da7715ce44349b3" providerId="LiveId" clId="{AABA1416-4740-4FEA-A91C-A3DACBE38F86}" dt="2023-12-08T00:08:19" v="13058"/>
        <pc:sldMkLst>
          <pc:docMk/>
          <pc:sldMk cId="2313835943" sldId="3290"/>
        </pc:sldMkLst>
      </pc:sldChg>
      <pc:sldChg chg="addSp delSp modSp add del mod">
        <pc:chgData name="Aurelien Domont" userId="6da7715ce44349b3" providerId="LiveId" clId="{AABA1416-4740-4FEA-A91C-A3DACBE38F86}" dt="2023-12-08T00:08:17.210" v="13057" actId="47"/>
        <pc:sldMkLst>
          <pc:docMk/>
          <pc:sldMk cId="3022929388" sldId="3290"/>
        </pc:sldMkLst>
      </pc:sldChg>
      <pc:sldChg chg="add del">
        <pc:chgData name="Aurelien Domont" userId="6da7715ce44349b3" providerId="LiveId" clId="{AABA1416-4740-4FEA-A91C-A3DACBE38F86}" dt="2023-12-08T00:08:19" v="13058"/>
        <pc:sldMkLst>
          <pc:docMk/>
          <pc:sldMk cId="1260069156" sldId="3291"/>
        </pc:sldMkLst>
      </pc:sldChg>
      <pc:sldChg chg="addSp delSp modSp add del mod ord">
        <pc:chgData name="Aurelien Domont" userId="6da7715ce44349b3" providerId="LiveId" clId="{AABA1416-4740-4FEA-A91C-A3DACBE38F86}" dt="2023-12-08T00:08:17.210" v="13057" actId="47"/>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Chg chg="addSp delSp modSp add mod">
        <pc:chgData name="Aurelien Domont" userId="6da7715ce44349b3" providerId="LiveId" clId="{AABA1416-4740-4FEA-A91C-A3DACBE38F86}" dt="2024-12-06T02:17:25.033" v="13988"/>
        <pc:sldMkLst>
          <pc:docMk/>
          <pc:sldMk cId="4071643258" sldId="3292"/>
        </pc:sldMkLst>
      </pc:sldChg>
      <pc:sldChg chg="addSp modSp add del mod">
        <pc:chgData name="Aurelien Domont" userId="6da7715ce44349b3" providerId="LiveId" clId="{AABA1416-4740-4FEA-A91C-A3DACBE38F86}" dt="2024-11-28T03:14:33.720" v="13385" actId="47"/>
        <pc:sldMkLst>
          <pc:docMk/>
          <pc:sldMk cId="4255049439" sldId="3293"/>
        </pc:sldMkLst>
      </pc:sldChg>
      <pc:sldChg chg="addSp delSp modSp add mod">
        <pc:chgData name="Aurelien Domont" userId="6da7715ce44349b3" providerId="LiveId" clId="{AABA1416-4740-4FEA-A91C-A3DACBE38F86}" dt="2024-12-06T02:04:33.762" v="13530" actId="1035"/>
        <pc:sldMkLst>
          <pc:docMk/>
          <pc:sldMk cId="3669027133" sldId="3294"/>
        </pc:sldMkLst>
      </pc:sldChg>
      <pc:sldChg chg="add del">
        <pc:chgData name="Aurelien Domont" userId="6da7715ce44349b3" providerId="LiveId" clId="{AABA1416-4740-4FEA-A91C-A3DACBE38F86}" dt="2024-12-03T04:45:04.802" v="13527" actId="47"/>
        <pc:sldMkLst>
          <pc:docMk/>
          <pc:sldMk cId="2657159342" sldId="3295"/>
        </pc:sldMkLst>
      </pc:sldChg>
      <pc:sldChg chg="addSp delSp modSp add del mod">
        <pc:chgData name="Aurelien Domont" userId="6da7715ce44349b3" providerId="LiveId" clId="{AABA1416-4740-4FEA-A91C-A3DACBE38F86}" dt="2024-12-06T02:31:27.436" v="14228" actId="47"/>
        <pc:sldMkLst>
          <pc:docMk/>
          <pc:sldMk cId="1015357977" sldId="3296"/>
        </pc:sldMkLst>
      </pc:sldChg>
      <pc:sldChg chg="add del">
        <pc:chgData name="Aurelien Domont" userId="6da7715ce44349b3" providerId="LiveId" clId="{AABA1416-4740-4FEA-A91C-A3DACBE38F86}" dt="2024-12-06T02:10:23.974" v="13658" actId="47"/>
        <pc:sldMkLst>
          <pc:docMk/>
          <pc:sldMk cId="1321083556" sldId="3297"/>
        </pc:sldMkLst>
      </pc:sldChg>
      <pc:sldChg chg="add del ord">
        <pc:chgData name="Aurelien Domont" userId="6da7715ce44349b3" providerId="LiveId" clId="{AABA1416-4740-4FEA-A91C-A3DACBE38F86}" dt="2024-12-06T02:10:25.883" v="13659" actId="47"/>
        <pc:sldMkLst>
          <pc:docMk/>
          <pc:sldMk cId="3173762447" sldId="3298"/>
        </pc:sldMkLst>
      </pc:sldChg>
      <pc:sldChg chg="add del">
        <pc:chgData name="Aurelien Domont" userId="6da7715ce44349b3" providerId="LiveId" clId="{AABA1416-4740-4FEA-A91C-A3DACBE38F86}" dt="2024-12-06T02:10:21.954" v="13657" actId="47"/>
        <pc:sldMkLst>
          <pc:docMk/>
          <pc:sldMk cId="584890311" sldId="3299"/>
        </pc:sldMkLst>
      </pc:sldChg>
      <pc:sldChg chg="addSp delSp modSp add mod">
        <pc:chgData name="Aurelien Domont" userId="6da7715ce44349b3" providerId="LiveId" clId="{AABA1416-4740-4FEA-A91C-A3DACBE38F86}" dt="2024-12-06T02:14:29.815" v="13793" actId="3626"/>
        <pc:sldMkLst>
          <pc:docMk/>
          <pc:sldMk cId="1028978164" sldId="3300"/>
        </pc:sldMkLst>
      </pc:sldChg>
      <pc:sldChg chg="new del">
        <pc:chgData name="Aurelien Domont" userId="6da7715ce44349b3" providerId="LiveId" clId="{AABA1416-4740-4FEA-A91C-A3DACBE38F86}" dt="2024-12-06T02:28:15.708" v="14216" actId="47"/>
        <pc:sldMkLst>
          <pc:docMk/>
          <pc:sldMk cId="933157235" sldId="3301"/>
        </pc:sldMkLst>
      </pc:sldChg>
      <pc:sldChg chg="addSp delSp modSp add mod">
        <pc:chgData name="Aurelien Domont" userId="6da7715ce44349b3" providerId="LiveId" clId="{AABA1416-4740-4FEA-A91C-A3DACBE38F86}" dt="2024-12-06T02:15:23.058" v="13823" actId="408"/>
        <pc:sldMkLst>
          <pc:docMk/>
          <pc:sldMk cId="601817695" sldId="3302"/>
        </pc:sldMkLst>
      </pc:sldChg>
      <pc:sldChg chg="addSp delSp modSp add mod">
        <pc:chgData name="Aurelien Domont" userId="6da7715ce44349b3" providerId="LiveId" clId="{AABA1416-4740-4FEA-A91C-A3DACBE38F86}" dt="2024-12-06T02:28:03.288" v="14215" actId="478"/>
        <pc:sldMkLst>
          <pc:docMk/>
          <pc:sldMk cId="1391312145" sldId="3303"/>
        </pc:sldMkLst>
      </pc:sldChg>
      <pc:sldChg chg="add">
        <pc:chgData name="Aurelien Domont" userId="6da7715ce44349b3" providerId="LiveId" clId="{AABA1416-4740-4FEA-A91C-A3DACBE38F86}" dt="2024-12-06T02:22:40.616" v="13989"/>
        <pc:sldMkLst>
          <pc:docMk/>
          <pc:sldMk cId="1795654412" sldId="3376"/>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8FB4D469-B671-444C-8BAB-5F6463EB3ACB}"/>
    <pc:docChg chg="custSel addSld modSld sldOrd">
      <pc:chgData name="Aurelien Domont" userId="6da7715ce44349b3" providerId="LiveId" clId="{8FB4D469-B671-444C-8BAB-5F6463EB3ACB}" dt="2025-06-25T02:24:44.906" v="61"/>
      <pc:docMkLst>
        <pc:docMk/>
      </pc:docMkLst>
      <pc:sldChg chg="add">
        <pc:chgData name="Aurelien Domont" userId="6da7715ce44349b3" providerId="LiveId" clId="{8FB4D469-B671-444C-8BAB-5F6463EB3ACB}" dt="2025-06-25T02:24:44.906" v="61"/>
        <pc:sldMkLst>
          <pc:docMk/>
          <pc:sldMk cId="1094110970" sldId="527"/>
        </pc:sldMkLst>
      </pc:sldChg>
      <pc:sldChg chg="addSp delSp modSp add mod ord">
        <pc:chgData name="Aurelien Domont" userId="6da7715ce44349b3" providerId="LiveId" clId="{8FB4D469-B671-444C-8BAB-5F6463EB3ACB}" dt="2025-06-24T02:24:14.222" v="60" actId="14100"/>
        <pc:sldMkLst>
          <pc:docMk/>
          <pc:sldMk cId="3892113266" sldId="3377"/>
        </pc:sldMkLst>
        <pc:spChg chg="mod">
          <ac:chgData name="Aurelien Domont" userId="6da7715ce44349b3" providerId="LiveId" clId="{8FB4D469-B671-444C-8BAB-5F6463EB3ACB}" dt="2025-06-24T02:21:15.624" v="50" actId="20577"/>
          <ac:spMkLst>
            <pc:docMk/>
            <pc:sldMk cId="3892113266" sldId="3377"/>
            <ac:spMk id="2" creationId="{80848328-A156-B728-0E7B-DBD9A3015AFF}"/>
          </ac:spMkLst>
        </pc:spChg>
        <pc:spChg chg="mod">
          <ac:chgData name="Aurelien Domont" userId="6da7715ce44349b3" providerId="LiveId" clId="{8FB4D469-B671-444C-8BAB-5F6463EB3ACB}" dt="2025-06-24T02:21:05.364" v="35" actId="20577"/>
          <ac:spMkLst>
            <pc:docMk/>
            <pc:sldMk cId="3892113266" sldId="3377"/>
            <ac:spMk id="8" creationId="{9B8AEB9C-213A-0EA2-AB8F-9E9A96E142EA}"/>
          </ac:spMkLst>
        </pc:spChg>
        <pc:spChg chg="del">
          <ac:chgData name="Aurelien Domont" userId="6da7715ce44349b3" providerId="LiveId" clId="{8FB4D469-B671-444C-8BAB-5F6463EB3ACB}" dt="2025-06-24T02:19:54.127" v="17" actId="478"/>
          <ac:spMkLst>
            <pc:docMk/>
            <pc:sldMk cId="3892113266" sldId="3377"/>
            <ac:spMk id="10" creationId="{50A134F2-2E1F-053F-C384-2BE7BED8505C}"/>
          </ac:spMkLst>
        </pc:spChg>
        <pc:spChg chg="mod">
          <ac:chgData name="Aurelien Domont" userId="6da7715ce44349b3" providerId="LiveId" clId="{8FB4D469-B671-444C-8BAB-5F6463EB3ACB}" dt="2025-06-24T02:21:47.978" v="54" actId="20577"/>
          <ac:spMkLst>
            <pc:docMk/>
            <pc:sldMk cId="3892113266" sldId="3377"/>
            <ac:spMk id="12" creationId="{90851720-E431-14B5-2181-72539DEA3325}"/>
          </ac:spMkLst>
        </pc:spChg>
        <pc:spChg chg="del">
          <ac:chgData name="Aurelien Domont" userId="6da7715ce44349b3" providerId="LiveId" clId="{8FB4D469-B671-444C-8BAB-5F6463EB3ACB}" dt="2025-06-24T02:19:54.127" v="17" actId="478"/>
          <ac:spMkLst>
            <pc:docMk/>
            <pc:sldMk cId="3892113266" sldId="3377"/>
            <ac:spMk id="13" creationId="{B220D5EF-7F08-714C-9DDE-33E8C38A05F9}"/>
          </ac:spMkLst>
        </pc:spChg>
        <pc:spChg chg="add mod">
          <ac:chgData name="Aurelien Domont" userId="6da7715ce44349b3" providerId="LiveId" clId="{8FB4D469-B671-444C-8BAB-5F6463EB3ACB}" dt="2025-06-24T02:22:24.154" v="59" actId="20577"/>
          <ac:spMkLst>
            <pc:docMk/>
            <pc:sldMk cId="3892113266" sldId="3377"/>
            <ac:spMk id="14" creationId="{ABF9D4B2-53D2-60E9-FECC-79B008226F65}"/>
          </ac:spMkLst>
        </pc:spChg>
        <pc:spChg chg="del">
          <ac:chgData name="Aurelien Domont" userId="6da7715ce44349b3" providerId="LiveId" clId="{8FB4D469-B671-444C-8BAB-5F6463EB3ACB}" dt="2025-06-24T02:19:54.127" v="17" actId="478"/>
          <ac:spMkLst>
            <pc:docMk/>
            <pc:sldMk cId="3892113266" sldId="3377"/>
            <ac:spMk id="23" creationId="{508E65FA-CAA4-EB53-8976-777DFCDA808A}"/>
          </ac:spMkLst>
        </pc:spChg>
        <pc:spChg chg="del">
          <ac:chgData name="Aurelien Domont" userId="6da7715ce44349b3" providerId="LiveId" clId="{8FB4D469-B671-444C-8BAB-5F6463EB3ACB}" dt="2025-06-24T02:19:54.127" v="17" actId="478"/>
          <ac:spMkLst>
            <pc:docMk/>
            <pc:sldMk cId="3892113266" sldId="3377"/>
            <ac:spMk id="25" creationId="{68ACA447-D9D1-A499-E72A-6E5DD632A147}"/>
          </ac:spMkLst>
        </pc:spChg>
        <pc:spChg chg="del">
          <ac:chgData name="Aurelien Domont" userId="6da7715ce44349b3" providerId="LiveId" clId="{8FB4D469-B671-444C-8BAB-5F6463EB3ACB}" dt="2025-06-24T02:19:54.127" v="17" actId="478"/>
          <ac:spMkLst>
            <pc:docMk/>
            <pc:sldMk cId="3892113266" sldId="3377"/>
            <ac:spMk id="26" creationId="{9282FA8D-588A-2FAD-BAC4-B228FC1B4268}"/>
          </ac:spMkLst>
        </pc:spChg>
        <pc:spChg chg="del">
          <ac:chgData name="Aurelien Domont" userId="6da7715ce44349b3" providerId="LiveId" clId="{8FB4D469-B671-444C-8BAB-5F6463EB3ACB}" dt="2025-06-24T02:19:54.127" v="17" actId="478"/>
          <ac:spMkLst>
            <pc:docMk/>
            <pc:sldMk cId="3892113266" sldId="3377"/>
            <ac:spMk id="27" creationId="{95FB1F34-C5DF-391D-DD8E-DA07C419D886}"/>
          </ac:spMkLst>
        </pc:spChg>
        <pc:spChg chg="del">
          <ac:chgData name="Aurelien Domont" userId="6da7715ce44349b3" providerId="LiveId" clId="{8FB4D469-B671-444C-8BAB-5F6463EB3ACB}" dt="2025-06-24T02:19:54.127" v="17" actId="478"/>
          <ac:spMkLst>
            <pc:docMk/>
            <pc:sldMk cId="3892113266" sldId="3377"/>
            <ac:spMk id="36" creationId="{B3E3ADA1-24A5-4993-D408-F48A84105F0C}"/>
          </ac:spMkLst>
        </pc:spChg>
        <pc:spChg chg="del">
          <ac:chgData name="Aurelien Domont" userId="6da7715ce44349b3" providerId="LiveId" clId="{8FB4D469-B671-444C-8BAB-5F6463EB3ACB}" dt="2025-06-24T02:19:54.127" v="17" actId="478"/>
          <ac:spMkLst>
            <pc:docMk/>
            <pc:sldMk cId="3892113266" sldId="3377"/>
            <ac:spMk id="45" creationId="{BEAA871B-0830-59AA-C29B-C4E5322EE374}"/>
          </ac:spMkLst>
        </pc:spChg>
        <pc:spChg chg="del">
          <ac:chgData name="Aurelien Domont" userId="6da7715ce44349b3" providerId="LiveId" clId="{8FB4D469-B671-444C-8BAB-5F6463EB3ACB}" dt="2025-06-24T02:19:54.127" v="17" actId="478"/>
          <ac:spMkLst>
            <pc:docMk/>
            <pc:sldMk cId="3892113266" sldId="3377"/>
            <ac:spMk id="46" creationId="{187B1698-962D-9311-FC64-8D17728D944D}"/>
          </ac:spMkLst>
        </pc:spChg>
        <pc:spChg chg="del">
          <ac:chgData name="Aurelien Domont" userId="6da7715ce44349b3" providerId="LiveId" clId="{8FB4D469-B671-444C-8BAB-5F6463EB3ACB}" dt="2025-06-24T02:19:54.127" v="17" actId="478"/>
          <ac:spMkLst>
            <pc:docMk/>
            <pc:sldMk cId="3892113266" sldId="3377"/>
            <ac:spMk id="47" creationId="{DCA026D1-BE45-1836-F8E7-2ECBF6DC8222}"/>
          </ac:spMkLst>
        </pc:spChg>
        <pc:grpChg chg="add mod">
          <ac:chgData name="Aurelien Domont" userId="6da7715ce44349b3" providerId="LiveId" clId="{8FB4D469-B671-444C-8BAB-5F6463EB3ACB}" dt="2025-06-24T02:20:24.006" v="20"/>
          <ac:grpSpMkLst>
            <pc:docMk/>
            <pc:sldMk cId="3892113266" sldId="3377"/>
            <ac:grpSpMk id="3" creationId="{E9F7CF65-C74D-60C7-EA99-8FA5E0BF6465}"/>
          </ac:grpSpMkLst>
        </pc:grpChg>
        <pc:grpChg chg="add mod">
          <ac:chgData name="Aurelien Domont" userId="6da7715ce44349b3" providerId="LiveId" clId="{8FB4D469-B671-444C-8BAB-5F6463EB3ACB}" dt="2025-06-24T02:20:24.006" v="20"/>
          <ac:grpSpMkLst>
            <pc:docMk/>
            <pc:sldMk cId="3892113266" sldId="3377"/>
            <ac:grpSpMk id="9" creationId="{61E81056-97AB-98FD-55E3-58A4AC96ABC6}"/>
          </ac:grpSpMkLst>
        </pc:grpChg>
        <pc:picChg chg="add mod">
          <ac:chgData name="Aurelien Domont" userId="6da7715ce44349b3" providerId="LiveId" clId="{8FB4D469-B671-444C-8BAB-5F6463EB3ACB}" dt="2025-06-24T02:20:24.006" v="20"/>
          <ac:picMkLst>
            <pc:docMk/>
            <pc:sldMk cId="3892113266" sldId="3377"/>
            <ac:picMk id="15" creationId="{602F014A-3A19-1F69-E455-C4F538B615DE}"/>
          </ac:picMkLst>
        </pc:picChg>
        <pc:picChg chg="add mod">
          <ac:chgData name="Aurelien Domont" userId="6da7715ce44349b3" providerId="LiveId" clId="{8FB4D469-B671-444C-8BAB-5F6463EB3ACB}" dt="2025-06-24T02:20:24.006" v="20"/>
          <ac:picMkLst>
            <pc:docMk/>
            <pc:sldMk cId="3892113266" sldId="3377"/>
            <ac:picMk id="16" creationId="{3C82A5A0-F24F-4A17-FB54-B46D19A92322}"/>
          </ac:picMkLst>
        </pc:picChg>
        <pc:picChg chg="add mod">
          <ac:chgData name="Aurelien Domont" userId="6da7715ce44349b3" providerId="LiveId" clId="{8FB4D469-B671-444C-8BAB-5F6463EB3ACB}" dt="2025-06-24T02:24:14.222" v="60" actId="14100"/>
          <ac:picMkLst>
            <pc:docMk/>
            <pc:sldMk cId="3892113266" sldId="3377"/>
            <ac:picMk id="17" creationId="{1EE5AC12-F00C-61C3-8EF9-F68A052AD79D}"/>
          </ac:picMkLst>
        </pc:picChg>
        <pc:cxnChg chg="mod">
          <ac:chgData name="Aurelien Domont" userId="6da7715ce44349b3" providerId="LiveId" clId="{8FB4D469-B671-444C-8BAB-5F6463EB3ACB}" dt="2025-06-24T02:20:24.006" v="20"/>
          <ac:cxnSpMkLst>
            <pc:docMk/>
            <pc:sldMk cId="3892113266" sldId="3377"/>
            <ac:cxnSpMk id="5" creationId="{90F72B68-4701-EDE6-E109-09B730999D30}"/>
          </ac:cxnSpMkLst>
        </pc:cxnChg>
        <pc:cxnChg chg="mod">
          <ac:chgData name="Aurelien Domont" userId="6da7715ce44349b3" providerId="LiveId" clId="{8FB4D469-B671-444C-8BAB-5F6463EB3ACB}" dt="2025-06-24T02:20:24.006" v="20"/>
          <ac:cxnSpMkLst>
            <pc:docMk/>
            <pc:sldMk cId="3892113266" sldId="3377"/>
            <ac:cxnSpMk id="11" creationId="{5E8DB3AD-FF65-1C2E-05EF-BB7ABF43D37F}"/>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3073225897653E-2"/>
          <c:y val="0.14325842696629212"/>
          <c:w val="0.84054283290924514"/>
          <c:h val="0.6320224719101124"/>
        </c:manualLayout>
      </c:layout>
      <c:scatterChart>
        <c:scatterStyle val="lineMarker"/>
        <c:varyColors val="0"/>
        <c:ser>
          <c:idx val="0"/>
          <c:order val="0"/>
          <c:spPr>
            <a:ln w="19050" cmpd="sng" algn="ctr">
              <a:solidFill>
                <a:schemeClr val="accent1"/>
              </a:solidFill>
              <a:prstDash val="solid"/>
            </a:ln>
          </c:spPr>
          <c:marker>
            <c:symbol val="none"/>
          </c:marker>
          <c:dLbls>
            <c:dLbl>
              <c:idx val="0"/>
              <c:layout>
                <c:manualLayout>
                  <c:x val="2.1204410517387615E-2"/>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85C-4D7F-9E05-9D09E0B03456}"/>
                </c:ext>
              </c:extLst>
            </c:dLbl>
            <c:dLbl>
              <c:idx val="1"/>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85C-4D7F-9E05-9D09E0B03456}"/>
                </c:ext>
              </c:extLst>
            </c:dLbl>
            <c:dLbl>
              <c:idx val="2"/>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85C-4D7F-9E05-9D09E0B03456}"/>
                </c:ext>
              </c:extLst>
            </c:dLbl>
            <c:dLbl>
              <c:idx val="3"/>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85C-4D7F-9E05-9D09E0B03456}"/>
                </c:ext>
              </c:extLst>
            </c:dLbl>
            <c:dLbl>
              <c:idx val="4"/>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85C-4D7F-9E05-9D09E0B03456}"/>
                </c:ext>
              </c:extLst>
            </c:dLbl>
            <c:dLbl>
              <c:idx val="5"/>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E85C-4D7F-9E05-9D09E0B0345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Sheet1!$A$1:$F$1</c:f>
              <c:numCache>
                <c:formatCode>General</c:formatCode>
                <c:ptCount val="6"/>
                <c:pt idx="0">
                  <c:v>2018</c:v>
                </c:pt>
                <c:pt idx="1">
                  <c:v>2019</c:v>
                </c:pt>
                <c:pt idx="2">
                  <c:v>2020</c:v>
                </c:pt>
                <c:pt idx="3">
                  <c:v>2021</c:v>
                </c:pt>
                <c:pt idx="4">
                  <c:v>2022</c:v>
                </c:pt>
                <c:pt idx="5">
                  <c:v>2023</c:v>
                </c:pt>
              </c:numCache>
            </c:numRef>
          </c:xVal>
          <c:yVal>
            <c:numRef>
              <c:f>Sheet1!$A$2:$F$2</c:f>
              <c:numCache>
                <c:formatCode>General</c:formatCode>
                <c:ptCount val="6"/>
                <c:pt idx="0">
                  <c:v>2</c:v>
                </c:pt>
                <c:pt idx="1">
                  <c:v>3</c:v>
                </c:pt>
                <c:pt idx="2">
                  <c:v>5</c:v>
                </c:pt>
                <c:pt idx="3">
                  <c:v>7</c:v>
                </c:pt>
                <c:pt idx="4">
                  <c:v>6</c:v>
                </c:pt>
                <c:pt idx="5">
                  <c:v>9</c:v>
                </c:pt>
              </c:numCache>
            </c:numRef>
          </c:yVal>
          <c:smooth val="0"/>
          <c:extLst>
            <c:ext xmlns:c16="http://schemas.microsoft.com/office/drawing/2014/chart" uri="{C3380CC4-5D6E-409C-BE32-E72D297353CC}">
              <c16:uniqueId val="{00000006-E85C-4D7F-9E05-9D09E0B03456}"/>
            </c:ext>
          </c:extLst>
        </c:ser>
        <c:dLbls>
          <c:showLegendKey val="0"/>
          <c:showVal val="0"/>
          <c:showCatName val="0"/>
          <c:showSerName val="0"/>
          <c:showPercent val="0"/>
          <c:showBubbleSize val="0"/>
        </c:dLbls>
        <c:axId val="4"/>
        <c:axId val="5"/>
      </c:scatterChart>
      <c:valAx>
        <c:axId val="4"/>
        <c:scaling>
          <c:orientation val="minMax"/>
          <c:max val="2023"/>
          <c:min val="2018"/>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5"/>
        <c:crosses val="min"/>
        <c:crossBetween val="midCat"/>
        <c:majorUnit val="1"/>
      </c:valAx>
      <c:valAx>
        <c:axId val="5"/>
        <c:scaling>
          <c:orientation val="minMax"/>
          <c:max val="1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
        <c:crosses val="min"/>
        <c:crossBetween val="midCat"/>
        <c:majorUnit val="2"/>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3073225897653E-2"/>
          <c:y val="0.14325842696629212"/>
          <c:w val="0.84054283290924514"/>
          <c:h val="0.6320224719101124"/>
        </c:manualLayout>
      </c:layout>
      <c:scatterChart>
        <c:scatterStyle val="lineMarker"/>
        <c:varyColors val="0"/>
        <c:ser>
          <c:idx val="0"/>
          <c:order val="0"/>
          <c:spPr>
            <a:ln w="19050" cmpd="sng" algn="ctr">
              <a:solidFill>
                <a:schemeClr val="accent1"/>
              </a:solidFill>
              <a:prstDash val="solid"/>
            </a:ln>
          </c:spPr>
          <c:marker>
            <c:symbol val="none"/>
          </c:marker>
          <c:dLbls>
            <c:dLbl>
              <c:idx val="0"/>
              <c:layout>
                <c:manualLayout>
                  <c:x val="2.1204410517387615E-2"/>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085-4566-983E-56A922CE2DFF}"/>
                </c:ext>
              </c:extLst>
            </c:dLbl>
            <c:dLbl>
              <c:idx val="1"/>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085-4566-983E-56A922CE2DFF}"/>
                </c:ext>
              </c:extLst>
            </c:dLbl>
            <c:dLbl>
              <c:idx val="2"/>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085-4566-983E-56A922CE2DFF}"/>
                </c:ext>
              </c:extLst>
            </c:dLbl>
            <c:dLbl>
              <c:idx val="3"/>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085-4566-983E-56A922CE2DFF}"/>
                </c:ext>
              </c:extLst>
            </c:dLbl>
            <c:dLbl>
              <c:idx val="4"/>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085-4566-983E-56A922CE2DFF}"/>
                </c:ext>
              </c:extLst>
            </c:dLbl>
            <c:dLbl>
              <c:idx val="5"/>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085-4566-983E-56A922CE2DF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Sheet1!$A$1:$F$1</c:f>
              <c:numCache>
                <c:formatCode>General</c:formatCode>
                <c:ptCount val="6"/>
                <c:pt idx="0">
                  <c:v>2018</c:v>
                </c:pt>
                <c:pt idx="1">
                  <c:v>2019</c:v>
                </c:pt>
                <c:pt idx="2">
                  <c:v>2020</c:v>
                </c:pt>
                <c:pt idx="3">
                  <c:v>2021</c:v>
                </c:pt>
                <c:pt idx="4">
                  <c:v>2022</c:v>
                </c:pt>
                <c:pt idx="5">
                  <c:v>2023</c:v>
                </c:pt>
              </c:numCache>
            </c:numRef>
          </c:xVal>
          <c:yVal>
            <c:numRef>
              <c:f>Sheet1!$A$2:$F$2</c:f>
              <c:numCache>
                <c:formatCode>General</c:formatCode>
                <c:ptCount val="6"/>
                <c:pt idx="0">
                  <c:v>2</c:v>
                </c:pt>
                <c:pt idx="1">
                  <c:v>3</c:v>
                </c:pt>
                <c:pt idx="2">
                  <c:v>5</c:v>
                </c:pt>
                <c:pt idx="3">
                  <c:v>7</c:v>
                </c:pt>
                <c:pt idx="4">
                  <c:v>6</c:v>
                </c:pt>
                <c:pt idx="5">
                  <c:v>9</c:v>
                </c:pt>
              </c:numCache>
            </c:numRef>
          </c:yVal>
          <c:smooth val="0"/>
          <c:extLst>
            <c:ext xmlns:c16="http://schemas.microsoft.com/office/drawing/2014/chart" uri="{C3380CC4-5D6E-409C-BE32-E72D297353CC}">
              <c16:uniqueId val="{00000006-4085-4566-983E-56A922CE2DFF}"/>
            </c:ext>
          </c:extLst>
        </c:ser>
        <c:dLbls>
          <c:showLegendKey val="0"/>
          <c:showVal val="0"/>
          <c:showCatName val="0"/>
          <c:showSerName val="0"/>
          <c:showPercent val="0"/>
          <c:showBubbleSize val="0"/>
        </c:dLbls>
        <c:axId val="4"/>
        <c:axId val="5"/>
      </c:scatterChart>
      <c:valAx>
        <c:axId val="4"/>
        <c:scaling>
          <c:orientation val="minMax"/>
          <c:max val="2023"/>
          <c:min val="2018"/>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5"/>
        <c:crosses val="min"/>
        <c:crossBetween val="midCat"/>
        <c:majorUnit val="1"/>
      </c:valAx>
      <c:valAx>
        <c:axId val="5"/>
        <c:scaling>
          <c:orientation val="minMax"/>
          <c:max val="1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
        <c:crosses val="min"/>
        <c:crossBetween val="midCat"/>
        <c:majorUnit val="2"/>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3073225897653E-2"/>
          <c:y val="0.14325842696629212"/>
          <c:w val="0.84054283290924514"/>
          <c:h val="0.6320224719101124"/>
        </c:manualLayout>
      </c:layout>
      <c:scatterChart>
        <c:scatterStyle val="lineMarker"/>
        <c:varyColors val="0"/>
        <c:ser>
          <c:idx val="0"/>
          <c:order val="0"/>
          <c:spPr>
            <a:ln w="19050" cmpd="sng" algn="ctr">
              <a:solidFill>
                <a:schemeClr val="accent1"/>
              </a:solidFill>
              <a:prstDash val="solid"/>
            </a:ln>
          </c:spPr>
          <c:marker>
            <c:symbol val="none"/>
          </c:marker>
          <c:dLbls>
            <c:dLbl>
              <c:idx val="0"/>
              <c:layout>
                <c:manualLayout>
                  <c:x val="2.1204410517387615E-2"/>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982-430E-BF88-95381B2EBC37}"/>
                </c:ext>
              </c:extLst>
            </c:dLbl>
            <c:dLbl>
              <c:idx val="1"/>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982-430E-BF88-95381B2EBC37}"/>
                </c:ext>
              </c:extLst>
            </c:dLbl>
            <c:dLbl>
              <c:idx val="2"/>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982-430E-BF88-95381B2EBC37}"/>
                </c:ext>
              </c:extLst>
            </c:dLbl>
            <c:dLbl>
              <c:idx val="3"/>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982-430E-BF88-95381B2EBC37}"/>
                </c:ext>
              </c:extLst>
            </c:dLbl>
            <c:dLbl>
              <c:idx val="4"/>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982-430E-BF88-95381B2EBC37}"/>
                </c:ext>
              </c:extLst>
            </c:dLbl>
            <c:dLbl>
              <c:idx val="5"/>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982-430E-BF88-95381B2EBC3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Sheet1!$A$1:$F$1</c:f>
              <c:numCache>
                <c:formatCode>General</c:formatCode>
                <c:ptCount val="6"/>
                <c:pt idx="0">
                  <c:v>2018</c:v>
                </c:pt>
                <c:pt idx="1">
                  <c:v>2019</c:v>
                </c:pt>
                <c:pt idx="2">
                  <c:v>2020</c:v>
                </c:pt>
                <c:pt idx="3">
                  <c:v>2021</c:v>
                </c:pt>
                <c:pt idx="4">
                  <c:v>2022</c:v>
                </c:pt>
                <c:pt idx="5">
                  <c:v>2023</c:v>
                </c:pt>
              </c:numCache>
            </c:numRef>
          </c:xVal>
          <c:yVal>
            <c:numRef>
              <c:f>Sheet1!$A$2:$F$2</c:f>
              <c:numCache>
                <c:formatCode>General</c:formatCode>
                <c:ptCount val="6"/>
                <c:pt idx="0">
                  <c:v>2</c:v>
                </c:pt>
                <c:pt idx="1">
                  <c:v>3</c:v>
                </c:pt>
                <c:pt idx="2">
                  <c:v>5</c:v>
                </c:pt>
                <c:pt idx="3">
                  <c:v>7</c:v>
                </c:pt>
                <c:pt idx="4">
                  <c:v>6</c:v>
                </c:pt>
                <c:pt idx="5">
                  <c:v>9</c:v>
                </c:pt>
              </c:numCache>
            </c:numRef>
          </c:yVal>
          <c:smooth val="0"/>
          <c:extLst>
            <c:ext xmlns:c16="http://schemas.microsoft.com/office/drawing/2014/chart" uri="{C3380CC4-5D6E-409C-BE32-E72D297353CC}">
              <c16:uniqueId val="{00000006-F982-430E-BF88-95381B2EBC37}"/>
            </c:ext>
          </c:extLst>
        </c:ser>
        <c:dLbls>
          <c:showLegendKey val="0"/>
          <c:showVal val="0"/>
          <c:showCatName val="0"/>
          <c:showSerName val="0"/>
          <c:showPercent val="0"/>
          <c:showBubbleSize val="0"/>
        </c:dLbls>
        <c:axId val="4"/>
        <c:axId val="5"/>
      </c:scatterChart>
      <c:valAx>
        <c:axId val="4"/>
        <c:scaling>
          <c:orientation val="minMax"/>
          <c:max val="2023"/>
          <c:min val="2018"/>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5"/>
        <c:crosses val="min"/>
        <c:crossBetween val="midCat"/>
        <c:majorUnit val="1"/>
      </c:valAx>
      <c:valAx>
        <c:axId val="5"/>
        <c:scaling>
          <c:orientation val="minMax"/>
          <c:max val="1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
        <c:crosses val="min"/>
        <c:crossBetween val="midCat"/>
        <c:majorUnit val="2"/>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3073225897653E-2"/>
          <c:y val="0.14325842696629212"/>
          <c:w val="0.84054283290924514"/>
          <c:h val="0.6320224719101124"/>
        </c:manualLayout>
      </c:layout>
      <c:scatterChart>
        <c:scatterStyle val="lineMarker"/>
        <c:varyColors val="0"/>
        <c:ser>
          <c:idx val="0"/>
          <c:order val="0"/>
          <c:spPr>
            <a:ln w="19050" cmpd="sng" algn="ctr">
              <a:solidFill>
                <a:schemeClr val="accent1"/>
              </a:solidFill>
              <a:prstDash val="solid"/>
            </a:ln>
          </c:spPr>
          <c:marker>
            <c:symbol val="none"/>
          </c:marker>
          <c:dLbls>
            <c:dLbl>
              <c:idx val="0"/>
              <c:layout>
                <c:manualLayout>
                  <c:x val="2.1204410517387615E-2"/>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EB9-45A1-BA1C-B0B54F9425A1}"/>
                </c:ext>
              </c:extLst>
            </c:dLbl>
            <c:dLbl>
              <c:idx val="1"/>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EB9-45A1-BA1C-B0B54F9425A1}"/>
                </c:ext>
              </c:extLst>
            </c:dLbl>
            <c:dLbl>
              <c:idx val="2"/>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EB9-45A1-BA1C-B0B54F9425A1}"/>
                </c:ext>
              </c:extLst>
            </c:dLbl>
            <c:dLbl>
              <c:idx val="3"/>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EB9-45A1-BA1C-B0B54F9425A1}"/>
                </c:ext>
              </c:extLst>
            </c:dLbl>
            <c:dLbl>
              <c:idx val="4"/>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EB9-45A1-BA1C-B0B54F9425A1}"/>
                </c:ext>
              </c:extLst>
            </c:dLbl>
            <c:dLbl>
              <c:idx val="5"/>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EB9-45A1-BA1C-B0B54F9425A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Sheet1!$A$1:$F$1</c:f>
              <c:numCache>
                <c:formatCode>General</c:formatCode>
                <c:ptCount val="6"/>
                <c:pt idx="0">
                  <c:v>2018</c:v>
                </c:pt>
                <c:pt idx="1">
                  <c:v>2019</c:v>
                </c:pt>
                <c:pt idx="2">
                  <c:v>2020</c:v>
                </c:pt>
                <c:pt idx="3">
                  <c:v>2021</c:v>
                </c:pt>
                <c:pt idx="4">
                  <c:v>2022</c:v>
                </c:pt>
                <c:pt idx="5">
                  <c:v>2023</c:v>
                </c:pt>
              </c:numCache>
            </c:numRef>
          </c:xVal>
          <c:yVal>
            <c:numRef>
              <c:f>Sheet1!$A$2:$F$2</c:f>
              <c:numCache>
                <c:formatCode>General</c:formatCode>
                <c:ptCount val="6"/>
                <c:pt idx="0">
                  <c:v>2</c:v>
                </c:pt>
                <c:pt idx="1">
                  <c:v>3</c:v>
                </c:pt>
                <c:pt idx="2">
                  <c:v>5</c:v>
                </c:pt>
                <c:pt idx="3">
                  <c:v>7</c:v>
                </c:pt>
                <c:pt idx="4">
                  <c:v>6</c:v>
                </c:pt>
                <c:pt idx="5">
                  <c:v>9</c:v>
                </c:pt>
              </c:numCache>
            </c:numRef>
          </c:yVal>
          <c:smooth val="0"/>
          <c:extLst>
            <c:ext xmlns:c16="http://schemas.microsoft.com/office/drawing/2014/chart" uri="{C3380CC4-5D6E-409C-BE32-E72D297353CC}">
              <c16:uniqueId val="{00000006-7EB9-45A1-BA1C-B0B54F9425A1}"/>
            </c:ext>
          </c:extLst>
        </c:ser>
        <c:dLbls>
          <c:showLegendKey val="0"/>
          <c:showVal val="0"/>
          <c:showCatName val="0"/>
          <c:showSerName val="0"/>
          <c:showPercent val="0"/>
          <c:showBubbleSize val="0"/>
        </c:dLbls>
        <c:axId val="4"/>
        <c:axId val="5"/>
      </c:scatterChart>
      <c:valAx>
        <c:axId val="4"/>
        <c:scaling>
          <c:orientation val="minMax"/>
          <c:max val="2023"/>
          <c:min val="2018"/>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5"/>
        <c:crosses val="min"/>
        <c:crossBetween val="midCat"/>
        <c:majorUnit val="1"/>
      </c:valAx>
      <c:valAx>
        <c:axId val="5"/>
        <c:scaling>
          <c:orientation val="minMax"/>
          <c:max val="1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
        <c:crosses val="min"/>
        <c:crossBetween val="midCat"/>
        <c:majorUnit val="2"/>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052168815943728E-2"/>
          <c:y val="5.032907471931862E-2"/>
          <c:w val="0.89991207502930837"/>
          <c:h val="0.81958962446767325"/>
        </c:manualLayout>
      </c:layout>
      <c:bubbleChart>
        <c:varyColors val="0"/>
        <c:ser>
          <c:idx val="0"/>
          <c:order val="0"/>
          <c:spPr>
            <a:solidFill>
              <a:schemeClr val="accent1"/>
            </a:solidFill>
            <a:ln>
              <a:noFill/>
            </a:ln>
          </c:spPr>
          <c:invertIfNegative val="0"/>
          <c:xVal>
            <c:numRef>
              <c:f>Sheet1!$A$1:$A$6</c:f>
              <c:numCache>
                <c:formatCode>General</c:formatCode>
                <c:ptCount val="6"/>
                <c:pt idx="0">
                  <c:v>70</c:v>
                </c:pt>
                <c:pt idx="1">
                  <c:v>30</c:v>
                </c:pt>
                <c:pt idx="2">
                  <c:v>60</c:v>
                </c:pt>
                <c:pt idx="3">
                  <c:v>70</c:v>
                </c:pt>
                <c:pt idx="4">
                  <c:v>20</c:v>
                </c:pt>
                <c:pt idx="5">
                  <c:v>10</c:v>
                </c:pt>
              </c:numCache>
            </c:numRef>
          </c:xVal>
          <c:yVal>
            <c:numRef>
              <c:f>Sheet1!$B$1:$B$6</c:f>
              <c:numCache>
                <c:formatCode>General</c:formatCode>
                <c:ptCount val="6"/>
                <c:pt idx="0">
                  <c:v>30</c:v>
                </c:pt>
                <c:pt idx="1">
                  <c:v>30</c:v>
                </c:pt>
                <c:pt idx="2">
                  <c:v>10</c:v>
                </c:pt>
                <c:pt idx="3">
                  <c:v>10</c:v>
                </c:pt>
                <c:pt idx="4">
                  <c:v>5</c:v>
                </c:pt>
                <c:pt idx="5">
                  <c:v>5</c:v>
                </c:pt>
              </c:numCache>
            </c:numRef>
          </c:yVal>
          <c:bubbleSize>
            <c:numRef>
              <c:f>Sheet1!$C$1:$C$6</c:f>
              <c:numCache>
                <c:formatCode>General</c:formatCode>
                <c:ptCount val="6"/>
                <c:pt idx="0">
                  <c:v>10</c:v>
                </c:pt>
                <c:pt idx="1">
                  <c:v>9</c:v>
                </c:pt>
                <c:pt idx="2">
                  <c:v>3</c:v>
                </c:pt>
                <c:pt idx="3">
                  <c:v>3</c:v>
                </c:pt>
                <c:pt idx="4">
                  <c:v>3</c:v>
                </c:pt>
                <c:pt idx="5">
                  <c:v>3</c:v>
                </c:pt>
              </c:numCache>
            </c:numRef>
          </c:bubbleSize>
          <c:bubble3D val="0"/>
          <c:extLst>
            <c:ext xmlns:c16="http://schemas.microsoft.com/office/drawing/2014/chart" uri="{C3380CC4-5D6E-409C-BE32-E72D297353CC}">
              <c16:uniqueId val="{00000000-5333-4D78-8AB9-F4B568CED31B}"/>
            </c:ext>
          </c:extLst>
        </c:ser>
        <c:dLbls>
          <c:showLegendKey val="0"/>
          <c:showVal val="0"/>
          <c:showCatName val="0"/>
          <c:showSerName val="0"/>
          <c:showPercent val="0"/>
          <c:showBubbleSize val="0"/>
        </c:dLbls>
        <c:bubbleScale val="106"/>
        <c:showNegBubbles val="0"/>
        <c:sizeRepresents val="w"/>
        <c:axId val="701769823"/>
        <c:axId val="1"/>
      </c:bubbleChart>
      <c:valAx>
        <c:axId val="701769823"/>
        <c:scaling>
          <c:orientation val="minMax"/>
          <c:max val="100"/>
          <c:min val="0"/>
        </c:scaling>
        <c:delete val="0"/>
        <c:axPos val="b"/>
        <c:majorGridlines>
          <c:spPr>
            <a:ln>
              <a:noFill/>
            </a:ln>
          </c:spPr>
        </c:majorGridlines>
        <c:numFmt formatCode="#,##0&quot;%&quot;;&quot;-&quot;#,##0&quot;%&quot;"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1"/>
        <c:crosses val="min"/>
        <c:crossBetween val="midCat"/>
        <c:majorUnit val="5"/>
      </c:valAx>
      <c:valAx>
        <c:axId val="1"/>
        <c:scaling>
          <c:orientation val="minMax"/>
          <c:max val="40"/>
          <c:min val="0"/>
        </c:scaling>
        <c:delete val="0"/>
        <c:axPos val="l"/>
        <c:majorGridlines>
          <c:spPr>
            <a:ln>
              <a:noFill/>
            </a:ln>
          </c:spPr>
        </c:majorGridlines>
        <c:numFmt formatCode="#,##0&quot;%&quot;;&quot;-&quot;#,##0&quot;%&quot;"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701769823"/>
        <c:crosses val="min"/>
        <c:crossBetween val="midCat"/>
        <c:majorUnit val="5"/>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681544028950542E-2"/>
          <c:y val="0.10025706940874037"/>
          <c:w val="0.96863691194209889"/>
          <c:h val="0.82886522218141756"/>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42FE-4785-B2A2-5AFCA2F46D1D}"/>
              </c:ext>
            </c:extLst>
          </c:dPt>
          <c:dPt>
            <c:idx val="4"/>
            <c:invertIfNegative val="0"/>
            <c:bubble3D val="0"/>
            <c:spPr>
              <a:solidFill>
                <a:schemeClr val="accent2"/>
              </a:solidFill>
              <a:ln>
                <a:noFill/>
              </a:ln>
            </c:spPr>
            <c:extLst>
              <c:ext xmlns:c16="http://schemas.microsoft.com/office/drawing/2014/chart" uri="{C3380CC4-5D6E-409C-BE32-E72D297353CC}">
                <c16:uniqueId val="{00000001-42FE-4785-B2A2-5AFCA2F46D1D}"/>
              </c:ext>
            </c:extLst>
          </c:dPt>
          <c:dLbls>
            <c:dLbl>
              <c:idx val="0"/>
              <c:layout>
                <c:manualLayout>
                  <c:x val="0"/>
                  <c:y val="-7.087770840984208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2FE-4785-B2A2-5AFCA2F46D1D}"/>
                </c:ext>
              </c:extLst>
            </c:dLbl>
            <c:dLbl>
              <c:idx val="4"/>
              <c:layout>
                <c:manualLayout>
                  <c:x val="0"/>
                  <c:y val="-0.44399559309585018"/>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2FE-4785-B2A2-5AFCA2F46D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10</c:v>
                </c:pt>
                <c:pt idx="1">
                  <c:v>10</c:v>
                </c:pt>
                <c:pt idx="2">
                  <c:v>20</c:v>
                </c:pt>
                <c:pt idx="3">
                  <c:v>50</c:v>
                </c:pt>
                <c:pt idx="4">
                  <c:v>100</c:v>
                </c:pt>
              </c:numCache>
            </c:numRef>
          </c:val>
          <c:extLst>
            <c:ext xmlns:c16="http://schemas.microsoft.com/office/drawing/2014/chart" uri="{C3380CC4-5D6E-409C-BE32-E72D297353CC}">
              <c16:uniqueId val="{00000002-42FE-4785-B2A2-5AFCA2F46D1D}"/>
            </c:ext>
          </c:extLst>
        </c:ser>
        <c:ser>
          <c:idx val="1"/>
          <c:order val="1"/>
          <c:spPr>
            <a:solidFill>
              <a:schemeClr val="accent1"/>
            </a:solidFill>
            <a:ln>
              <a:noFill/>
            </a:ln>
          </c:spPr>
          <c:invertIfNegative val="0"/>
          <c:dLbls>
            <c:dLbl>
              <c:idx val="1"/>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2FE-4785-B2A2-5AFCA2F46D1D}"/>
                </c:ext>
              </c:extLst>
            </c:dLbl>
            <c:dLbl>
              <c:idx val="2"/>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2FE-4785-B2A2-5AFCA2F46D1D}"/>
                </c:ext>
              </c:extLst>
            </c:dLbl>
            <c:dLbl>
              <c:idx val="3"/>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2FE-4785-B2A2-5AFCA2F46D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1">
                  <c:v>10</c:v>
                </c:pt>
                <c:pt idx="2">
                  <c:v>30</c:v>
                </c:pt>
                <c:pt idx="3">
                  <c:v>50</c:v>
                </c:pt>
              </c:numCache>
            </c:numRef>
          </c:val>
          <c:extLst>
            <c:ext xmlns:c16="http://schemas.microsoft.com/office/drawing/2014/chart" uri="{C3380CC4-5D6E-409C-BE32-E72D297353CC}">
              <c16:uniqueId val="{00000006-42FE-4785-B2A2-5AFCA2F46D1D}"/>
            </c:ext>
          </c:extLst>
        </c:ser>
        <c:dLbls>
          <c:showLegendKey val="0"/>
          <c:showVal val="0"/>
          <c:showCatName val="0"/>
          <c:showSerName val="0"/>
          <c:showPercent val="0"/>
          <c:showBubbleSize val="0"/>
        </c:dLbls>
        <c:gapWidth val="80"/>
        <c:overlap val="100"/>
        <c:axId val="708841631"/>
        <c:axId val="1"/>
      </c:barChart>
      <c:catAx>
        <c:axId val="70884163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708841631"/>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681544028950542E-2"/>
          <c:y val="0.10025706940874037"/>
          <c:w val="0.96863691194209889"/>
          <c:h val="0.82886522218141756"/>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7BF2-4D42-95FB-E7E7632A7B87}"/>
              </c:ext>
            </c:extLst>
          </c:dPt>
          <c:dPt>
            <c:idx val="4"/>
            <c:invertIfNegative val="0"/>
            <c:bubble3D val="0"/>
            <c:spPr>
              <a:solidFill>
                <a:schemeClr val="accent2"/>
              </a:solidFill>
              <a:ln>
                <a:noFill/>
              </a:ln>
            </c:spPr>
            <c:extLst>
              <c:ext xmlns:c16="http://schemas.microsoft.com/office/drawing/2014/chart" uri="{C3380CC4-5D6E-409C-BE32-E72D297353CC}">
                <c16:uniqueId val="{00000001-7BF2-4D42-95FB-E7E7632A7B87}"/>
              </c:ext>
            </c:extLst>
          </c:dPt>
          <c:dLbls>
            <c:dLbl>
              <c:idx val="0"/>
              <c:layout>
                <c:manualLayout>
                  <c:x val="0"/>
                  <c:y val="-7.565185457216305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BF2-4D42-95FB-E7E7632A7B87}"/>
                </c:ext>
              </c:extLst>
            </c:dLbl>
            <c:dLbl>
              <c:idx val="4"/>
              <c:layout>
                <c:manualLayout>
                  <c:x val="0"/>
                  <c:y val="-0.44399559309585018"/>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BF2-4D42-95FB-E7E7632A7B8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5</c:v>
                </c:pt>
                <c:pt idx="1">
                  <c:v>5</c:v>
                </c:pt>
                <c:pt idx="2">
                  <c:v>10</c:v>
                </c:pt>
                <c:pt idx="3">
                  <c:v>15</c:v>
                </c:pt>
                <c:pt idx="4">
                  <c:v>45</c:v>
                </c:pt>
              </c:numCache>
            </c:numRef>
          </c:val>
          <c:extLst>
            <c:ext xmlns:c16="http://schemas.microsoft.com/office/drawing/2014/chart" uri="{C3380CC4-5D6E-409C-BE32-E72D297353CC}">
              <c16:uniqueId val="{00000002-7BF2-4D42-95FB-E7E7632A7B87}"/>
            </c:ext>
          </c:extLst>
        </c:ser>
        <c:ser>
          <c:idx val="1"/>
          <c:order val="1"/>
          <c:spPr>
            <a:solidFill>
              <a:schemeClr val="accent1"/>
            </a:solidFill>
            <a:ln>
              <a:noFill/>
            </a:ln>
          </c:spPr>
          <c:invertIfNegative val="0"/>
          <c:dLbls>
            <c:dLbl>
              <c:idx val="1"/>
              <c:layout>
                <c:manualLayout>
                  <c:x val="0"/>
                  <c:y val="-1.4689680499449136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BF2-4D42-95FB-E7E7632A7B87}"/>
                </c:ext>
              </c:extLst>
            </c:dLbl>
            <c:dLbl>
              <c:idx val="2"/>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BF2-4D42-95FB-E7E7632A7B87}"/>
                </c:ext>
              </c:extLst>
            </c:dLbl>
            <c:dLbl>
              <c:idx val="3"/>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BF2-4D42-95FB-E7E7632A7B8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1">
                  <c:v>5</c:v>
                </c:pt>
                <c:pt idx="2">
                  <c:v>5</c:v>
                </c:pt>
                <c:pt idx="3">
                  <c:v>30</c:v>
                </c:pt>
              </c:numCache>
            </c:numRef>
          </c:val>
          <c:extLst>
            <c:ext xmlns:c16="http://schemas.microsoft.com/office/drawing/2014/chart" uri="{C3380CC4-5D6E-409C-BE32-E72D297353CC}">
              <c16:uniqueId val="{00000006-7BF2-4D42-95FB-E7E7632A7B87}"/>
            </c:ext>
          </c:extLst>
        </c:ser>
        <c:dLbls>
          <c:showLegendKey val="0"/>
          <c:showVal val="0"/>
          <c:showCatName val="0"/>
          <c:showSerName val="0"/>
          <c:showPercent val="0"/>
          <c:showBubbleSize val="0"/>
        </c:dLbls>
        <c:gapWidth val="80"/>
        <c:overlap val="100"/>
        <c:axId val="708833951"/>
        <c:axId val="1"/>
      </c:barChart>
      <c:catAx>
        <c:axId val="70883395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5"/>
          <c:min val="0"/>
        </c:scaling>
        <c:delete val="1"/>
        <c:axPos val="l"/>
        <c:numFmt formatCode="General" sourceLinked="1"/>
        <c:majorTickMark val="out"/>
        <c:minorTickMark val="none"/>
        <c:tickLblPos val="nextTo"/>
        <c:crossAx val="708833951"/>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6/25/2025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6/25/2025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1510283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4</a:t>
            </a:fld>
            <a:endParaRPr lang="en-US" dirty="0"/>
          </a:p>
        </p:txBody>
      </p:sp>
    </p:spTree>
    <p:extLst>
      <p:ext uri="{BB962C8B-B14F-4D97-AF65-F5344CB8AC3E}">
        <p14:creationId xmlns:p14="http://schemas.microsoft.com/office/powerpoint/2010/main" val="1048335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21</a:t>
            </a:fld>
            <a:endParaRPr lang="en-US" dirty="0"/>
          </a:p>
        </p:txBody>
      </p:sp>
    </p:spTree>
    <p:extLst>
      <p:ext uri="{BB962C8B-B14F-4D97-AF65-F5344CB8AC3E}">
        <p14:creationId xmlns:p14="http://schemas.microsoft.com/office/powerpoint/2010/main" val="2653864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25</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26</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27</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28</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openxmlformats.org/officeDocument/2006/relationships/notesSlide" Target="../notesSlides/notesSlide1.xml"/><Relationship Id="rId7" Type="http://schemas.openxmlformats.org/officeDocument/2006/relationships/image" Target="../media/image5.png"/><Relationship Id="rId12" Type="http://schemas.openxmlformats.org/officeDocument/2006/relationships/hyperlink" Target="https://youtu.be/Lei_2L1R5vs" TargetMode="External"/><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emf"/><Relationship Id="rId15" Type="http://schemas.openxmlformats.org/officeDocument/2006/relationships/image" Target="../media/image12.png"/><Relationship Id="rId10" Type="http://schemas.openxmlformats.org/officeDocument/2006/relationships/image" Target="../media/image8.png"/><Relationship Id="rId4" Type="http://schemas.openxmlformats.org/officeDocument/2006/relationships/oleObject" Target="../embeddings/oleObject3.bin"/><Relationship Id="rId9" Type="http://schemas.openxmlformats.org/officeDocument/2006/relationships/image" Target="../media/image7.pn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13.jpe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notesSlide" Target="../notesSlides/notesSlide2.xml"/><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14.png"/><Relationship Id="rId4" Type="http://schemas.openxmlformats.org/officeDocument/2006/relationships/oleObject" Target="../embeddings/oleObject5.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3.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slideLayout" Target="../slideLayouts/slideLayout1.xml"/><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tags" Target="../tags/tag18.xml"/><Relationship Id="rId16" Type="http://schemas.openxmlformats.org/officeDocument/2006/relationships/image" Target="../media/image26.svg"/><Relationship Id="rId20" Type="http://schemas.openxmlformats.org/officeDocument/2006/relationships/image" Target="../media/image30.svg"/><Relationship Id="rId1" Type="http://schemas.openxmlformats.org/officeDocument/2006/relationships/tags" Target="../tags/tag17.xml"/><Relationship Id="rId6" Type="http://schemas.openxmlformats.org/officeDocument/2006/relationships/image" Target="../media/image3.emf"/><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oleObject" Target="../embeddings/oleObject6.bin"/><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svg"/><Relationship Id="rId19" Type="http://schemas.openxmlformats.org/officeDocument/2006/relationships/image" Target="../media/image29.png"/><Relationship Id="rId4" Type="http://schemas.openxmlformats.org/officeDocument/2006/relationships/notesSlide" Target="../notesSlides/notesSlide5.xml"/><Relationship Id="rId9" Type="http://schemas.openxmlformats.org/officeDocument/2006/relationships/image" Target="../media/image19.png"/><Relationship Id="rId14" Type="http://schemas.openxmlformats.org/officeDocument/2006/relationships/image" Target="../media/image24.svg"/><Relationship Id="rId22"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37.png"/><Relationship Id="rId2" Type="http://schemas.openxmlformats.org/officeDocument/2006/relationships/slideLayout" Target="../slideLayouts/slideLayout1.xml"/><Relationship Id="rId1" Type="http://schemas.openxmlformats.org/officeDocument/2006/relationships/tags" Target="../tags/tag20.xml"/><Relationship Id="rId6" Type="http://schemas.openxmlformats.org/officeDocument/2006/relationships/image" Target="../media/image36.png"/><Relationship Id="rId5" Type="http://schemas.openxmlformats.org/officeDocument/2006/relationships/hyperlink" Target="https://youtu.be/fES_up2_BQE" TargetMode="Externa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oleObject" Target="../embeddings/oleObject9.bin"/><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slideLayout" Target="../slideLayouts/slideLayout1.xml"/><Relationship Id="rId1" Type="http://schemas.openxmlformats.org/officeDocument/2006/relationships/tags" Target="../tags/tag21.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emf"/><Relationship Id="rId9"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18" Type="http://schemas.openxmlformats.org/officeDocument/2006/relationships/image" Target="../media/image11.png"/><Relationship Id="rId3" Type="http://schemas.openxmlformats.org/officeDocument/2006/relationships/oleObject" Target="../embeddings/oleObject8.bin"/><Relationship Id="rId7" Type="http://schemas.openxmlformats.org/officeDocument/2006/relationships/image" Target="../media/image40.png"/><Relationship Id="rId12" Type="http://schemas.openxmlformats.org/officeDocument/2006/relationships/image" Target="../media/image45.svg"/><Relationship Id="rId17" Type="http://schemas.openxmlformats.org/officeDocument/2006/relationships/image" Target="../media/image7.png"/><Relationship Id="rId2" Type="http://schemas.openxmlformats.org/officeDocument/2006/relationships/slideLayout" Target="../slideLayouts/slideLayout1.xml"/><Relationship Id="rId16" Type="http://schemas.openxmlformats.org/officeDocument/2006/relationships/image" Target="../media/image6.png"/><Relationship Id="rId1" Type="http://schemas.openxmlformats.org/officeDocument/2006/relationships/tags" Target="../tags/tag22.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5.png"/><Relationship Id="rId10" Type="http://schemas.openxmlformats.org/officeDocument/2006/relationships/image" Target="../media/image43.svg"/><Relationship Id="rId4" Type="http://schemas.openxmlformats.org/officeDocument/2006/relationships/image" Target="../media/image3.emf"/><Relationship Id="rId9" Type="http://schemas.openxmlformats.org/officeDocument/2006/relationships/image" Target="../media/image42.png"/><Relationship Id="rId1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8.png"/><Relationship Id="rId18" Type="http://schemas.openxmlformats.org/officeDocument/2006/relationships/image" Target="../media/image50.png"/><Relationship Id="rId3" Type="http://schemas.openxmlformats.org/officeDocument/2006/relationships/oleObject" Target="../embeddings/oleObject10.bin"/><Relationship Id="rId7" Type="http://schemas.openxmlformats.org/officeDocument/2006/relationships/image" Target="../media/image40.png"/><Relationship Id="rId12" Type="http://schemas.openxmlformats.org/officeDocument/2006/relationships/image" Target="../media/image45.svg"/><Relationship Id="rId17" Type="http://schemas.openxmlformats.org/officeDocument/2006/relationships/image" Target="../media/image49.png"/><Relationship Id="rId2" Type="http://schemas.openxmlformats.org/officeDocument/2006/relationships/slideLayout" Target="../slideLayouts/slideLayout1.xml"/><Relationship Id="rId16" Type="http://schemas.openxmlformats.org/officeDocument/2006/relationships/image" Target="../media/image48.png"/><Relationship Id="rId1" Type="http://schemas.openxmlformats.org/officeDocument/2006/relationships/tags" Target="../tags/tag23.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7.png"/><Relationship Id="rId10" Type="http://schemas.openxmlformats.org/officeDocument/2006/relationships/image" Target="../media/image43.svg"/><Relationship Id="rId4" Type="http://schemas.openxmlformats.org/officeDocument/2006/relationships/image" Target="../media/image3.emf"/><Relationship Id="rId9" Type="http://schemas.openxmlformats.org/officeDocument/2006/relationships/image" Target="../media/image42.png"/><Relationship Id="rId1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10.png"/><Relationship Id="rId18" Type="http://schemas.openxmlformats.org/officeDocument/2006/relationships/image" Target="../media/image55.png"/><Relationship Id="rId3" Type="http://schemas.openxmlformats.org/officeDocument/2006/relationships/oleObject" Target="../embeddings/oleObject11.bin"/><Relationship Id="rId7" Type="http://schemas.openxmlformats.org/officeDocument/2006/relationships/image" Target="../media/image40.png"/><Relationship Id="rId12" Type="http://schemas.openxmlformats.org/officeDocument/2006/relationships/image" Target="../media/image45.svg"/><Relationship Id="rId17" Type="http://schemas.openxmlformats.org/officeDocument/2006/relationships/image" Target="../media/image54.png"/><Relationship Id="rId2" Type="http://schemas.openxmlformats.org/officeDocument/2006/relationships/slideLayout" Target="../slideLayouts/slideLayout1.xml"/><Relationship Id="rId16" Type="http://schemas.openxmlformats.org/officeDocument/2006/relationships/image" Target="../media/image53.png"/><Relationship Id="rId1" Type="http://schemas.openxmlformats.org/officeDocument/2006/relationships/tags" Target="../tags/tag24.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52.png"/><Relationship Id="rId10" Type="http://schemas.openxmlformats.org/officeDocument/2006/relationships/image" Target="../media/image43.svg"/><Relationship Id="rId4" Type="http://schemas.openxmlformats.org/officeDocument/2006/relationships/image" Target="../media/image3.emf"/><Relationship Id="rId9" Type="http://schemas.openxmlformats.org/officeDocument/2006/relationships/image" Target="../media/image42.png"/><Relationship Id="rId14" Type="http://schemas.openxmlformats.org/officeDocument/2006/relationships/image" Target="../media/image51.png"/></Relationships>
</file>

<file path=ppt/slides/_rels/slide12.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oleObject" Target="../embeddings/oleObject12.bin"/><Relationship Id="rId7" Type="http://schemas.openxmlformats.org/officeDocument/2006/relationships/image" Target="../media/image40.png"/><Relationship Id="rId12" Type="http://schemas.openxmlformats.org/officeDocument/2006/relationships/image" Target="../media/image45.svg"/><Relationship Id="rId17" Type="http://schemas.openxmlformats.org/officeDocument/2006/relationships/image" Target="../media/image60.png"/><Relationship Id="rId2" Type="http://schemas.openxmlformats.org/officeDocument/2006/relationships/slideLayout" Target="../slideLayouts/slideLayout1.xml"/><Relationship Id="rId16" Type="http://schemas.openxmlformats.org/officeDocument/2006/relationships/image" Target="../media/image59.png"/><Relationship Id="rId1" Type="http://schemas.openxmlformats.org/officeDocument/2006/relationships/tags" Target="../tags/tag25.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58.png"/><Relationship Id="rId10" Type="http://schemas.openxmlformats.org/officeDocument/2006/relationships/image" Target="../media/image43.svg"/><Relationship Id="rId4" Type="http://schemas.openxmlformats.org/officeDocument/2006/relationships/image" Target="../media/image3.emf"/><Relationship Id="rId9" Type="http://schemas.openxmlformats.org/officeDocument/2006/relationships/image" Target="../media/image42.png"/><Relationship Id="rId14" Type="http://schemas.openxmlformats.org/officeDocument/2006/relationships/image" Target="../media/image57.png"/></Relationships>
</file>

<file path=ppt/slides/_rels/slide13.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62.png"/><Relationship Id="rId3" Type="http://schemas.openxmlformats.org/officeDocument/2006/relationships/oleObject" Target="../embeddings/oleObject13.bin"/><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slideLayout" Target="../slideLayouts/slideLayout1.xml"/><Relationship Id="rId16" Type="http://schemas.openxmlformats.org/officeDocument/2006/relationships/image" Target="../media/image65.png"/><Relationship Id="rId1" Type="http://schemas.openxmlformats.org/officeDocument/2006/relationships/tags" Target="../tags/tag26.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64.png"/><Relationship Id="rId10" Type="http://schemas.openxmlformats.org/officeDocument/2006/relationships/image" Target="../media/image43.svg"/><Relationship Id="rId4" Type="http://schemas.openxmlformats.org/officeDocument/2006/relationships/image" Target="../media/image3.emf"/><Relationship Id="rId9" Type="http://schemas.openxmlformats.org/officeDocument/2006/relationships/image" Target="../media/image42.png"/><Relationship Id="rId14" Type="http://schemas.openxmlformats.org/officeDocument/2006/relationships/image" Target="../media/image63.emf"/></Relationships>
</file>

<file path=ppt/slides/_rels/slide14.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oleObject" Target="../embeddings/oleObject14.bin"/><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slideLayout" Target="../slideLayouts/slideLayout1.xml"/><Relationship Id="rId1" Type="http://schemas.openxmlformats.org/officeDocument/2006/relationships/tags" Target="../tags/tag27.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emf"/><Relationship Id="rId9" Type="http://schemas.openxmlformats.org/officeDocument/2006/relationships/image" Target="../media/image42.png"/></Relationships>
</file>

<file path=ppt/slides/_rels/slide15.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oleObject" Target="../embeddings/oleObject15.bin"/><Relationship Id="rId7" Type="http://schemas.openxmlformats.org/officeDocument/2006/relationships/image" Target="../media/image68.png"/><Relationship Id="rId12" Type="http://schemas.openxmlformats.org/officeDocument/2006/relationships/image" Target="../media/image73.svg"/><Relationship Id="rId2" Type="http://schemas.openxmlformats.org/officeDocument/2006/relationships/slideLayout" Target="../slideLayouts/slideLayout1.xml"/><Relationship Id="rId1" Type="http://schemas.openxmlformats.org/officeDocument/2006/relationships/tags" Target="../tags/tag28.xml"/><Relationship Id="rId6" Type="http://schemas.openxmlformats.org/officeDocument/2006/relationships/image" Target="../media/image67.sv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1.emf"/><Relationship Id="rId9" Type="http://schemas.openxmlformats.org/officeDocument/2006/relationships/image" Target="../media/image70.png"/></Relationships>
</file>

<file path=ppt/slides/_rels/slide16.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31.xml"/><Relationship Id="rId7" Type="http://schemas.openxmlformats.org/officeDocument/2006/relationships/oleObject" Target="../embeddings/oleObject16.bin"/><Relationship Id="rId12" Type="http://schemas.openxmlformats.org/officeDocument/2006/relationships/chart" Target="../charts/chart4.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Layout" Target="../slideLayouts/slideLayout1.xml"/><Relationship Id="rId11" Type="http://schemas.openxmlformats.org/officeDocument/2006/relationships/chart" Target="../charts/chart3.xml"/><Relationship Id="rId5" Type="http://schemas.openxmlformats.org/officeDocument/2006/relationships/tags" Target="../tags/tag33.xml"/><Relationship Id="rId10" Type="http://schemas.openxmlformats.org/officeDocument/2006/relationships/chart" Target="../charts/chart2.xml"/><Relationship Id="rId4" Type="http://schemas.openxmlformats.org/officeDocument/2006/relationships/tags" Target="../tags/tag32.xml"/><Relationship Id="rId9" Type="http://schemas.openxmlformats.org/officeDocument/2006/relationships/chart" Target="../charts/chart1.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tags" Target="../tags/tag34.xml"/><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oleObject" Target="../embeddings/oleObject18.bin"/><Relationship Id="rId7" Type="http://schemas.openxmlformats.org/officeDocument/2006/relationships/image" Target="../media/image76.png"/><Relationship Id="rId2" Type="http://schemas.openxmlformats.org/officeDocument/2006/relationships/slideLayout" Target="../slideLayouts/slideLayout1.xml"/><Relationship Id="rId1" Type="http://schemas.openxmlformats.org/officeDocument/2006/relationships/tags" Target="../tags/tag35.xml"/><Relationship Id="rId6" Type="http://schemas.openxmlformats.org/officeDocument/2006/relationships/image" Target="../media/image75.svg"/><Relationship Id="rId5" Type="http://schemas.openxmlformats.org/officeDocument/2006/relationships/image" Target="../media/image74.png"/><Relationship Id="rId10" Type="http://schemas.openxmlformats.org/officeDocument/2006/relationships/image" Target="../media/image79.svg"/><Relationship Id="rId4" Type="http://schemas.openxmlformats.org/officeDocument/2006/relationships/image" Target="../media/image3.emf"/><Relationship Id="rId9" Type="http://schemas.openxmlformats.org/officeDocument/2006/relationships/image" Target="../media/image78.png"/></Relationships>
</file>

<file path=ppt/slides/_rels/slide19.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tags" Target="../tags/tag53.xml"/><Relationship Id="rId3" Type="http://schemas.openxmlformats.org/officeDocument/2006/relationships/tags" Target="../tags/tag38.xml"/><Relationship Id="rId21" Type="http://schemas.openxmlformats.org/officeDocument/2006/relationships/image" Target="../media/image3.emf"/><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 Type="http://schemas.openxmlformats.org/officeDocument/2006/relationships/tags" Target="../tags/tag37.xml"/><Relationship Id="rId16" Type="http://schemas.openxmlformats.org/officeDocument/2006/relationships/tags" Target="../tags/tag51.xml"/><Relationship Id="rId20" Type="http://schemas.openxmlformats.org/officeDocument/2006/relationships/oleObject" Target="../embeddings/oleObject19.bin"/><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5" Type="http://schemas.openxmlformats.org/officeDocument/2006/relationships/tags" Target="../tags/tag50.xml"/><Relationship Id="rId10" Type="http://schemas.openxmlformats.org/officeDocument/2006/relationships/tags" Target="../tags/tag45.xml"/><Relationship Id="rId19" Type="http://schemas.openxmlformats.org/officeDocument/2006/relationships/slideLayout" Target="../slideLayouts/slideLayout1.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 Id="rId22" Type="http://schemas.openxmlformats.org/officeDocument/2006/relationships/chart" Target="../charts/chart5.xml"/></Relationships>
</file>

<file path=ppt/slides/_rels/slide20.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oleObject" Target="../embeddings/oleObject20.bin"/><Relationship Id="rId7" Type="http://schemas.openxmlformats.org/officeDocument/2006/relationships/image" Target="../media/image76.png"/><Relationship Id="rId2" Type="http://schemas.openxmlformats.org/officeDocument/2006/relationships/slideLayout" Target="../slideLayouts/slideLayout1.xml"/><Relationship Id="rId1" Type="http://schemas.openxmlformats.org/officeDocument/2006/relationships/tags" Target="../tags/tag54.xml"/><Relationship Id="rId6" Type="http://schemas.openxmlformats.org/officeDocument/2006/relationships/image" Target="../media/image75.svg"/><Relationship Id="rId5" Type="http://schemas.openxmlformats.org/officeDocument/2006/relationships/image" Target="../media/image74.png"/><Relationship Id="rId10" Type="http://schemas.openxmlformats.org/officeDocument/2006/relationships/image" Target="../media/image79.svg"/><Relationship Id="rId4" Type="http://schemas.openxmlformats.org/officeDocument/2006/relationships/image" Target="../media/image3.emf"/><Relationship Id="rId9" Type="http://schemas.openxmlformats.org/officeDocument/2006/relationships/image" Target="../media/image78.png"/></Relationships>
</file>

<file path=ppt/slides/_rels/slide21.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18" Type="http://schemas.openxmlformats.org/officeDocument/2006/relationships/tags" Target="../tags/tag72.xml"/><Relationship Id="rId26" Type="http://schemas.openxmlformats.org/officeDocument/2006/relationships/chart" Target="../charts/chart6.xml"/><Relationship Id="rId3" Type="http://schemas.openxmlformats.org/officeDocument/2006/relationships/tags" Target="../tags/tag57.xml"/><Relationship Id="rId21" Type="http://schemas.openxmlformats.org/officeDocument/2006/relationships/tags" Target="../tags/tag75.xml"/><Relationship Id="rId7" Type="http://schemas.openxmlformats.org/officeDocument/2006/relationships/tags" Target="../tags/tag61.xml"/><Relationship Id="rId12" Type="http://schemas.openxmlformats.org/officeDocument/2006/relationships/tags" Target="../tags/tag66.xml"/><Relationship Id="rId17" Type="http://schemas.openxmlformats.org/officeDocument/2006/relationships/tags" Target="../tags/tag71.xml"/><Relationship Id="rId25" Type="http://schemas.openxmlformats.org/officeDocument/2006/relationships/image" Target="../media/image3.emf"/><Relationship Id="rId2" Type="http://schemas.openxmlformats.org/officeDocument/2006/relationships/tags" Target="../tags/tag56.xml"/><Relationship Id="rId16" Type="http://schemas.openxmlformats.org/officeDocument/2006/relationships/tags" Target="../tags/tag70.xml"/><Relationship Id="rId20" Type="http://schemas.openxmlformats.org/officeDocument/2006/relationships/tags" Target="../tags/tag74.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24" Type="http://schemas.openxmlformats.org/officeDocument/2006/relationships/oleObject" Target="../embeddings/oleObject21.bin"/><Relationship Id="rId5" Type="http://schemas.openxmlformats.org/officeDocument/2006/relationships/tags" Target="../tags/tag59.xml"/><Relationship Id="rId15" Type="http://schemas.openxmlformats.org/officeDocument/2006/relationships/tags" Target="../tags/tag69.xml"/><Relationship Id="rId23" Type="http://schemas.openxmlformats.org/officeDocument/2006/relationships/notesSlide" Target="../notesSlides/notesSlide7.xml"/><Relationship Id="rId10" Type="http://schemas.openxmlformats.org/officeDocument/2006/relationships/tags" Target="../tags/tag64.xml"/><Relationship Id="rId19" Type="http://schemas.openxmlformats.org/officeDocument/2006/relationships/tags" Target="../tags/tag73.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 Id="rId22" Type="http://schemas.openxmlformats.org/officeDocument/2006/relationships/slideLayout" Target="../slideLayouts/slideLayout1.xml"/><Relationship Id="rId27" Type="http://schemas.openxmlformats.org/officeDocument/2006/relationships/chart" Target="../charts/chart7.xml"/></Relationships>
</file>

<file path=ppt/slides/_rels/slide22.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notesSlide" Target="../notesSlides/notesSlide8.xml"/><Relationship Id="rId7" Type="http://schemas.openxmlformats.org/officeDocument/2006/relationships/image" Target="../media/image81.png"/><Relationship Id="rId2" Type="http://schemas.openxmlformats.org/officeDocument/2006/relationships/slideLayout" Target="../slideLayouts/slideLayout1.xml"/><Relationship Id="rId1" Type="http://schemas.openxmlformats.org/officeDocument/2006/relationships/tags" Target="../tags/tag76.xml"/><Relationship Id="rId6" Type="http://schemas.openxmlformats.org/officeDocument/2006/relationships/image" Target="../media/image80.png"/><Relationship Id="rId5" Type="http://schemas.openxmlformats.org/officeDocument/2006/relationships/image" Target="../media/image1.emf"/><Relationship Id="rId10" Type="http://schemas.openxmlformats.org/officeDocument/2006/relationships/image" Target="../media/image36.png"/><Relationship Id="rId4" Type="http://schemas.openxmlformats.org/officeDocument/2006/relationships/oleObject" Target="../embeddings/oleObject5.bin"/><Relationship Id="rId9" Type="http://schemas.openxmlformats.org/officeDocument/2006/relationships/image" Target="../media/image83.svg"/></Relationships>
</file>

<file path=ppt/slides/_rels/slide23.xml.rels><?xml version="1.0" encoding="UTF-8" standalone="yes"?>
<Relationships xmlns="http://schemas.openxmlformats.org/package/2006/relationships"><Relationship Id="rId8" Type="http://schemas.openxmlformats.org/officeDocument/2006/relationships/image" Target="../media/image85.svg"/><Relationship Id="rId13" Type="http://schemas.openxmlformats.org/officeDocument/2006/relationships/image" Target="../media/image90.png"/><Relationship Id="rId18" Type="http://schemas.openxmlformats.org/officeDocument/2006/relationships/image" Target="../media/image95.svg"/><Relationship Id="rId3" Type="http://schemas.openxmlformats.org/officeDocument/2006/relationships/slideLayout" Target="../slideLayouts/slideLayout1.xml"/><Relationship Id="rId21" Type="http://schemas.openxmlformats.org/officeDocument/2006/relationships/image" Target="../media/image98.png"/><Relationship Id="rId7" Type="http://schemas.openxmlformats.org/officeDocument/2006/relationships/image" Target="../media/image84.png"/><Relationship Id="rId12" Type="http://schemas.openxmlformats.org/officeDocument/2006/relationships/image" Target="../media/image89.svg"/><Relationship Id="rId17" Type="http://schemas.openxmlformats.org/officeDocument/2006/relationships/image" Target="../media/image94.png"/><Relationship Id="rId2" Type="http://schemas.openxmlformats.org/officeDocument/2006/relationships/tags" Target="../tags/tag78.xml"/><Relationship Id="rId16" Type="http://schemas.openxmlformats.org/officeDocument/2006/relationships/image" Target="../media/image93.svg"/><Relationship Id="rId20" Type="http://schemas.openxmlformats.org/officeDocument/2006/relationships/image" Target="../media/image97.svg"/><Relationship Id="rId1" Type="http://schemas.openxmlformats.org/officeDocument/2006/relationships/tags" Target="../tags/tag77.xml"/><Relationship Id="rId6" Type="http://schemas.openxmlformats.org/officeDocument/2006/relationships/image" Target="../media/image1.emf"/><Relationship Id="rId11" Type="http://schemas.openxmlformats.org/officeDocument/2006/relationships/image" Target="../media/image88.png"/><Relationship Id="rId24" Type="http://schemas.openxmlformats.org/officeDocument/2006/relationships/image" Target="../media/image101.svg"/><Relationship Id="rId5" Type="http://schemas.openxmlformats.org/officeDocument/2006/relationships/oleObject" Target="../embeddings/oleObject5.bin"/><Relationship Id="rId15" Type="http://schemas.openxmlformats.org/officeDocument/2006/relationships/image" Target="../media/image92.png"/><Relationship Id="rId23" Type="http://schemas.openxmlformats.org/officeDocument/2006/relationships/image" Target="../media/image100.png"/><Relationship Id="rId10" Type="http://schemas.openxmlformats.org/officeDocument/2006/relationships/image" Target="../media/image87.svg"/><Relationship Id="rId19" Type="http://schemas.openxmlformats.org/officeDocument/2006/relationships/image" Target="../media/image96.png"/><Relationship Id="rId4" Type="http://schemas.openxmlformats.org/officeDocument/2006/relationships/notesSlide" Target="../notesSlides/notesSlide9.xml"/><Relationship Id="rId9" Type="http://schemas.openxmlformats.org/officeDocument/2006/relationships/image" Target="../media/image86.png"/><Relationship Id="rId14" Type="http://schemas.openxmlformats.org/officeDocument/2006/relationships/image" Target="../media/image91.svg"/><Relationship Id="rId22" Type="http://schemas.openxmlformats.org/officeDocument/2006/relationships/image" Target="../media/image99.sv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79.xml"/><Relationship Id="rId6" Type="http://schemas.openxmlformats.org/officeDocument/2006/relationships/hyperlink" Target="https://www.domontconsulting.com/pages/reviews" TargetMode="External"/><Relationship Id="rId5" Type="http://schemas.openxmlformats.org/officeDocument/2006/relationships/image" Target="../media/image102.png"/><Relationship Id="rId4" Type="http://schemas.openxmlformats.org/officeDocument/2006/relationships/image" Target="../media/image3.emf"/></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10.xml"/><Relationship Id="rId7" Type="http://schemas.openxmlformats.org/officeDocument/2006/relationships/image" Target="../media/image31.png"/><Relationship Id="rId2" Type="http://schemas.openxmlformats.org/officeDocument/2006/relationships/slideLayout" Target="../slideLayouts/slideLayout1.xml"/><Relationship Id="rId1" Type="http://schemas.openxmlformats.org/officeDocument/2006/relationships/tags" Target="../tags/tag80.xml"/><Relationship Id="rId6" Type="http://schemas.openxmlformats.org/officeDocument/2006/relationships/image" Target="../media/image103.png"/><Relationship Id="rId11" Type="http://schemas.openxmlformats.org/officeDocument/2006/relationships/image" Target="../media/image35.png"/><Relationship Id="rId5" Type="http://schemas.openxmlformats.org/officeDocument/2006/relationships/image" Target="../media/image1.emf"/><Relationship Id="rId10" Type="http://schemas.openxmlformats.org/officeDocument/2006/relationships/image" Target="../media/image34.png"/><Relationship Id="rId4" Type="http://schemas.openxmlformats.org/officeDocument/2006/relationships/oleObject" Target="../embeddings/oleObject22.bin"/><Relationship Id="rId9" Type="http://schemas.openxmlformats.org/officeDocument/2006/relationships/image" Target="../media/image33.png"/></Relationships>
</file>

<file path=ppt/slides/_rels/slide26.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2.emf"/><Relationship Id="rId5" Type="http://schemas.openxmlformats.org/officeDocument/2006/relationships/oleObject" Target="../embeddings/oleObject5.bin"/><Relationship Id="rId4" Type="http://schemas.openxmlformats.org/officeDocument/2006/relationships/notesSlide" Target="../notesSlides/notesSlide11.xml"/><Relationship Id="rId9" Type="http://schemas.openxmlformats.org/officeDocument/2006/relationships/hyperlink" Target="https://www.domontconsulting.com/pages/full-access"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09.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1.emf"/><Relationship Id="rId11" Type="http://schemas.openxmlformats.org/officeDocument/2006/relationships/image" Target="../media/image108.png"/><Relationship Id="rId5" Type="http://schemas.openxmlformats.org/officeDocument/2006/relationships/oleObject" Target="../embeddings/oleObject5.bin"/><Relationship Id="rId10" Type="http://schemas.openxmlformats.org/officeDocument/2006/relationships/image" Target="../media/image107.png"/><Relationship Id="rId4" Type="http://schemas.openxmlformats.org/officeDocument/2006/relationships/notesSlide" Target="../notesSlides/notesSlide12.xml"/><Relationship Id="rId9" Type="http://schemas.openxmlformats.org/officeDocument/2006/relationships/image" Target="../media/image106.png"/></Relationships>
</file>

<file path=ppt/slides/_rels/slide28.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oleObject" Target="../embeddings/oleObject5.bin"/><Relationship Id="rId5" Type="http://schemas.openxmlformats.org/officeDocument/2006/relationships/image" Target="../media/image111.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6" name="Picture 25">
            <a:extLst>
              <a:ext uri="{FF2B5EF4-FFF2-40B4-BE49-F238E27FC236}">
                <a16:creationId xmlns:a16="http://schemas.microsoft.com/office/drawing/2014/main" id="{C2B72C25-48AB-87F2-E165-9D38979BD020}"/>
              </a:ext>
            </a:extLst>
          </p:cNvPr>
          <p:cNvPicPr>
            <a:picLocks noChangeAspect="1"/>
          </p:cNvPicPr>
          <p:nvPr/>
        </p:nvPicPr>
        <p:blipFill>
          <a:blip r:embed="rId6"/>
          <a:stretch>
            <a:fillRect/>
          </a:stretch>
        </p:blipFill>
        <p:spPr>
          <a:xfrm>
            <a:off x="8239422" y="274469"/>
            <a:ext cx="3310384" cy="1862092"/>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644F2D04-640D-6EC4-7454-9253E658687D}"/>
              </a:ext>
            </a:extLst>
          </p:cNvPr>
          <p:cNvPicPr>
            <a:picLocks noChangeAspect="1"/>
          </p:cNvPicPr>
          <p:nvPr/>
        </p:nvPicPr>
        <p:blipFill>
          <a:blip r:embed="rId7"/>
          <a:stretch>
            <a:fillRect/>
          </a:stretch>
        </p:blipFill>
        <p:spPr>
          <a:xfrm>
            <a:off x="8239422" y="2477976"/>
            <a:ext cx="3310384" cy="1862092"/>
          </a:xfrm>
          <a:prstGeom prst="rect">
            <a:avLst/>
          </a:prstGeom>
          <a:effectLst>
            <a:outerShdw blurRad="50800" dist="38100" dir="5400000" algn="t" rotWithShape="0">
              <a:prstClr val="black">
                <a:alpha val="40000"/>
              </a:prstClr>
            </a:outerShdw>
          </a:effectLst>
        </p:spPr>
      </p:pic>
      <p:pic>
        <p:nvPicPr>
          <p:cNvPr id="28" name="Picture 27">
            <a:extLst>
              <a:ext uri="{FF2B5EF4-FFF2-40B4-BE49-F238E27FC236}">
                <a16:creationId xmlns:a16="http://schemas.microsoft.com/office/drawing/2014/main" id="{EFE1875C-ED41-C182-1F74-3055C8EFD426}"/>
              </a:ext>
            </a:extLst>
          </p:cNvPr>
          <p:cNvPicPr>
            <a:picLocks noChangeAspect="1"/>
          </p:cNvPicPr>
          <p:nvPr/>
        </p:nvPicPr>
        <p:blipFill>
          <a:blip r:embed="rId8"/>
          <a:stretch>
            <a:fillRect/>
          </a:stretch>
        </p:blipFill>
        <p:spPr>
          <a:xfrm>
            <a:off x="4440808" y="274469"/>
            <a:ext cx="3310384" cy="1862092"/>
          </a:xfrm>
          <a:prstGeom prst="rect">
            <a:avLst/>
          </a:prstGeom>
          <a:effectLst>
            <a:outerShdw blurRad="63500" sx="102000" sy="102000" algn="ctr" rotWithShape="0">
              <a:prstClr val="black">
                <a:alpha val="40000"/>
              </a:prstClr>
            </a:outerShdw>
          </a:effectLst>
        </p:spPr>
      </p:pic>
      <p:pic>
        <p:nvPicPr>
          <p:cNvPr id="29" name="Picture 28">
            <a:extLst>
              <a:ext uri="{FF2B5EF4-FFF2-40B4-BE49-F238E27FC236}">
                <a16:creationId xmlns:a16="http://schemas.microsoft.com/office/drawing/2014/main" id="{2B12F308-8FAC-0EBB-B5BA-AD6979F5B2CC}"/>
              </a:ext>
            </a:extLst>
          </p:cNvPr>
          <p:cNvPicPr>
            <a:picLocks noChangeAspect="1"/>
          </p:cNvPicPr>
          <p:nvPr/>
        </p:nvPicPr>
        <p:blipFill>
          <a:blip r:embed="rId9"/>
          <a:stretch>
            <a:fillRect/>
          </a:stretch>
        </p:blipFill>
        <p:spPr>
          <a:xfrm>
            <a:off x="4440808" y="2477977"/>
            <a:ext cx="3310384" cy="1862092"/>
          </a:xfrm>
          <a:prstGeom prst="rect">
            <a:avLst/>
          </a:prstGeom>
          <a:effectLst>
            <a:outerShdw blurRad="63500" sx="102000" sy="102000" algn="ctr" rotWithShape="0">
              <a:prstClr val="black">
                <a:alpha val="40000"/>
              </a:prstClr>
            </a:outerShdw>
          </a:effectLst>
        </p:spPr>
      </p:pic>
      <p:pic>
        <p:nvPicPr>
          <p:cNvPr id="34" name="Picture 33">
            <a:extLst>
              <a:ext uri="{FF2B5EF4-FFF2-40B4-BE49-F238E27FC236}">
                <a16:creationId xmlns:a16="http://schemas.microsoft.com/office/drawing/2014/main" id="{1410326C-F279-193D-C5CE-8258A3C2D292}"/>
              </a:ext>
            </a:extLst>
          </p:cNvPr>
          <p:cNvPicPr>
            <a:picLocks noChangeAspect="1"/>
          </p:cNvPicPr>
          <p:nvPr/>
        </p:nvPicPr>
        <p:blipFill>
          <a:blip r:embed="rId10"/>
          <a:stretch>
            <a:fillRect/>
          </a:stretch>
        </p:blipFill>
        <p:spPr>
          <a:xfrm>
            <a:off x="642066" y="4634444"/>
            <a:ext cx="3312416" cy="1863234"/>
          </a:xfrm>
          <a:prstGeom prst="rect">
            <a:avLst/>
          </a:prstGeom>
          <a:effectLst>
            <a:outerShdw blurRad="63500" sx="102000" sy="102000" algn="ctr" rotWithShape="0">
              <a:prstClr val="black">
                <a:alpha val="40000"/>
              </a:prstClr>
            </a:outerShdw>
          </a:effectLst>
        </p:spPr>
      </p:pic>
      <p:pic>
        <p:nvPicPr>
          <p:cNvPr id="35" name="Picture 34">
            <a:extLst>
              <a:ext uri="{FF2B5EF4-FFF2-40B4-BE49-F238E27FC236}">
                <a16:creationId xmlns:a16="http://schemas.microsoft.com/office/drawing/2014/main" id="{4E2206F7-668E-8ADE-7580-66AFB9C049FC}"/>
              </a:ext>
            </a:extLst>
          </p:cNvPr>
          <p:cNvPicPr>
            <a:picLocks noChangeAspect="1"/>
          </p:cNvPicPr>
          <p:nvPr/>
        </p:nvPicPr>
        <p:blipFill>
          <a:blip r:embed="rId11"/>
          <a:stretch>
            <a:fillRect/>
          </a:stretch>
        </p:blipFill>
        <p:spPr>
          <a:xfrm>
            <a:off x="4437149" y="4634444"/>
            <a:ext cx="3312416" cy="1863234"/>
          </a:xfrm>
          <a:prstGeom prst="rect">
            <a:avLst/>
          </a:prstGeom>
          <a:effectLst>
            <a:outerShdw blurRad="63500" sx="102000" sy="102000" algn="ctr" rotWithShape="0">
              <a:prstClr val="black">
                <a:alpha val="40000"/>
              </a:prstClr>
            </a:outerShdw>
          </a:effectLst>
        </p:spPr>
      </p:pic>
      <p:pic>
        <p:nvPicPr>
          <p:cNvPr id="2" name="Picture 1">
            <a:hlinkClick r:id="rId12"/>
            <a:extLst>
              <a:ext uri="{FF2B5EF4-FFF2-40B4-BE49-F238E27FC236}">
                <a16:creationId xmlns:a16="http://schemas.microsoft.com/office/drawing/2014/main" id="{90EE4147-F584-6C46-D799-9FE07DC5CE93}"/>
              </a:ext>
            </a:extLst>
          </p:cNvPr>
          <p:cNvPicPr>
            <a:picLocks noChangeAspect="1"/>
          </p:cNvPicPr>
          <p:nvPr/>
        </p:nvPicPr>
        <p:blipFill>
          <a:blip r:embed="rId13"/>
          <a:stretch>
            <a:fillRect/>
          </a:stretch>
        </p:blipFill>
        <p:spPr>
          <a:xfrm>
            <a:off x="642066" y="2483532"/>
            <a:ext cx="3310384" cy="1856535"/>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243D1097-BCB4-531E-A23A-038AAB5F76B6}"/>
              </a:ext>
            </a:extLst>
          </p:cNvPr>
          <p:cNvPicPr>
            <a:picLocks noChangeAspect="1"/>
          </p:cNvPicPr>
          <p:nvPr/>
        </p:nvPicPr>
        <p:blipFill>
          <a:blip r:embed="rId14"/>
          <a:stretch>
            <a:fillRect/>
          </a:stretch>
        </p:blipFill>
        <p:spPr>
          <a:xfrm>
            <a:off x="642194" y="274469"/>
            <a:ext cx="3310384" cy="1862092"/>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89251147-7FB1-712A-BF67-26E71CBBE2BE}"/>
              </a:ext>
            </a:extLst>
          </p:cNvPr>
          <p:cNvPicPr>
            <a:picLocks noChangeAspect="1"/>
          </p:cNvPicPr>
          <p:nvPr/>
        </p:nvPicPr>
        <p:blipFill rotWithShape="1">
          <a:blip r:embed="rId15"/>
          <a:srcRect r="12649" b="12648"/>
          <a:stretch/>
        </p:blipFill>
        <p:spPr>
          <a:xfrm>
            <a:off x="8239423" y="4634444"/>
            <a:ext cx="3310384" cy="186209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94110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850987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8" name="Pic">
            <a:extLst>
              <a:ext uri="{FF2B5EF4-FFF2-40B4-BE49-F238E27FC236}">
                <a16:creationId xmlns:a16="http://schemas.microsoft.com/office/drawing/2014/main" id="{67BB509E-F71D-BA53-008D-FBA5D2648367}"/>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7537" b="7537"/>
          <a:stretch>
            <a:fillRect/>
          </a:stretch>
        </p:blipFill>
        <p:spPr bwMode="auto">
          <a:xfrm>
            <a:off x="-1" y="0"/>
            <a:ext cx="12192000" cy="6858000"/>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5128054"/>
            <a:ext cx="12192000" cy="1729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253851" y="5387796"/>
            <a:ext cx="6678577" cy="1323439"/>
          </a:xfrm>
          <a:prstGeom prst="rect">
            <a:avLst/>
          </a:prstGeom>
          <a:noFill/>
        </p:spPr>
        <p:txBody>
          <a:bodyPr wrap="square" rtlCol="0">
            <a:spAutoFit/>
          </a:bodyPr>
          <a:lstStyle/>
          <a:p>
            <a:r>
              <a:rPr lang="en-US" sz="2800" b="1" dirty="0"/>
              <a:t>Corporate/Business Strategy and Strategic Planning Toolkit</a:t>
            </a:r>
          </a:p>
          <a:p>
            <a:r>
              <a:rPr lang="en-US" sz="2400" dirty="0">
                <a:solidFill>
                  <a:schemeClr val="accent2"/>
                </a:solidFill>
              </a:rPr>
              <a:t>Overview</a:t>
            </a:r>
          </a:p>
        </p:txBody>
      </p:sp>
      <p:pic>
        <p:nvPicPr>
          <p:cNvPr id="3" name="Picture 2">
            <a:hlinkClick r:id="rId8"/>
            <a:extLst>
              <a:ext uri="{FF2B5EF4-FFF2-40B4-BE49-F238E27FC236}">
                <a16:creationId xmlns:a16="http://schemas.microsoft.com/office/drawing/2014/main" id="{00063173-AAB2-BC28-DBCA-ED0E0758D2E3}"/>
              </a:ext>
            </a:extLst>
          </p:cNvPr>
          <p:cNvPicPr>
            <a:picLocks noChangeAspect="1"/>
          </p:cNvPicPr>
          <p:nvPr/>
        </p:nvPicPr>
        <p:blipFill>
          <a:blip r:embed="rId9"/>
          <a:stretch>
            <a:fillRect/>
          </a:stretch>
        </p:blipFill>
        <p:spPr>
          <a:xfrm>
            <a:off x="7836195" y="5532637"/>
            <a:ext cx="4101954" cy="964769"/>
          </a:xfrm>
          <a:prstGeom prst="rect">
            <a:avLst/>
          </a:prstGeom>
        </p:spPr>
      </p:pic>
    </p:spTree>
    <p:extLst>
      <p:ext uri="{BB962C8B-B14F-4D97-AF65-F5344CB8AC3E}">
        <p14:creationId xmlns:p14="http://schemas.microsoft.com/office/powerpoint/2010/main" val="3956982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GB" sz="1600" b="1" dirty="0">
                <a:solidFill>
                  <a:schemeClr val="tx1"/>
                </a:solidFill>
                <a:cs typeface="Arial" panose="020B0604020202020204" pitchFamily="34" charset="0"/>
              </a:rPr>
              <a:t>This Corporate/Business Strategy and Strategic Planning Toolkit was created by ex-McKinsey, Deloitte and BCG Strategy Consultants</a:t>
            </a:r>
            <a:r>
              <a:rPr lang="en-GB" sz="1600" dirty="0">
                <a:solidFill>
                  <a:schemeClr val="tx1"/>
                </a:solidFill>
                <a:cs typeface="Arial" panose="020B0604020202020204" pitchFamily="34" charset="0"/>
              </a:rPr>
              <a:t>, after more than 6,000 hours of work. It is considered the world's best &amp; most comprehensive Strategy Toolkit. It includes all the Frameworks, Best Practices and Templates required to define &amp; implement a winning Corporate/Business Strategy and Strategic Plan for your organization.</a:t>
            </a:r>
          </a:p>
          <a:p>
            <a:pPr marL="182563" indent="-182563">
              <a:spcBef>
                <a:spcPts val="600"/>
              </a:spcBef>
              <a:spcAft>
                <a:spcPts val="600"/>
              </a:spcAft>
              <a:buFont typeface="Arial" panose="020B0604020202020204" pitchFamily="34" charset="0"/>
              <a:buChar char="•"/>
            </a:pPr>
            <a:r>
              <a:rPr lang="en-GB" sz="1600" b="1" dirty="0">
                <a:solidFill>
                  <a:srgbClr val="002060"/>
                </a:solidFill>
                <a:cs typeface="Arial" panose="020B0604020202020204" pitchFamily="34" charset="0"/>
              </a:rPr>
              <a:t>Join the 200,000+ Executives, Consultants &amp; Entrepreneurs </a:t>
            </a:r>
            <a:r>
              <a:rPr lang="en-GB"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GB" sz="1600" b="1" dirty="0">
                <a:solidFill>
                  <a:srgbClr val="002060"/>
                </a:solidFill>
                <a:cs typeface="Arial" panose="020B0604020202020204" pitchFamily="34" charset="0"/>
              </a:rPr>
              <a:t>If you have any questions, send us an email at support@domontconsulting.com </a:t>
            </a:r>
            <a:r>
              <a:rPr lang="en-GB"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GB" sz="1100" dirty="0"/>
              <a:t>Aurelien Domont</a:t>
            </a:r>
          </a:p>
          <a:p>
            <a:pPr algn="ctr"/>
            <a:r>
              <a:rPr lang="en-GB" sz="1100" dirty="0"/>
              <a:t>Management Consultant</a:t>
            </a:r>
          </a:p>
          <a:p>
            <a:pPr algn="ctr"/>
            <a:r>
              <a:rPr lang="en-GB"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0AC830ED-F307-D201-320D-2DFC2498BF96}"/>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C87F82FF-BAA0-7FB7-2417-06E5E02DD1EF}"/>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78C851D-18CB-71FD-A9DF-00B73F828263}"/>
              </a:ext>
            </a:extLst>
          </p:cNvPr>
          <p:cNvGraphicFramePr>
            <a:graphicFrameLocks noChangeAspect="1"/>
          </p:cNvGraphicFramePr>
          <p:nvPr>
            <p:custDataLst>
              <p:tags r:id="rId1"/>
            </p:custDataLst>
            <p:extLst>
              <p:ext uri="{D42A27DB-BD31-4B8C-83A1-F6EECF244321}">
                <p14:modId xmlns:p14="http://schemas.microsoft.com/office/powerpoint/2010/main" val="27178957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778C851D-18CB-71FD-A9DF-00B73F8282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4A2542B-43BB-B3BF-4169-708E55855120}"/>
              </a:ext>
            </a:extLst>
          </p:cNvPr>
          <p:cNvSpPr>
            <a:spLocks noGrp="1"/>
          </p:cNvSpPr>
          <p:nvPr>
            <p:ph type="title"/>
          </p:nvPr>
        </p:nvSpPr>
        <p:spPr/>
        <p:txBody>
          <a:bodyPr vert="horz"/>
          <a:lstStyle/>
          <a:p>
            <a:r>
              <a:rPr lang="en-US" dirty="0">
                <a:solidFill>
                  <a:schemeClr val="accent2"/>
                </a:solidFill>
              </a:rPr>
              <a:t>Problem: </a:t>
            </a:r>
            <a:r>
              <a:rPr lang="en-US" dirty="0"/>
              <a:t>Most companies struggle to be good at both defining and executing their corporate/business strategy</a:t>
            </a:r>
          </a:p>
        </p:txBody>
      </p:sp>
      <p:grpSp>
        <p:nvGrpSpPr>
          <p:cNvPr id="20" name="Group 19">
            <a:extLst>
              <a:ext uri="{FF2B5EF4-FFF2-40B4-BE49-F238E27FC236}">
                <a16:creationId xmlns:a16="http://schemas.microsoft.com/office/drawing/2014/main" id="{F346964D-A932-05EB-E307-5DE6E76C6ACB}"/>
              </a:ext>
            </a:extLst>
          </p:cNvPr>
          <p:cNvGrpSpPr/>
          <p:nvPr/>
        </p:nvGrpSpPr>
        <p:grpSpPr>
          <a:xfrm>
            <a:off x="567278" y="1686792"/>
            <a:ext cx="7308000" cy="338554"/>
            <a:chOff x="599178" y="1686792"/>
            <a:chExt cx="5127265" cy="338554"/>
          </a:xfrm>
        </p:grpSpPr>
        <p:cxnSp>
          <p:nvCxnSpPr>
            <p:cNvPr id="21" name="Straight Connector 20">
              <a:extLst>
                <a:ext uri="{FF2B5EF4-FFF2-40B4-BE49-F238E27FC236}">
                  <a16:creationId xmlns:a16="http://schemas.microsoft.com/office/drawing/2014/main" id="{310A6DC0-8A8E-9B5B-797A-235BBDC55651}"/>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7F58691-7CFA-2FA5-F2B6-769C682DB102}"/>
                </a:ext>
              </a:extLst>
            </p:cNvPr>
            <p:cNvSpPr txBox="1"/>
            <p:nvPr/>
          </p:nvSpPr>
          <p:spPr>
            <a:xfrm>
              <a:off x="599178" y="1686792"/>
              <a:ext cx="5112000" cy="338554"/>
            </a:xfrm>
            <a:prstGeom prst="rect">
              <a:avLst/>
            </a:prstGeom>
            <a:noFill/>
          </p:spPr>
          <p:txBody>
            <a:bodyPr wrap="square" rtlCol="0">
              <a:spAutoFit/>
            </a:bodyPr>
            <a:lstStyle/>
            <a:p>
              <a:r>
                <a:rPr lang="en-US" sz="1600" b="1" dirty="0"/>
                <a:t>Strategy/Execution matrix</a:t>
              </a:r>
            </a:p>
          </p:txBody>
        </p:sp>
      </p:grpSp>
      <p:grpSp>
        <p:nvGrpSpPr>
          <p:cNvPr id="23" name="Group 22">
            <a:extLst>
              <a:ext uri="{FF2B5EF4-FFF2-40B4-BE49-F238E27FC236}">
                <a16:creationId xmlns:a16="http://schemas.microsoft.com/office/drawing/2014/main" id="{7234FE23-742D-5BB9-0223-ED4E0E1FFEFE}"/>
              </a:ext>
            </a:extLst>
          </p:cNvPr>
          <p:cNvGrpSpPr/>
          <p:nvPr/>
        </p:nvGrpSpPr>
        <p:grpSpPr>
          <a:xfrm>
            <a:off x="8176436" y="1655948"/>
            <a:ext cx="3399614" cy="352458"/>
            <a:chOff x="8176436" y="1655948"/>
            <a:chExt cx="3399614" cy="352458"/>
          </a:xfrm>
        </p:grpSpPr>
        <p:cxnSp>
          <p:nvCxnSpPr>
            <p:cNvPr id="24" name="Straight Connector 23">
              <a:extLst>
                <a:ext uri="{FF2B5EF4-FFF2-40B4-BE49-F238E27FC236}">
                  <a16:creationId xmlns:a16="http://schemas.microsoft.com/office/drawing/2014/main" id="{AE3D1C22-CB5E-F158-D2C3-33535E75E497}"/>
                </a:ext>
              </a:extLst>
            </p:cNvPr>
            <p:cNvCxnSpPr/>
            <p:nvPr/>
          </p:nvCxnSpPr>
          <p:spPr>
            <a:xfrm>
              <a:off x="8216244" y="2008406"/>
              <a:ext cx="335980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6154472-D7ED-9B87-478B-97EDC93E23DA}"/>
                </a:ext>
              </a:extLst>
            </p:cNvPr>
            <p:cNvSpPr txBox="1"/>
            <p:nvPr/>
          </p:nvSpPr>
          <p:spPr>
            <a:xfrm>
              <a:off x="8176436" y="1655948"/>
              <a:ext cx="3368290" cy="338555"/>
            </a:xfrm>
            <a:prstGeom prst="rect">
              <a:avLst/>
            </a:prstGeom>
            <a:noFill/>
          </p:spPr>
          <p:txBody>
            <a:bodyPr wrap="square" rtlCol="0">
              <a:spAutoFit/>
            </a:bodyPr>
            <a:lstStyle/>
            <a:p>
              <a:r>
                <a:rPr lang="en-US" sz="1600" b="1" dirty="0"/>
                <a:t>Key takeaways</a:t>
              </a:r>
            </a:p>
          </p:txBody>
        </p:sp>
      </p:grpSp>
      <p:cxnSp>
        <p:nvCxnSpPr>
          <p:cNvPr id="26" name="Straight Connector 25">
            <a:extLst>
              <a:ext uri="{FF2B5EF4-FFF2-40B4-BE49-F238E27FC236}">
                <a16:creationId xmlns:a16="http://schemas.microsoft.com/office/drawing/2014/main" id="{EFA8D06F-3DCC-7731-801E-82BF97521AA1}"/>
              </a:ext>
            </a:extLst>
          </p:cNvPr>
          <p:cNvCxnSpPr>
            <a:cxnSpLocks/>
          </p:cNvCxnSpPr>
          <p:nvPr/>
        </p:nvCxnSpPr>
        <p:spPr>
          <a:xfrm flipV="1">
            <a:off x="8076092" y="1761427"/>
            <a:ext cx="0" cy="45720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1297F6C-D1F5-9B4A-D4A1-3C545BEDB932}"/>
              </a:ext>
            </a:extLst>
          </p:cNvPr>
          <p:cNvSpPr txBox="1"/>
          <p:nvPr/>
        </p:nvSpPr>
        <p:spPr>
          <a:xfrm>
            <a:off x="8216244" y="2133600"/>
            <a:ext cx="3349748" cy="3308598"/>
          </a:xfrm>
          <a:prstGeom prst="rect">
            <a:avLst/>
          </a:prstGeom>
          <a:noFill/>
        </p:spPr>
        <p:txBody>
          <a:bodyPr wrap="square" rtlCol="0">
            <a:spAutoFit/>
          </a:bodyPr>
          <a:lstStyle/>
          <a:p>
            <a:pPr marL="180975" indent="-180975">
              <a:spcBef>
                <a:spcPts val="300"/>
              </a:spcBef>
              <a:spcAft>
                <a:spcPts val="300"/>
              </a:spcAft>
              <a:buFont typeface="Arial" panose="020B0604020202020204" pitchFamily="34" charset="0"/>
              <a:buChar char="•"/>
            </a:pPr>
            <a:r>
              <a:rPr lang="en-US" sz="1400" b="1" dirty="0">
                <a:latin typeface="+mj-lt"/>
              </a:rPr>
              <a:t>Companies that are in the green quadrant outperform their peers </a:t>
            </a:r>
            <a:r>
              <a:rPr lang="en-US" sz="1400" dirty="0">
                <a:latin typeface="+mj-lt"/>
              </a:rPr>
              <a:t>in terms of financial performance and total shareholder return.</a:t>
            </a:r>
          </a:p>
          <a:p>
            <a:pPr marL="180975" indent="-180975">
              <a:spcBef>
                <a:spcPts val="300"/>
              </a:spcBef>
              <a:spcAft>
                <a:spcPts val="300"/>
              </a:spcAft>
              <a:buFont typeface="Arial" panose="020B0604020202020204" pitchFamily="34" charset="0"/>
              <a:buChar char="•"/>
            </a:pPr>
            <a:r>
              <a:rPr lang="en-US" sz="1400" b="1" dirty="0">
                <a:latin typeface="+mj-lt"/>
              </a:rPr>
              <a:t>But being good at both defining and executing a corporate/business strategy is challenging</a:t>
            </a:r>
            <a:r>
              <a:rPr lang="en-US" sz="1400" dirty="0">
                <a:latin typeface="+mj-lt"/>
              </a:rPr>
              <a:t>, with only a minority of companies able to do it.</a:t>
            </a:r>
          </a:p>
          <a:p>
            <a:pPr marL="180975" indent="-180975">
              <a:spcBef>
                <a:spcPts val="300"/>
              </a:spcBef>
              <a:spcAft>
                <a:spcPts val="300"/>
              </a:spcAft>
              <a:buFont typeface="Arial" panose="020B0604020202020204" pitchFamily="34" charset="0"/>
              <a:buChar char="•"/>
            </a:pPr>
            <a:r>
              <a:rPr lang="en-US" sz="1400" dirty="0">
                <a:latin typeface="+mj-lt"/>
              </a:rPr>
              <a:t>As we often say in the corporate world, </a:t>
            </a:r>
            <a:r>
              <a:rPr lang="en-US" sz="1400" b="1" dirty="0">
                <a:latin typeface="+mj-lt"/>
              </a:rPr>
              <a:t>“Strategy without execution is a dream. And execution without a strategy is a nightmare!” </a:t>
            </a:r>
          </a:p>
          <a:p>
            <a:pPr marL="180975" indent="-180975">
              <a:spcBef>
                <a:spcPts val="300"/>
              </a:spcBef>
              <a:spcAft>
                <a:spcPts val="300"/>
              </a:spcAft>
              <a:buFont typeface="Arial" panose="020B0604020202020204" pitchFamily="34" charset="0"/>
              <a:buChar char="•"/>
            </a:pPr>
            <a:endParaRPr lang="en-US" sz="1200" dirty="0"/>
          </a:p>
        </p:txBody>
      </p:sp>
      <p:sp>
        <p:nvSpPr>
          <p:cNvPr id="42" name="Rectangle 3">
            <a:extLst>
              <a:ext uri="{FF2B5EF4-FFF2-40B4-BE49-F238E27FC236}">
                <a16:creationId xmlns:a16="http://schemas.microsoft.com/office/drawing/2014/main" id="{9CBDA2C3-EB05-A22E-4E9E-E27E1370CB1B}"/>
              </a:ext>
            </a:extLst>
          </p:cNvPr>
          <p:cNvSpPr>
            <a:spLocks noChangeArrowheads="1"/>
          </p:cNvSpPr>
          <p:nvPr/>
        </p:nvSpPr>
        <p:spPr bwMode="auto">
          <a:xfrm>
            <a:off x="2175698" y="2431198"/>
            <a:ext cx="2228850" cy="1600200"/>
          </a:xfrm>
          <a:prstGeom prst="rect">
            <a:avLst/>
          </a:prstGeom>
          <a:solidFill>
            <a:srgbClr val="FFE48F"/>
          </a:solidFill>
          <a:ln w="12700">
            <a:noFill/>
            <a:miter lim="800000"/>
            <a:headEnd/>
            <a:tailEnd/>
          </a:ln>
          <a:effectLst>
            <a:outerShdw blurRad="44450" dist="27940" dir="5400000" algn="ctr">
              <a:srgbClr val="000000">
                <a:alpha val="32000"/>
              </a:srgbClr>
            </a:outerShdw>
          </a:effectLst>
        </p:spPr>
        <p:txBody>
          <a:bodyPr anchor="ctr"/>
          <a:lstStyle/>
          <a:p>
            <a:pPr algn="ctr"/>
            <a:r>
              <a:rPr lang="en-US" sz="1400" b="1" kern="0" dirty="0"/>
              <a:t>About 30% of companies have a good strategy but poor execution*</a:t>
            </a:r>
          </a:p>
        </p:txBody>
      </p:sp>
      <p:sp>
        <p:nvSpPr>
          <p:cNvPr id="43" name="Rectangle 4">
            <a:extLst>
              <a:ext uri="{FF2B5EF4-FFF2-40B4-BE49-F238E27FC236}">
                <a16:creationId xmlns:a16="http://schemas.microsoft.com/office/drawing/2014/main" id="{48B7B85F-8811-E9CE-0D48-58E0E553B114}"/>
              </a:ext>
            </a:extLst>
          </p:cNvPr>
          <p:cNvSpPr>
            <a:spLocks noChangeArrowheads="1"/>
          </p:cNvSpPr>
          <p:nvPr/>
        </p:nvSpPr>
        <p:spPr bwMode="auto">
          <a:xfrm>
            <a:off x="4575998" y="2431198"/>
            <a:ext cx="2228850" cy="1600200"/>
          </a:xfrm>
          <a:prstGeom prst="rect">
            <a:avLst/>
          </a:prstGeom>
          <a:solidFill>
            <a:srgbClr val="E5F4D4"/>
          </a:solidFill>
          <a:ln w="12700">
            <a:noFill/>
            <a:miter lim="800000"/>
            <a:headEnd/>
            <a:tailEnd/>
          </a:ln>
          <a:effectLst>
            <a:outerShdw blurRad="44450" dist="27940" dir="5400000" algn="ctr">
              <a:srgbClr val="000000">
                <a:alpha val="32000"/>
              </a:srgbClr>
            </a:outerShdw>
          </a:effectLst>
        </p:spPr>
        <p:txBody>
          <a:bodyPr anchor="ctr"/>
          <a:lstStyle/>
          <a:p>
            <a:pPr algn="ctr"/>
            <a:r>
              <a:rPr lang="en-US" sz="1400" b="1" kern="0" dirty="0"/>
              <a:t>About 10% of companies have a good strategy and good execution*</a:t>
            </a:r>
          </a:p>
        </p:txBody>
      </p:sp>
      <p:sp>
        <p:nvSpPr>
          <p:cNvPr id="44" name="Rectangle 5">
            <a:extLst>
              <a:ext uri="{FF2B5EF4-FFF2-40B4-BE49-F238E27FC236}">
                <a16:creationId xmlns:a16="http://schemas.microsoft.com/office/drawing/2014/main" id="{BA6B0B1E-ACDC-4B47-CB9B-5A2EFB8AB65B}"/>
              </a:ext>
            </a:extLst>
          </p:cNvPr>
          <p:cNvSpPr>
            <a:spLocks noChangeArrowheads="1"/>
          </p:cNvSpPr>
          <p:nvPr/>
        </p:nvSpPr>
        <p:spPr bwMode="auto">
          <a:xfrm>
            <a:off x="4575998" y="4209786"/>
            <a:ext cx="2228850" cy="1600200"/>
          </a:xfrm>
          <a:prstGeom prst="rect">
            <a:avLst/>
          </a:prstGeom>
          <a:solidFill>
            <a:srgbClr val="FFE48F"/>
          </a:solidFill>
          <a:ln w="12700">
            <a:noFill/>
            <a:miter lim="800000"/>
            <a:headEnd/>
            <a:tailEnd/>
          </a:ln>
          <a:effectLst>
            <a:outerShdw blurRad="44450" dist="27940" dir="5400000" algn="ctr">
              <a:srgbClr val="000000">
                <a:alpha val="32000"/>
              </a:srgbClr>
            </a:outerShdw>
          </a:effectLst>
        </p:spPr>
        <p:txBody>
          <a:bodyPr anchor="ctr"/>
          <a:lstStyle/>
          <a:p>
            <a:pPr algn="ctr"/>
            <a:r>
              <a:rPr lang="en-US" sz="1400" b="1" kern="0" dirty="0"/>
              <a:t>About 30% of companies have a poor strategy but good execution*</a:t>
            </a:r>
          </a:p>
        </p:txBody>
      </p:sp>
      <p:sp>
        <p:nvSpPr>
          <p:cNvPr id="45" name="Rectangle 6">
            <a:extLst>
              <a:ext uri="{FF2B5EF4-FFF2-40B4-BE49-F238E27FC236}">
                <a16:creationId xmlns:a16="http://schemas.microsoft.com/office/drawing/2014/main" id="{8E80AF14-455F-E6E5-E9B7-7C7C245C8E95}"/>
              </a:ext>
            </a:extLst>
          </p:cNvPr>
          <p:cNvSpPr>
            <a:spLocks noChangeArrowheads="1"/>
          </p:cNvSpPr>
          <p:nvPr/>
        </p:nvSpPr>
        <p:spPr bwMode="auto">
          <a:xfrm>
            <a:off x="2175698" y="4209786"/>
            <a:ext cx="2228850" cy="1600200"/>
          </a:xfrm>
          <a:prstGeom prst="rect">
            <a:avLst/>
          </a:prstGeom>
          <a:solidFill>
            <a:srgbClr val="C00000"/>
          </a:solidFill>
          <a:ln w="12700">
            <a:noFill/>
            <a:miter lim="800000"/>
            <a:headEnd/>
            <a:tailEnd/>
          </a:ln>
          <a:effectLst>
            <a:outerShdw blurRad="44450" dist="27940" dir="5400000" algn="ctr">
              <a:srgbClr val="000000">
                <a:alpha val="32000"/>
              </a:srgbClr>
            </a:outerShdw>
          </a:effectLst>
        </p:spPr>
        <p:txBody>
          <a:bodyPr anchor="ctr"/>
          <a:lstStyle/>
          <a:p>
            <a:pPr algn="ctr"/>
            <a:r>
              <a:rPr lang="en-US" sz="1400" b="1" kern="0" dirty="0">
                <a:solidFill>
                  <a:schemeClr val="bg1"/>
                </a:solidFill>
              </a:rPr>
              <a:t>About 30% of companies have a poor strategy and poor execution*</a:t>
            </a:r>
          </a:p>
        </p:txBody>
      </p:sp>
      <p:sp>
        <p:nvSpPr>
          <p:cNvPr id="46" name="Text Box 7">
            <a:extLst>
              <a:ext uri="{FF2B5EF4-FFF2-40B4-BE49-F238E27FC236}">
                <a16:creationId xmlns:a16="http://schemas.microsoft.com/office/drawing/2014/main" id="{DB9BF63D-1C77-A5BF-975B-FDD6F927B76D}"/>
              </a:ext>
            </a:extLst>
          </p:cNvPr>
          <p:cNvSpPr txBox="1">
            <a:spLocks noChangeArrowheads="1"/>
          </p:cNvSpPr>
          <p:nvPr/>
        </p:nvSpPr>
        <p:spPr bwMode="auto">
          <a:xfrm>
            <a:off x="2945636" y="5822098"/>
            <a:ext cx="688975" cy="336550"/>
          </a:xfrm>
          <a:prstGeom prst="rect">
            <a:avLst/>
          </a:prstGeom>
          <a:noFill/>
          <a:ln w="12700">
            <a:noFill/>
            <a:miter lim="800000"/>
            <a:headEnd/>
            <a:tailEnd/>
          </a:ln>
          <a:effectLst/>
        </p:spPr>
        <p:txBody>
          <a:bodyPr wrap="none" anchor="ct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400" b="0" i="0" u="none" strike="noStrike" kern="0" cap="none" spc="0" normalizeH="0" baseline="0" noProof="0" dirty="0">
                <a:ln>
                  <a:noFill/>
                </a:ln>
                <a:effectLst/>
                <a:uLnTx/>
                <a:uFillTx/>
              </a:rPr>
              <a:t>Poor</a:t>
            </a:r>
            <a:endParaRPr kumimoji="0" lang="en-US" sz="1400" b="1" i="0" u="none" strike="noStrike" kern="0" cap="none" spc="0" normalizeH="0" baseline="0" noProof="0" dirty="0">
              <a:ln>
                <a:noFill/>
              </a:ln>
              <a:effectLst/>
              <a:uLnTx/>
              <a:uFillTx/>
            </a:endParaRPr>
          </a:p>
        </p:txBody>
      </p:sp>
      <p:sp>
        <p:nvSpPr>
          <p:cNvPr id="47" name="Text Box 8">
            <a:extLst>
              <a:ext uri="{FF2B5EF4-FFF2-40B4-BE49-F238E27FC236}">
                <a16:creationId xmlns:a16="http://schemas.microsoft.com/office/drawing/2014/main" id="{29EFB477-B352-6809-2940-0A1C7AA83BFB}"/>
              </a:ext>
            </a:extLst>
          </p:cNvPr>
          <p:cNvSpPr txBox="1">
            <a:spLocks noChangeArrowheads="1"/>
          </p:cNvSpPr>
          <p:nvPr/>
        </p:nvSpPr>
        <p:spPr bwMode="auto">
          <a:xfrm>
            <a:off x="5345936" y="5822098"/>
            <a:ext cx="688975" cy="336550"/>
          </a:xfrm>
          <a:prstGeom prst="rect">
            <a:avLst/>
          </a:prstGeom>
          <a:noFill/>
          <a:ln w="12700">
            <a:noFill/>
            <a:miter lim="800000"/>
            <a:headEnd/>
            <a:tailEnd/>
          </a:ln>
          <a:effectLst/>
        </p:spPr>
        <p:txBody>
          <a:bodyPr wrap="none" anchor="ctr"/>
          <a:lstStyle/>
          <a:p>
            <a:pPr marL="0" marR="0" lvl="0" indent="0" algn="r" defTabSz="914400" eaLnBrk="1" fontAlgn="auto" latinLnBrk="0" hangingPunct="1">
              <a:lnSpc>
                <a:spcPct val="100000"/>
              </a:lnSpc>
              <a:spcBef>
                <a:spcPct val="50000"/>
              </a:spcBef>
              <a:spcAft>
                <a:spcPts val="0"/>
              </a:spcAft>
              <a:buClrTx/>
              <a:buSzTx/>
              <a:buFontTx/>
              <a:buNone/>
              <a:tabLst/>
              <a:defRPr/>
            </a:pPr>
            <a:r>
              <a:rPr kumimoji="0" lang="en-US" sz="1400" b="0" i="0" u="none" strike="noStrike" kern="0" cap="none" spc="0" normalizeH="0" baseline="0" noProof="0" dirty="0">
                <a:ln>
                  <a:noFill/>
                </a:ln>
                <a:effectLst/>
                <a:uLnTx/>
                <a:uFillTx/>
              </a:rPr>
              <a:t>Good</a:t>
            </a:r>
            <a:endParaRPr kumimoji="0" lang="en-US" sz="1400" b="1" i="0" u="none" strike="noStrike" kern="0" cap="none" spc="0" normalizeH="0" baseline="0" noProof="0" dirty="0">
              <a:ln>
                <a:noFill/>
              </a:ln>
              <a:effectLst/>
              <a:uLnTx/>
              <a:uFillTx/>
            </a:endParaRPr>
          </a:p>
        </p:txBody>
      </p:sp>
      <p:sp>
        <p:nvSpPr>
          <p:cNvPr id="48" name="Text Box 9">
            <a:extLst>
              <a:ext uri="{FF2B5EF4-FFF2-40B4-BE49-F238E27FC236}">
                <a16:creationId xmlns:a16="http://schemas.microsoft.com/office/drawing/2014/main" id="{DFEBF05B-CA8E-74E9-DCFB-6D9F37636EE2}"/>
              </a:ext>
            </a:extLst>
          </p:cNvPr>
          <p:cNvSpPr txBox="1">
            <a:spLocks noChangeArrowheads="1"/>
          </p:cNvSpPr>
          <p:nvPr/>
        </p:nvSpPr>
        <p:spPr bwMode="auto">
          <a:xfrm>
            <a:off x="1488310" y="3085248"/>
            <a:ext cx="687388" cy="336550"/>
          </a:xfrm>
          <a:prstGeom prst="rect">
            <a:avLst/>
          </a:prstGeom>
          <a:noFill/>
          <a:ln w="12700">
            <a:noFill/>
            <a:miter lim="800000"/>
            <a:headEnd/>
            <a:tailEnd/>
          </a:ln>
          <a:effectLst/>
        </p:spPr>
        <p:txBody>
          <a:bodyPr wrap="none" anchor="ctr"/>
          <a:lstStyle/>
          <a:p>
            <a:pPr marL="0" marR="0" lvl="0" indent="0" algn="r" defTabSz="914400" eaLnBrk="1" fontAlgn="auto" latinLnBrk="0" hangingPunct="1">
              <a:lnSpc>
                <a:spcPct val="100000"/>
              </a:lnSpc>
              <a:spcBef>
                <a:spcPct val="50000"/>
              </a:spcBef>
              <a:spcAft>
                <a:spcPts val="0"/>
              </a:spcAft>
              <a:buClrTx/>
              <a:buSzTx/>
              <a:buFontTx/>
              <a:buNone/>
              <a:tabLst/>
              <a:defRPr/>
            </a:pPr>
            <a:r>
              <a:rPr kumimoji="0" lang="en-US" sz="1400" b="0" i="0" u="none" strike="noStrike" kern="0" cap="none" spc="0" normalizeH="0" baseline="0" noProof="0" dirty="0">
                <a:ln>
                  <a:noFill/>
                </a:ln>
                <a:effectLst/>
                <a:uLnTx/>
                <a:uFillTx/>
              </a:rPr>
              <a:t>Good</a:t>
            </a:r>
            <a:endParaRPr kumimoji="0" lang="en-US" sz="1100" b="1" i="0" u="none" strike="noStrike" kern="0" cap="none" spc="0" normalizeH="0" baseline="0" noProof="0" dirty="0">
              <a:ln>
                <a:noFill/>
              </a:ln>
              <a:effectLst/>
              <a:uLnTx/>
              <a:uFillTx/>
            </a:endParaRPr>
          </a:p>
        </p:txBody>
      </p:sp>
      <p:sp>
        <p:nvSpPr>
          <p:cNvPr id="49" name="Text Box 10">
            <a:extLst>
              <a:ext uri="{FF2B5EF4-FFF2-40B4-BE49-F238E27FC236}">
                <a16:creationId xmlns:a16="http://schemas.microsoft.com/office/drawing/2014/main" id="{0CEF9C05-260A-5E8E-627D-D59E2819E7F0}"/>
              </a:ext>
            </a:extLst>
          </p:cNvPr>
          <p:cNvSpPr txBox="1">
            <a:spLocks noChangeArrowheads="1"/>
          </p:cNvSpPr>
          <p:nvPr/>
        </p:nvSpPr>
        <p:spPr bwMode="auto">
          <a:xfrm>
            <a:off x="1488310" y="4831498"/>
            <a:ext cx="687388" cy="336550"/>
          </a:xfrm>
          <a:prstGeom prst="rect">
            <a:avLst/>
          </a:prstGeom>
          <a:noFill/>
          <a:ln w="12700">
            <a:noFill/>
            <a:miter lim="800000"/>
            <a:headEnd/>
            <a:tailEnd/>
          </a:ln>
          <a:effectLst/>
        </p:spPr>
        <p:txBody>
          <a:bodyPr wrap="none" anchor="ctr"/>
          <a:lstStyle/>
          <a:p>
            <a:pPr marL="0" marR="0" lvl="0" indent="0" algn="r" defTabSz="914400" eaLnBrk="1" fontAlgn="auto" latinLnBrk="0" hangingPunct="1">
              <a:lnSpc>
                <a:spcPct val="100000"/>
              </a:lnSpc>
              <a:spcBef>
                <a:spcPct val="50000"/>
              </a:spcBef>
              <a:spcAft>
                <a:spcPts val="0"/>
              </a:spcAft>
              <a:buClrTx/>
              <a:buSzTx/>
              <a:buFontTx/>
              <a:buNone/>
              <a:tabLst/>
              <a:defRPr/>
            </a:pPr>
            <a:r>
              <a:rPr kumimoji="0" lang="en-US" sz="1400" b="0" i="0" u="none" strike="noStrike" kern="0" cap="none" spc="0" normalizeH="0" baseline="0" noProof="0" dirty="0">
                <a:ln>
                  <a:noFill/>
                </a:ln>
                <a:effectLst/>
                <a:uLnTx/>
                <a:uFillTx/>
              </a:rPr>
              <a:t>Poor</a:t>
            </a:r>
            <a:endParaRPr kumimoji="0" lang="en-US" sz="1100" b="1" i="0" u="none" strike="noStrike" kern="0" cap="none" spc="0" normalizeH="0" baseline="0" noProof="0" dirty="0">
              <a:ln>
                <a:noFill/>
              </a:ln>
              <a:effectLst/>
              <a:uLnTx/>
              <a:uFillTx/>
            </a:endParaRPr>
          </a:p>
        </p:txBody>
      </p:sp>
      <p:sp>
        <p:nvSpPr>
          <p:cNvPr id="50" name="Text Box 12">
            <a:extLst>
              <a:ext uri="{FF2B5EF4-FFF2-40B4-BE49-F238E27FC236}">
                <a16:creationId xmlns:a16="http://schemas.microsoft.com/office/drawing/2014/main" id="{C0000968-055A-1E02-E6DE-54FD8132B19D}"/>
              </a:ext>
            </a:extLst>
          </p:cNvPr>
          <p:cNvSpPr txBox="1">
            <a:spLocks noChangeArrowheads="1"/>
          </p:cNvSpPr>
          <p:nvPr/>
        </p:nvSpPr>
        <p:spPr bwMode="auto">
          <a:xfrm>
            <a:off x="800923" y="3954589"/>
            <a:ext cx="687387" cy="336550"/>
          </a:xfrm>
          <a:prstGeom prst="rect">
            <a:avLst/>
          </a:prstGeom>
          <a:noFill/>
          <a:ln w="12700">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effectLst/>
                <a:uLnTx/>
                <a:uFillTx/>
              </a:rPr>
              <a:t>Strategy</a:t>
            </a:r>
          </a:p>
        </p:txBody>
      </p:sp>
      <p:sp>
        <p:nvSpPr>
          <p:cNvPr id="51" name="Text Box 11">
            <a:extLst>
              <a:ext uri="{FF2B5EF4-FFF2-40B4-BE49-F238E27FC236}">
                <a16:creationId xmlns:a16="http://schemas.microsoft.com/office/drawing/2014/main" id="{B9E1C5D4-2371-B762-88DC-871DBD07BAF8}"/>
              </a:ext>
            </a:extLst>
          </p:cNvPr>
          <p:cNvSpPr txBox="1">
            <a:spLocks noChangeArrowheads="1"/>
          </p:cNvSpPr>
          <p:nvPr/>
        </p:nvSpPr>
        <p:spPr bwMode="auto">
          <a:xfrm>
            <a:off x="3746486" y="6081893"/>
            <a:ext cx="1487574" cy="336550"/>
          </a:xfrm>
          <a:prstGeom prst="rect">
            <a:avLst/>
          </a:prstGeom>
          <a:noFill/>
          <a:ln w="12700">
            <a:noFill/>
            <a:miter lim="800000"/>
            <a:headEnd/>
            <a:tailEnd/>
          </a:ln>
          <a:effectLst/>
        </p:spPr>
        <p:txBody>
          <a:bodyPr wrap="none" anchor="ctr"/>
          <a:lstStyle>
            <a:defPPr>
              <a:defRPr lang="en-US"/>
            </a:defPPr>
            <a:lvl1pPr marR="0" lvl="0" indent="0" algn="ctr" fontAlgn="auto">
              <a:lnSpc>
                <a:spcPct val="100000"/>
              </a:lnSpc>
              <a:spcBef>
                <a:spcPts val="0"/>
              </a:spcBef>
              <a:spcAft>
                <a:spcPts val="0"/>
              </a:spcAft>
              <a:buClrTx/>
              <a:buSzTx/>
              <a:buFontTx/>
              <a:buNone/>
              <a:tabLst/>
              <a:defRPr kumimoji="0" sz="1600" b="1" i="0" u="none" strike="noStrike" kern="0" cap="none" spc="0" normalizeH="0" baseline="0">
                <a:ln>
                  <a:noFill/>
                </a:ln>
                <a:effectLst/>
                <a:uLnTx/>
                <a:uFillTx/>
              </a:defRPr>
            </a:lvl1pPr>
          </a:lstStyle>
          <a:p>
            <a:r>
              <a:rPr lang="en-US" dirty="0"/>
              <a:t>Execution</a:t>
            </a:r>
          </a:p>
        </p:txBody>
      </p:sp>
      <p:sp>
        <p:nvSpPr>
          <p:cNvPr id="52" name="TextBox 51">
            <a:extLst>
              <a:ext uri="{FF2B5EF4-FFF2-40B4-BE49-F238E27FC236}">
                <a16:creationId xmlns:a16="http://schemas.microsoft.com/office/drawing/2014/main" id="{E68E3337-3CAB-5867-805E-B494A4F01F7C}"/>
              </a:ext>
            </a:extLst>
          </p:cNvPr>
          <p:cNvSpPr txBox="1"/>
          <p:nvPr/>
        </p:nvSpPr>
        <p:spPr>
          <a:xfrm>
            <a:off x="518055" y="6571943"/>
            <a:ext cx="7200000" cy="246221"/>
          </a:xfrm>
          <a:prstGeom prst="rect">
            <a:avLst/>
          </a:prstGeom>
          <a:noFill/>
        </p:spPr>
        <p:txBody>
          <a:bodyPr wrap="square" rtlCol="0" anchor="ctr">
            <a:spAutoFit/>
          </a:bodyPr>
          <a:lstStyle/>
          <a:p>
            <a:pPr>
              <a:spcBef>
                <a:spcPts val="400"/>
              </a:spcBef>
              <a:spcAft>
                <a:spcPts val="400"/>
              </a:spcAft>
            </a:pPr>
            <a:r>
              <a:rPr lang="en-US" sz="1000" dirty="0">
                <a:solidFill>
                  <a:schemeClr val="bg1">
                    <a:lumMod val="65000"/>
                  </a:schemeClr>
                </a:solidFill>
              </a:rPr>
              <a:t>Source: Based on the experience of our management consultants advising 200+ companies over the past 20 years</a:t>
            </a:r>
          </a:p>
        </p:txBody>
      </p:sp>
      <p:sp>
        <p:nvSpPr>
          <p:cNvPr id="3" name="Footer Placeholder 2">
            <a:extLst>
              <a:ext uri="{FF2B5EF4-FFF2-40B4-BE49-F238E27FC236}">
                <a16:creationId xmlns:a16="http://schemas.microsoft.com/office/drawing/2014/main" id="{667CC8C4-C1FC-2E34-4A7A-DC0F34C12EB9}"/>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70578B56-6DF9-62B5-9AB6-DD8C0B614FA9}"/>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3871908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3888395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Solution: </a:t>
            </a:r>
            <a:r>
              <a:rPr lang="en-US" dirty="0"/>
              <a:t>Our consulting firm created the Corporate/Business Strategy and Strategic Planning Toolkit to help you define and implement your strategy</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738664"/>
          </a:xfrm>
          <a:prstGeom prst="rect">
            <a:avLst/>
          </a:prstGeom>
          <a:noFill/>
        </p:spPr>
        <p:txBody>
          <a:bodyPr wrap="square" rtlCol="0">
            <a:spAutoFit/>
          </a:bodyPr>
          <a:lstStyle/>
          <a:p>
            <a:r>
              <a:rPr lang="en-US" sz="1400" dirty="0"/>
              <a:t>The Toolkit was created by ex-McKinsey, Deloitte &amp; BCG Strategy Consultants.</a:t>
            </a:r>
          </a:p>
          <a:p>
            <a:r>
              <a:rPr lang="en-US" sz="1400" dirty="0"/>
              <a:t> </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GB" sz="1400" dirty="0"/>
              <a:t>There are 200,000+ Executives, Consultants &amp; Entrepreneurs leveraging our Toolkits to improve the performance of their organization</a:t>
            </a:r>
            <a:r>
              <a:rPr lang="en-US" sz="1400" dirty="0"/>
              <a:t>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GB"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3" name="Footer Placeholder 2">
            <a:extLst>
              <a:ext uri="{FF2B5EF4-FFF2-40B4-BE49-F238E27FC236}">
                <a16:creationId xmlns:a16="http://schemas.microsoft.com/office/drawing/2014/main" id="{1228A707-37EF-ED50-CB8C-F9F0E612F6FB}"/>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174F43AE-BB29-75A1-D9CF-84F3AD6FF7C3}"/>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493155" y="1547879"/>
            <a:ext cx="11094412" cy="5109091"/>
          </a:xfrm>
          <a:prstGeom prst="rect">
            <a:avLst/>
          </a:prstGeom>
        </p:spPr>
        <p:txBody>
          <a:bodyPr wrap="square">
            <a:spAutoFit/>
          </a:bodyPr>
          <a:lstStyle/>
          <a:p>
            <a:pPr marL="0" marR="0" lvl="1" algn="l" defTabSz="914400" eaLnBrk="1" fontAlgn="auto" latinLnBrk="0" hangingPunct="1">
              <a:spcBef>
                <a:spcPts val="400"/>
              </a:spcBef>
              <a:spcAft>
                <a:spcPts val="400"/>
              </a:spcAft>
              <a:buClrTx/>
              <a:buSzTx/>
              <a:tabLst/>
              <a:defRPr/>
            </a:pPr>
            <a:r>
              <a:rPr lang="en-US" sz="1300" b="1" dirty="0">
                <a:solidFill>
                  <a:srgbClr val="002060"/>
                </a:solidFill>
                <a:latin typeface="Arial (Body)"/>
              </a:rPr>
              <a:t>The Corporate/Business Strategy and Strategic Planning Toolkit includes frameworks, tools, templates, tutorials, real-life examples, video training, and best practices to help you:</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300" b="1" dirty="0">
                <a:solidFill>
                  <a:srgbClr val="002060"/>
                </a:solidFill>
                <a:latin typeface="Arial (Body)"/>
              </a:rPr>
              <a:t>Define and implement your corporate/business strategy and strategic plan with our 4-phase approach: </a:t>
            </a:r>
            <a:r>
              <a:rPr lang="en-US" sz="1300" dirty="0">
                <a:solidFill>
                  <a:srgbClr val="002060"/>
                </a:solidFill>
                <a:latin typeface="Arial (Body)"/>
              </a:rPr>
              <a:t>(I) Internal and external analysis, (II) Strategy tools &amp; frameworks to shape our strategy, (III) Strategy, (IV) Strategic plan, (V) Strategic dashboard</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300" b="1" dirty="0">
                <a:solidFill>
                  <a:srgbClr val="002060"/>
                </a:solidFill>
                <a:latin typeface="Arial (Body)"/>
              </a:rPr>
              <a:t>(I) Carry out an internal and external analysis: </a:t>
            </a:r>
            <a:r>
              <a:rPr lang="en-US" sz="1300" dirty="0">
                <a:solidFill>
                  <a:srgbClr val="002060"/>
                </a:solidFill>
                <a:latin typeface="Arial (Body)"/>
              </a:rPr>
              <a:t>(1) Internal analysis: Financial analysis, HR analysis, Marketing analysis, Customers analysis, Suppliers analysis, (2) Market Analysis: Target market, Market sizing with TAM, Market attractiveness with Porter’s 5 Forces, Environment analysis with PESTLE, (3) Competitor Analysis: Competitor identification, Benchmarking, Strategic group mapping, Competitor profiling, (4) SWOT summary</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300" b="1" dirty="0">
                <a:solidFill>
                  <a:srgbClr val="002060"/>
                </a:solidFill>
                <a:latin typeface="Arial (Body)"/>
              </a:rPr>
              <a:t>(II) Shape your strategy with tools &amp; frameworks commonly used by tier-one consulting firms: </a:t>
            </a:r>
            <a:r>
              <a:rPr lang="en-US" sz="1300" dirty="0">
                <a:solidFill>
                  <a:srgbClr val="002060"/>
                </a:solidFill>
                <a:latin typeface="Arial (Body)"/>
              </a:rPr>
              <a:t>(1) Frameworks to answer strategic questions: What caused the profit to decrease?, Should we enter a new market?, Should we introduce a new product?, Should we acquire this company?, (2) BU/Product portfolio management tools: GE-McKinsey Matrix, BCG Growth-Share Matrix, (3) Corporate and growth strategy tools: 7 Degrees of Freedom for Growth, Ansoff Growth Matrix, Blue Ocean Strategy, McKinsey Seven-S, Porter’s Generic Corporate Strategies, Product Life Cycle, Greiner's Growth Model, (4) Other tools and framework: Value Chain Analysis, Value Driver Tree</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300" b="1" dirty="0">
                <a:solidFill>
                  <a:srgbClr val="002060"/>
                </a:solidFill>
                <a:latin typeface="Arial (Body)"/>
              </a:rPr>
              <a:t>(III) Define your strategy: </a:t>
            </a:r>
            <a:r>
              <a:rPr lang="en-US" sz="1300" dirty="0">
                <a:solidFill>
                  <a:srgbClr val="002060"/>
                </a:solidFill>
                <a:latin typeface="Arial (Body)"/>
              </a:rPr>
              <a:t>(1) Business model, (2) Mission, vision and values, (3) Strategy map including the strategic objectives to reach our vision, (4) Balanced scorecard including the key performance indicators linked to the strategic objectives, (5) Strategic pillars to reach our strategic objectives, (6) Potential strategic initiatives in each strategic pillar, (7) Business cases and financial models to help us prioritize our list of potential strategic initiatives, (8) Project prioritization</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300" b="1" dirty="0">
                <a:solidFill>
                  <a:srgbClr val="002060"/>
                </a:solidFill>
                <a:latin typeface="Arial (Body)"/>
              </a:rPr>
              <a:t>(IV) Define and implement your strategic plan: </a:t>
            </a:r>
            <a:r>
              <a:rPr lang="en-US" sz="1300" dirty="0">
                <a:solidFill>
                  <a:srgbClr val="002060"/>
                </a:solidFill>
                <a:latin typeface="Arial (Body)"/>
              </a:rPr>
              <a:t>(1) Guiding principles, (2) Strategic plan formulation: High-level strategic plan with the three horizons of growth , Detailed strategic plan, (3) Strategic plan implementation: Governance, Strategic objectives dashboard, Strategic pillars dashboard, Strategic initiatives dashboard, Objectives and key results (OKR), (4) Evaluation and lessons learnt</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300" b="1" dirty="0">
                <a:solidFill>
                  <a:srgbClr val="002060"/>
                </a:solidFill>
                <a:latin typeface="Arial (Body)"/>
              </a:rPr>
              <a:t>(V) Create strategic dashboards: </a:t>
            </a:r>
            <a:r>
              <a:rPr lang="en-US" sz="1300" dirty="0">
                <a:solidFill>
                  <a:srgbClr val="002060"/>
                </a:solidFill>
                <a:latin typeface="Arial (Body)"/>
              </a:rPr>
              <a:t>(1) Annual, quarterly and monthly overall performance dashboards, (2)</a:t>
            </a:r>
            <a:r>
              <a:rPr lang="en-GB" sz="1300" dirty="0">
                <a:solidFill>
                  <a:srgbClr val="002060"/>
                </a:solidFill>
                <a:latin typeface="Arial (Body)"/>
              </a:rPr>
              <a:t> Revenue and profit actuals and estimates, (3) Sales and cost breakdown analysis, (4) Three financial statement model, (5) Other common charts</a:t>
            </a:r>
            <a:endParaRPr kumimoji="0" lang="en-US" sz="1300" i="0" u="none" strike="noStrike" kern="1200" cap="none" spc="0" normalizeH="0" baseline="0" dirty="0">
              <a:ln>
                <a:noFill/>
              </a:ln>
              <a:solidFill>
                <a:srgbClr val="002060"/>
              </a:solidFill>
              <a:effectLst/>
              <a:uLnTx/>
              <a:uFillTx/>
              <a:latin typeface="Arial (Body)"/>
            </a:endParaRPr>
          </a:p>
        </p:txBody>
      </p:sp>
      <p:sp>
        <p:nvSpPr>
          <p:cNvPr id="2" name="Footer Placeholder 1">
            <a:extLst>
              <a:ext uri="{FF2B5EF4-FFF2-40B4-BE49-F238E27FC236}">
                <a16:creationId xmlns:a16="http://schemas.microsoft.com/office/drawing/2014/main" id="{4DBAC8D7-C84C-286A-4D41-1A226B27A0E9}"/>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4544DBE3-608B-3076-9C84-4D206E6344CA}"/>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Corporate/Business Strategy and Strategic Planning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7</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https://youtu.be/fES_up2_BQE</a:t>
            </a:r>
            <a:r>
              <a:rPr lang="en-US" sz="1600" dirty="0"/>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7" name="Picture 16">
            <a:hlinkClick r:id="rId5"/>
            <a:extLst>
              <a:ext uri="{FF2B5EF4-FFF2-40B4-BE49-F238E27FC236}">
                <a16:creationId xmlns:a16="http://schemas.microsoft.com/office/drawing/2014/main" id="{1EE5AC12-F00C-61C3-8EF9-F68A052AD79D}"/>
              </a:ext>
            </a:extLst>
          </p:cNvPr>
          <p:cNvPicPr>
            <a:picLocks noChangeAspect="1"/>
          </p:cNvPicPr>
          <p:nvPr/>
        </p:nvPicPr>
        <p:blipFill>
          <a:blip r:embed="rId7"/>
          <a:stretch>
            <a:fillRect/>
          </a:stretch>
        </p:blipFill>
        <p:spPr>
          <a:xfrm>
            <a:off x="6476568" y="2097166"/>
            <a:ext cx="5101869" cy="2885744"/>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F924A-53F5-5683-8039-A4145D44921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6BE22D-DAAA-E174-BFE7-39BABEA603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696BE22D-DAAA-E174-BFE7-39BABEA603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01F9FFC-ED0D-7C95-16C1-E0029D4202EC}"/>
              </a:ext>
            </a:extLst>
          </p:cNvPr>
          <p:cNvSpPr>
            <a:spLocks noGrp="1"/>
          </p:cNvSpPr>
          <p:nvPr>
            <p:ph type="title"/>
          </p:nvPr>
        </p:nvSpPr>
        <p:spPr/>
        <p:txBody>
          <a:bodyPr vert="horz">
            <a:normAutofit/>
          </a:bodyPr>
          <a:lstStyle/>
          <a:p>
            <a:r>
              <a:rPr lang="en-US" dirty="0"/>
              <a:t>The Toolkit includes a 4-phase approach that we have built and refined over the past 20 years through constant trial and error</a:t>
            </a:r>
          </a:p>
        </p:txBody>
      </p:sp>
      <p:sp>
        <p:nvSpPr>
          <p:cNvPr id="10" name="Rectangle 9">
            <a:extLst>
              <a:ext uri="{FF2B5EF4-FFF2-40B4-BE49-F238E27FC236}">
                <a16:creationId xmlns:a16="http://schemas.microsoft.com/office/drawing/2014/main" id="{A318BD99-1CB2-5AB2-7698-A0E6464E861E}"/>
              </a:ext>
            </a:extLst>
          </p:cNvPr>
          <p:cNvSpPr/>
          <p:nvPr/>
        </p:nvSpPr>
        <p:spPr>
          <a:xfrm>
            <a:off x="662944" y="2585353"/>
            <a:ext cx="2640832" cy="3306546"/>
          </a:xfrm>
          <a:prstGeom prst="rect">
            <a:avLst/>
          </a:prstGeom>
          <a:effectLst/>
        </p:spPr>
        <p:txBody>
          <a:bodyPr wrap="square" lIns="0">
            <a:spAutoFit/>
          </a:bodyPr>
          <a:lstStyle/>
          <a:p>
            <a:pPr marL="177800" indent="-177800">
              <a:spcBef>
                <a:spcPts val="200"/>
              </a:spcBef>
              <a:spcAft>
                <a:spcPts val="200"/>
              </a:spcAft>
              <a:buFont typeface="+mj-lt"/>
              <a:buAutoNum type="arabicPeriod"/>
              <a:defRPr/>
            </a:pPr>
            <a:r>
              <a:rPr lang="en-US" sz="1000" b="1" dirty="0"/>
              <a:t>Internal analysis</a:t>
            </a:r>
          </a:p>
          <a:p>
            <a:pPr marL="265113" lvl="1" indent="-82550">
              <a:spcBef>
                <a:spcPts val="100"/>
              </a:spcBef>
              <a:spcAft>
                <a:spcPts val="100"/>
              </a:spcAft>
              <a:buFont typeface="Arial" panose="020B0604020202020204" pitchFamily="34" charset="0"/>
              <a:buChar char="•"/>
              <a:defRPr/>
            </a:pPr>
            <a:r>
              <a:rPr lang="en-US" sz="980" dirty="0"/>
              <a:t>Financial analysis</a:t>
            </a:r>
          </a:p>
          <a:p>
            <a:pPr marL="265113" lvl="1" indent="-82550">
              <a:spcBef>
                <a:spcPts val="100"/>
              </a:spcBef>
              <a:spcAft>
                <a:spcPts val="100"/>
              </a:spcAft>
              <a:buFont typeface="Arial" panose="020B0604020202020204" pitchFamily="34" charset="0"/>
              <a:buChar char="•"/>
              <a:defRPr/>
            </a:pPr>
            <a:r>
              <a:rPr lang="en-US" sz="980" dirty="0"/>
              <a:t>HR analysis</a:t>
            </a:r>
          </a:p>
          <a:p>
            <a:pPr marL="265113" lvl="1" indent="-82550">
              <a:spcBef>
                <a:spcPts val="100"/>
              </a:spcBef>
              <a:spcAft>
                <a:spcPts val="100"/>
              </a:spcAft>
              <a:buFont typeface="Arial" panose="020B0604020202020204" pitchFamily="34" charset="0"/>
              <a:buChar char="•"/>
              <a:defRPr/>
            </a:pPr>
            <a:r>
              <a:rPr lang="en-US" sz="980" dirty="0"/>
              <a:t>Marketing analysis</a:t>
            </a:r>
          </a:p>
          <a:p>
            <a:pPr marL="265113" lvl="1" indent="-82550">
              <a:spcBef>
                <a:spcPts val="100"/>
              </a:spcBef>
              <a:spcAft>
                <a:spcPts val="100"/>
              </a:spcAft>
              <a:buFont typeface="Arial" panose="020B0604020202020204" pitchFamily="34" charset="0"/>
              <a:buChar char="•"/>
              <a:defRPr/>
            </a:pPr>
            <a:r>
              <a:rPr lang="en-US" sz="980" dirty="0"/>
              <a:t>Customers analysis</a:t>
            </a:r>
          </a:p>
          <a:p>
            <a:pPr marL="265113" lvl="1" indent="-82550">
              <a:spcBef>
                <a:spcPts val="100"/>
              </a:spcBef>
              <a:spcAft>
                <a:spcPts val="100"/>
              </a:spcAft>
              <a:buFont typeface="Arial" panose="020B0604020202020204" pitchFamily="34" charset="0"/>
              <a:buChar char="•"/>
              <a:defRPr/>
            </a:pPr>
            <a:r>
              <a:rPr lang="en-US" sz="980" dirty="0"/>
              <a:t>Suppliers analysis</a:t>
            </a:r>
          </a:p>
          <a:p>
            <a:pPr marL="177800" indent="-177800">
              <a:spcBef>
                <a:spcPts val="200"/>
              </a:spcBef>
              <a:spcAft>
                <a:spcPts val="200"/>
              </a:spcAft>
              <a:buFont typeface="+mj-lt"/>
              <a:buAutoNum type="arabicPeriod"/>
              <a:defRPr/>
            </a:pPr>
            <a:r>
              <a:rPr lang="en-US" sz="1000" b="1" dirty="0"/>
              <a:t>Market Analysis</a:t>
            </a:r>
          </a:p>
          <a:p>
            <a:pPr marL="265113" lvl="1" indent="-82550">
              <a:spcBef>
                <a:spcPts val="100"/>
              </a:spcBef>
              <a:spcAft>
                <a:spcPts val="100"/>
              </a:spcAft>
              <a:buFont typeface="Arial" panose="020B0604020202020204" pitchFamily="34" charset="0"/>
              <a:buChar char="•"/>
              <a:defRPr/>
            </a:pPr>
            <a:r>
              <a:rPr lang="en-US" sz="980" dirty="0"/>
              <a:t>Target market</a:t>
            </a:r>
          </a:p>
          <a:p>
            <a:pPr marL="265113" lvl="1" indent="-82550">
              <a:spcBef>
                <a:spcPts val="100"/>
              </a:spcBef>
              <a:spcAft>
                <a:spcPts val="100"/>
              </a:spcAft>
              <a:buFont typeface="Arial" panose="020B0604020202020204" pitchFamily="34" charset="0"/>
              <a:buChar char="•"/>
              <a:defRPr/>
            </a:pPr>
            <a:r>
              <a:rPr lang="en-US" sz="980" dirty="0"/>
              <a:t>Market sizing with TAM</a:t>
            </a:r>
          </a:p>
          <a:p>
            <a:pPr marL="265113" lvl="1" indent="-82550">
              <a:spcBef>
                <a:spcPts val="100"/>
              </a:spcBef>
              <a:spcAft>
                <a:spcPts val="100"/>
              </a:spcAft>
              <a:buFont typeface="Arial" panose="020B0604020202020204" pitchFamily="34" charset="0"/>
              <a:buChar char="•"/>
              <a:defRPr/>
            </a:pPr>
            <a:r>
              <a:rPr lang="en-US" sz="980" dirty="0"/>
              <a:t>Market attractiveness with Porter’s 5 Forces</a:t>
            </a:r>
          </a:p>
          <a:p>
            <a:pPr marL="265113" lvl="1" indent="-82550">
              <a:spcBef>
                <a:spcPts val="100"/>
              </a:spcBef>
              <a:spcAft>
                <a:spcPts val="100"/>
              </a:spcAft>
              <a:buFont typeface="Arial" panose="020B0604020202020204" pitchFamily="34" charset="0"/>
              <a:buChar char="•"/>
              <a:defRPr/>
            </a:pPr>
            <a:r>
              <a:rPr lang="en-US" sz="980" dirty="0"/>
              <a:t>Environment analysis with PESTLE</a:t>
            </a:r>
          </a:p>
          <a:p>
            <a:pPr marL="177800" indent="-177800">
              <a:spcBef>
                <a:spcPts val="200"/>
              </a:spcBef>
              <a:spcAft>
                <a:spcPts val="200"/>
              </a:spcAft>
              <a:buFont typeface="+mj-lt"/>
              <a:buAutoNum type="arabicPeriod"/>
              <a:defRPr/>
            </a:pPr>
            <a:r>
              <a:rPr lang="en-US" sz="1000" b="1" dirty="0"/>
              <a:t>Competitor Analysis</a:t>
            </a:r>
          </a:p>
          <a:p>
            <a:pPr marL="265113" lvl="1" indent="-82550">
              <a:spcBef>
                <a:spcPts val="100"/>
              </a:spcBef>
              <a:spcAft>
                <a:spcPts val="100"/>
              </a:spcAft>
              <a:buFont typeface="Arial" panose="020B0604020202020204" pitchFamily="34" charset="0"/>
              <a:buChar char="•"/>
              <a:defRPr/>
            </a:pPr>
            <a:r>
              <a:rPr lang="en-US" sz="980" dirty="0"/>
              <a:t>Competitor identification</a:t>
            </a:r>
          </a:p>
          <a:p>
            <a:pPr marL="265113" lvl="1" indent="-82550">
              <a:spcBef>
                <a:spcPts val="100"/>
              </a:spcBef>
              <a:spcAft>
                <a:spcPts val="100"/>
              </a:spcAft>
              <a:buFont typeface="Arial" panose="020B0604020202020204" pitchFamily="34" charset="0"/>
              <a:buChar char="•"/>
              <a:defRPr/>
            </a:pPr>
            <a:r>
              <a:rPr lang="en-US" sz="980" dirty="0"/>
              <a:t>Benchmarking</a:t>
            </a:r>
          </a:p>
          <a:p>
            <a:pPr marL="265113" lvl="1" indent="-82550">
              <a:spcBef>
                <a:spcPts val="100"/>
              </a:spcBef>
              <a:spcAft>
                <a:spcPts val="100"/>
              </a:spcAft>
              <a:buFont typeface="Arial" panose="020B0604020202020204" pitchFamily="34" charset="0"/>
              <a:buChar char="•"/>
              <a:defRPr/>
            </a:pPr>
            <a:r>
              <a:rPr lang="en-US" sz="980" dirty="0"/>
              <a:t>Strategic group mapping</a:t>
            </a:r>
          </a:p>
          <a:p>
            <a:pPr marL="265113" lvl="1" indent="-82550">
              <a:spcBef>
                <a:spcPts val="100"/>
              </a:spcBef>
              <a:spcAft>
                <a:spcPts val="100"/>
              </a:spcAft>
              <a:buFont typeface="Arial" panose="020B0604020202020204" pitchFamily="34" charset="0"/>
              <a:buChar char="•"/>
              <a:defRPr/>
            </a:pPr>
            <a:r>
              <a:rPr lang="en-US" sz="980" dirty="0"/>
              <a:t>Competitor profiling</a:t>
            </a:r>
          </a:p>
          <a:p>
            <a:pPr marL="177800" indent="-177800">
              <a:spcBef>
                <a:spcPts val="200"/>
              </a:spcBef>
              <a:spcAft>
                <a:spcPts val="200"/>
              </a:spcAft>
              <a:buFont typeface="+mj-lt"/>
              <a:buAutoNum type="arabicPeriod"/>
              <a:defRPr/>
            </a:pPr>
            <a:r>
              <a:rPr lang="en-US" sz="1000" b="1" dirty="0"/>
              <a:t>SWOT summary</a:t>
            </a:r>
            <a:endParaRPr lang="en-US" sz="1000" dirty="0"/>
          </a:p>
        </p:txBody>
      </p:sp>
      <p:sp>
        <p:nvSpPr>
          <p:cNvPr id="11" name="Rectangle 10">
            <a:extLst>
              <a:ext uri="{FF2B5EF4-FFF2-40B4-BE49-F238E27FC236}">
                <a16:creationId xmlns:a16="http://schemas.microsoft.com/office/drawing/2014/main" id="{DB1492A4-94A7-4168-6416-95C4DA33360B}"/>
              </a:ext>
            </a:extLst>
          </p:cNvPr>
          <p:cNvSpPr/>
          <p:nvPr/>
        </p:nvSpPr>
        <p:spPr>
          <a:xfrm>
            <a:off x="6101239" y="2585353"/>
            <a:ext cx="2669431" cy="2939266"/>
          </a:xfrm>
          <a:prstGeom prst="rect">
            <a:avLst/>
          </a:prstGeom>
          <a:effectLst/>
        </p:spPr>
        <p:txBody>
          <a:bodyPr wrap="square" lIns="0">
            <a:spAutoFit/>
          </a:bodyPr>
          <a:lstStyle/>
          <a:p>
            <a:pPr marL="177800" indent="-177800">
              <a:spcBef>
                <a:spcPts val="300"/>
              </a:spcBef>
              <a:spcAft>
                <a:spcPts val="300"/>
              </a:spcAft>
              <a:buFont typeface="+mj-lt"/>
              <a:buAutoNum type="arabicPeriod"/>
              <a:defRPr/>
            </a:pPr>
            <a:r>
              <a:rPr lang="en-US" sz="1000" b="1" dirty="0"/>
              <a:t>Business model</a:t>
            </a:r>
          </a:p>
          <a:p>
            <a:pPr marL="177800" indent="-177800">
              <a:spcBef>
                <a:spcPts val="300"/>
              </a:spcBef>
              <a:spcAft>
                <a:spcPts val="300"/>
              </a:spcAft>
              <a:buFont typeface="+mj-lt"/>
              <a:buAutoNum type="arabicPeriod"/>
              <a:defRPr/>
            </a:pPr>
            <a:r>
              <a:rPr lang="en-US" sz="1000" b="1" dirty="0"/>
              <a:t>Mission, vision and values</a:t>
            </a:r>
          </a:p>
          <a:p>
            <a:pPr marL="177800" indent="-177800">
              <a:spcBef>
                <a:spcPts val="300"/>
              </a:spcBef>
              <a:spcAft>
                <a:spcPts val="300"/>
              </a:spcAft>
              <a:buFont typeface="+mj-lt"/>
              <a:buAutoNum type="arabicPeriod"/>
              <a:defRPr/>
            </a:pPr>
            <a:r>
              <a:rPr lang="en-US" sz="1000" b="1" dirty="0"/>
              <a:t>Strategy map </a:t>
            </a:r>
            <a:r>
              <a:rPr lang="en-US" sz="1000" dirty="0"/>
              <a:t>including the strategic objectives to reach our vision</a:t>
            </a:r>
          </a:p>
          <a:p>
            <a:pPr marL="177800" indent="-177800">
              <a:spcBef>
                <a:spcPts val="300"/>
              </a:spcBef>
              <a:spcAft>
                <a:spcPts val="300"/>
              </a:spcAft>
              <a:buFont typeface="+mj-lt"/>
              <a:buAutoNum type="arabicPeriod"/>
              <a:defRPr/>
            </a:pPr>
            <a:r>
              <a:rPr lang="en-US" sz="1000" b="1" dirty="0"/>
              <a:t>Balanced scorecard </a:t>
            </a:r>
            <a:r>
              <a:rPr lang="en-US" sz="1000" dirty="0"/>
              <a:t>including the key performance indicators linked to the strategic objectives</a:t>
            </a:r>
          </a:p>
          <a:p>
            <a:pPr marL="177800" indent="-177800">
              <a:spcBef>
                <a:spcPts val="300"/>
              </a:spcBef>
              <a:spcAft>
                <a:spcPts val="300"/>
              </a:spcAft>
              <a:buFont typeface="+mj-lt"/>
              <a:buAutoNum type="arabicPeriod"/>
              <a:defRPr/>
            </a:pPr>
            <a:r>
              <a:rPr lang="en-US" sz="1000" b="1" dirty="0"/>
              <a:t>Strategic pillars </a:t>
            </a:r>
            <a:r>
              <a:rPr lang="en-US" sz="1000" dirty="0"/>
              <a:t>to reach our strategic objectives</a:t>
            </a:r>
          </a:p>
          <a:p>
            <a:pPr marL="177800" indent="-177800">
              <a:spcBef>
                <a:spcPts val="300"/>
              </a:spcBef>
              <a:spcAft>
                <a:spcPts val="300"/>
              </a:spcAft>
              <a:buFont typeface="+mj-lt"/>
              <a:buAutoNum type="arabicPeriod"/>
              <a:defRPr/>
            </a:pPr>
            <a:r>
              <a:rPr lang="en-US" sz="1000" b="1" dirty="0"/>
              <a:t>Potential strategic initiatives </a:t>
            </a:r>
            <a:r>
              <a:rPr lang="en-US" sz="1000" dirty="0"/>
              <a:t>in each strategic pillar</a:t>
            </a:r>
          </a:p>
          <a:p>
            <a:pPr marL="177800" indent="-177800">
              <a:spcBef>
                <a:spcPts val="300"/>
              </a:spcBef>
              <a:spcAft>
                <a:spcPts val="300"/>
              </a:spcAft>
              <a:buFont typeface="+mj-lt"/>
              <a:buAutoNum type="arabicPeriod"/>
              <a:defRPr/>
            </a:pPr>
            <a:r>
              <a:rPr lang="en-US" sz="1000" b="1" dirty="0"/>
              <a:t>Business cases and financial models </a:t>
            </a:r>
            <a:r>
              <a:rPr lang="en-US" sz="1000" dirty="0"/>
              <a:t>to prioritize our list of potential strategic initiatives</a:t>
            </a:r>
          </a:p>
          <a:p>
            <a:pPr marL="177800" indent="-177800">
              <a:spcBef>
                <a:spcPts val="300"/>
              </a:spcBef>
              <a:spcAft>
                <a:spcPts val="300"/>
              </a:spcAft>
              <a:buFont typeface="+mj-lt"/>
              <a:buAutoNum type="arabicPeriod"/>
              <a:defRPr/>
            </a:pPr>
            <a:r>
              <a:rPr lang="en-US" sz="1000" b="1" dirty="0"/>
              <a:t>Project prioritization</a:t>
            </a:r>
          </a:p>
        </p:txBody>
      </p:sp>
      <p:sp>
        <p:nvSpPr>
          <p:cNvPr id="12" name="Chevron 17">
            <a:extLst>
              <a:ext uri="{FF2B5EF4-FFF2-40B4-BE49-F238E27FC236}">
                <a16:creationId xmlns:a16="http://schemas.microsoft.com/office/drawing/2014/main" id="{E255E53E-248C-0ACB-3A60-55DB37EE34B1}"/>
              </a:ext>
            </a:extLst>
          </p:cNvPr>
          <p:cNvSpPr/>
          <p:nvPr/>
        </p:nvSpPr>
        <p:spPr bwMode="auto">
          <a:xfrm>
            <a:off x="6051554" y="2060473"/>
            <a:ext cx="2844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a:t>
            </a:r>
          </a:p>
        </p:txBody>
      </p:sp>
      <p:sp>
        <p:nvSpPr>
          <p:cNvPr id="13" name="Rectangle 12">
            <a:extLst>
              <a:ext uri="{FF2B5EF4-FFF2-40B4-BE49-F238E27FC236}">
                <a16:creationId xmlns:a16="http://schemas.microsoft.com/office/drawing/2014/main" id="{506F9C0E-A78B-54A7-4AA8-03AC0E358B76}"/>
              </a:ext>
            </a:extLst>
          </p:cNvPr>
          <p:cNvSpPr/>
          <p:nvPr/>
        </p:nvSpPr>
        <p:spPr>
          <a:xfrm>
            <a:off x="8862825" y="2585353"/>
            <a:ext cx="2694768" cy="2555571"/>
          </a:xfrm>
          <a:prstGeom prst="rect">
            <a:avLst/>
          </a:prstGeom>
          <a:effectLst/>
        </p:spPr>
        <p:txBody>
          <a:bodyPr wrap="square" lIns="0">
            <a:spAutoFit/>
          </a:bodyPr>
          <a:lstStyle/>
          <a:p>
            <a:pPr marL="177800" indent="-177800">
              <a:spcBef>
                <a:spcPts val="300"/>
              </a:spcBef>
              <a:spcAft>
                <a:spcPts val="300"/>
              </a:spcAft>
              <a:buFont typeface="+mj-lt"/>
              <a:buAutoNum type="arabicPeriod"/>
              <a:defRPr/>
            </a:pPr>
            <a:r>
              <a:rPr lang="en-US" sz="1000" b="1" dirty="0"/>
              <a:t>Guiding principles</a:t>
            </a:r>
          </a:p>
          <a:p>
            <a:pPr marL="177800" indent="-177800">
              <a:spcBef>
                <a:spcPts val="300"/>
              </a:spcBef>
              <a:spcAft>
                <a:spcPts val="300"/>
              </a:spcAft>
              <a:buFont typeface="+mj-lt"/>
              <a:buAutoNum type="arabicPeriod"/>
              <a:defRPr/>
            </a:pPr>
            <a:r>
              <a:rPr lang="en-US" sz="1000" b="1" dirty="0"/>
              <a:t>Strategic plan formulation</a:t>
            </a:r>
          </a:p>
          <a:p>
            <a:pPr marL="265113" lvl="1" indent="-82550">
              <a:spcBef>
                <a:spcPts val="100"/>
              </a:spcBef>
              <a:spcAft>
                <a:spcPts val="100"/>
              </a:spcAft>
              <a:buFont typeface="Arial" panose="020B0604020202020204" pitchFamily="34" charset="0"/>
              <a:buChar char="•"/>
              <a:defRPr/>
            </a:pPr>
            <a:r>
              <a:rPr lang="en-US" sz="980" dirty="0"/>
              <a:t>High-level strategic plan with the three horizons of growth </a:t>
            </a:r>
          </a:p>
          <a:p>
            <a:pPr marL="265113" lvl="1" indent="-82550">
              <a:spcBef>
                <a:spcPts val="100"/>
              </a:spcBef>
              <a:spcAft>
                <a:spcPts val="100"/>
              </a:spcAft>
              <a:buFont typeface="Arial" panose="020B0604020202020204" pitchFamily="34" charset="0"/>
              <a:buChar char="•"/>
              <a:defRPr/>
            </a:pPr>
            <a:r>
              <a:rPr lang="en-US" sz="980" dirty="0"/>
              <a:t>Detailed strategic plan</a:t>
            </a:r>
          </a:p>
          <a:p>
            <a:pPr marL="177800" indent="-177800">
              <a:spcBef>
                <a:spcPts val="300"/>
              </a:spcBef>
              <a:spcAft>
                <a:spcPts val="300"/>
              </a:spcAft>
              <a:buFont typeface="+mj-lt"/>
              <a:buAutoNum type="arabicPeriod"/>
              <a:defRPr/>
            </a:pPr>
            <a:r>
              <a:rPr lang="en-US" sz="1000" b="1" dirty="0"/>
              <a:t>Strategic plan implementation</a:t>
            </a:r>
          </a:p>
          <a:p>
            <a:pPr marL="265113" lvl="1" indent="-82550">
              <a:spcBef>
                <a:spcPts val="100"/>
              </a:spcBef>
              <a:spcAft>
                <a:spcPts val="100"/>
              </a:spcAft>
              <a:buFont typeface="Arial" panose="020B0604020202020204" pitchFamily="34" charset="0"/>
              <a:buChar char="•"/>
              <a:defRPr/>
            </a:pPr>
            <a:r>
              <a:rPr lang="en-US" sz="980" dirty="0"/>
              <a:t>Governance</a:t>
            </a:r>
          </a:p>
          <a:p>
            <a:pPr marL="265113" lvl="1" indent="-82550">
              <a:spcBef>
                <a:spcPts val="100"/>
              </a:spcBef>
              <a:spcAft>
                <a:spcPts val="100"/>
              </a:spcAft>
              <a:buFont typeface="Arial" panose="020B0604020202020204" pitchFamily="34" charset="0"/>
              <a:buChar char="•"/>
              <a:defRPr/>
            </a:pPr>
            <a:r>
              <a:rPr lang="en-US" sz="980" dirty="0"/>
              <a:t>Strategic objectives dashboard</a:t>
            </a:r>
          </a:p>
          <a:p>
            <a:pPr marL="265113" lvl="1" indent="-82550">
              <a:spcBef>
                <a:spcPts val="100"/>
              </a:spcBef>
              <a:spcAft>
                <a:spcPts val="100"/>
              </a:spcAft>
              <a:buFont typeface="Arial" panose="020B0604020202020204" pitchFamily="34" charset="0"/>
              <a:buChar char="•"/>
              <a:defRPr/>
            </a:pPr>
            <a:r>
              <a:rPr lang="en-US" sz="980" dirty="0"/>
              <a:t>Strategic pillars dashboard</a:t>
            </a:r>
          </a:p>
          <a:p>
            <a:pPr marL="265113" lvl="1" indent="-82550">
              <a:spcBef>
                <a:spcPts val="100"/>
              </a:spcBef>
              <a:spcAft>
                <a:spcPts val="100"/>
              </a:spcAft>
              <a:buFont typeface="Arial" panose="020B0604020202020204" pitchFamily="34" charset="0"/>
              <a:buChar char="•"/>
              <a:defRPr/>
            </a:pPr>
            <a:r>
              <a:rPr lang="en-US" sz="980" dirty="0"/>
              <a:t>Strategic initiatives dashboard</a:t>
            </a:r>
          </a:p>
          <a:p>
            <a:pPr marL="265113" lvl="1" indent="-82550">
              <a:spcBef>
                <a:spcPts val="100"/>
              </a:spcBef>
              <a:spcAft>
                <a:spcPts val="100"/>
              </a:spcAft>
              <a:buFont typeface="Arial" panose="020B0604020202020204" pitchFamily="34" charset="0"/>
              <a:buChar char="•"/>
              <a:defRPr/>
            </a:pPr>
            <a:r>
              <a:rPr lang="en-US" sz="980" dirty="0"/>
              <a:t>Objectives and key results (OKR)</a:t>
            </a:r>
          </a:p>
          <a:p>
            <a:pPr marL="177800" indent="-177800">
              <a:spcBef>
                <a:spcPts val="300"/>
              </a:spcBef>
              <a:spcAft>
                <a:spcPts val="300"/>
              </a:spcAft>
              <a:buFont typeface="+mj-lt"/>
              <a:buAutoNum type="arabicPeriod"/>
              <a:defRPr/>
            </a:pPr>
            <a:r>
              <a:rPr lang="en-US" sz="1000" b="1" dirty="0"/>
              <a:t>Evaluation and lessons learnt</a:t>
            </a:r>
          </a:p>
          <a:p>
            <a:pPr marL="228600" indent="-228600">
              <a:spcBef>
                <a:spcPts val="300"/>
              </a:spcBef>
              <a:spcAft>
                <a:spcPts val="300"/>
              </a:spcAft>
              <a:buFont typeface="+mj-lt"/>
              <a:buAutoNum type="arabicPeriod"/>
              <a:defRPr/>
            </a:pPr>
            <a:endParaRPr lang="en-US" sz="1000" b="1" dirty="0"/>
          </a:p>
        </p:txBody>
      </p:sp>
      <p:sp>
        <p:nvSpPr>
          <p:cNvPr id="14" name="Chevron 17">
            <a:extLst>
              <a:ext uri="{FF2B5EF4-FFF2-40B4-BE49-F238E27FC236}">
                <a16:creationId xmlns:a16="http://schemas.microsoft.com/office/drawing/2014/main" id="{C371B7B3-5925-E2F6-CAAB-0BD3B62890E3}"/>
              </a:ext>
            </a:extLst>
          </p:cNvPr>
          <p:cNvSpPr/>
          <p:nvPr/>
        </p:nvSpPr>
        <p:spPr bwMode="auto">
          <a:xfrm>
            <a:off x="8770670" y="2060473"/>
            <a:ext cx="2844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Plan</a:t>
            </a:r>
          </a:p>
        </p:txBody>
      </p:sp>
      <p:sp>
        <p:nvSpPr>
          <p:cNvPr id="15" name="Chevron 17">
            <a:extLst>
              <a:ext uri="{FF2B5EF4-FFF2-40B4-BE49-F238E27FC236}">
                <a16:creationId xmlns:a16="http://schemas.microsoft.com/office/drawing/2014/main" id="{2177FA97-0F6E-BFD3-FACB-536F37F46506}"/>
              </a:ext>
            </a:extLst>
          </p:cNvPr>
          <p:cNvSpPr/>
          <p:nvPr/>
        </p:nvSpPr>
        <p:spPr bwMode="auto">
          <a:xfrm>
            <a:off x="3130777" y="2060473"/>
            <a:ext cx="3042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 Tools &amp; Frameworks to shape our Strategy</a:t>
            </a:r>
          </a:p>
        </p:txBody>
      </p:sp>
      <p:sp>
        <p:nvSpPr>
          <p:cNvPr id="16" name="Arrow: Pentagon 15">
            <a:extLst>
              <a:ext uri="{FF2B5EF4-FFF2-40B4-BE49-F238E27FC236}">
                <a16:creationId xmlns:a16="http://schemas.microsoft.com/office/drawing/2014/main" id="{6A007292-E98A-A5E3-1815-FE04317E837B}"/>
              </a:ext>
            </a:extLst>
          </p:cNvPr>
          <p:cNvSpPr/>
          <p:nvPr/>
        </p:nvSpPr>
        <p:spPr>
          <a:xfrm>
            <a:off x="613321" y="2060472"/>
            <a:ext cx="2640832" cy="499379"/>
          </a:xfrm>
          <a:prstGeom prst="homePlate">
            <a:avLst>
              <a:gd name="adj" fmla="val 31705"/>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Internal and External Analysis</a:t>
            </a:r>
          </a:p>
        </p:txBody>
      </p:sp>
      <p:sp>
        <p:nvSpPr>
          <p:cNvPr id="17" name="Oval 16">
            <a:extLst>
              <a:ext uri="{FF2B5EF4-FFF2-40B4-BE49-F238E27FC236}">
                <a16:creationId xmlns:a16="http://schemas.microsoft.com/office/drawing/2014/main" id="{E4A61E9E-8B33-278C-1084-3E4037820BCA}"/>
              </a:ext>
            </a:extLst>
          </p:cNvPr>
          <p:cNvSpPr/>
          <p:nvPr/>
        </p:nvSpPr>
        <p:spPr>
          <a:xfrm>
            <a:off x="518943"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8" name="Oval 17">
            <a:extLst>
              <a:ext uri="{FF2B5EF4-FFF2-40B4-BE49-F238E27FC236}">
                <a16:creationId xmlns:a16="http://schemas.microsoft.com/office/drawing/2014/main" id="{9E990E6E-02A6-D3CF-B645-20AA084DAC8A}"/>
              </a:ext>
            </a:extLst>
          </p:cNvPr>
          <p:cNvSpPr/>
          <p:nvPr/>
        </p:nvSpPr>
        <p:spPr>
          <a:xfrm>
            <a:off x="3122777"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9" name="Oval 18">
            <a:extLst>
              <a:ext uri="{FF2B5EF4-FFF2-40B4-BE49-F238E27FC236}">
                <a16:creationId xmlns:a16="http://schemas.microsoft.com/office/drawing/2014/main" id="{1F40A687-085E-AC66-1D7D-3FFD628BA78D}"/>
              </a:ext>
            </a:extLst>
          </p:cNvPr>
          <p:cNvSpPr/>
          <p:nvPr/>
        </p:nvSpPr>
        <p:spPr>
          <a:xfrm>
            <a:off x="6053468"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20" name="Oval 19">
            <a:extLst>
              <a:ext uri="{FF2B5EF4-FFF2-40B4-BE49-F238E27FC236}">
                <a16:creationId xmlns:a16="http://schemas.microsoft.com/office/drawing/2014/main" id="{EB53DD6B-F86F-1E0F-8F14-04B17B5EF64B}"/>
              </a:ext>
            </a:extLst>
          </p:cNvPr>
          <p:cNvSpPr/>
          <p:nvPr/>
        </p:nvSpPr>
        <p:spPr>
          <a:xfrm>
            <a:off x="8772820"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21" name="Graphic 20" descr="Blueprint outline">
            <a:extLst>
              <a:ext uri="{FF2B5EF4-FFF2-40B4-BE49-F238E27FC236}">
                <a16:creationId xmlns:a16="http://schemas.microsoft.com/office/drawing/2014/main" id="{A3AE8078-7B67-E30F-D225-778592C2CB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8901" y="1577092"/>
            <a:ext cx="432065" cy="432065"/>
          </a:xfrm>
          <a:prstGeom prst="rect">
            <a:avLst/>
          </a:prstGeom>
        </p:spPr>
      </p:pic>
      <p:pic>
        <p:nvPicPr>
          <p:cNvPr id="22" name="Graphic 21" descr="Clipboard Partially Checked outline">
            <a:extLst>
              <a:ext uri="{FF2B5EF4-FFF2-40B4-BE49-F238E27FC236}">
                <a16:creationId xmlns:a16="http://schemas.microsoft.com/office/drawing/2014/main" id="{34B0B976-FEA4-9493-465F-4A1354B321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7303" y="1535876"/>
            <a:ext cx="473281" cy="473281"/>
          </a:xfrm>
          <a:prstGeom prst="rect">
            <a:avLst/>
          </a:prstGeom>
        </p:spPr>
      </p:pic>
      <p:pic>
        <p:nvPicPr>
          <p:cNvPr id="24" name="Graphic 23" descr="Research outline">
            <a:extLst>
              <a:ext uri="{FF2B5EF4-FFF2-40B4-BE49-F238E27FC236}">
                <a16:creationId xmlns:a16="http://schemas.microsoft.com/office/drawing/2014/main" id="{5058FB0A-DC88-EB22-7D43-7024F394D5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7705" y="1576035"/>
            <a:ext cx="432064" cy="432064"/>
          </a:xfrm>
          <a:prstGeom prst="rect">
            <a:avLst/>
          </a:prstGeom>
        </p:spPr>
      </p:pic>
      <p:cxnSp>
        <p:nvCxnSpPr>
          <p:cNvPr id="25" name="Straight Connector 24">
            <a:extLst>
              <a:ext uri="{FF2B5EF4-FFF2-40B4-BE49-F238E27FC236}">
                <a16:creationId xmlns:a16="http://schemas.microsoft.com/office/drawing/2014/main" id="{3A6EB9EA-5AC0-1C1D-DDDF-FE1CC3C806E4}"/>
              </a:ext>
            </a:extLst>
          </p:cNvPr>
          <p:cNvCxnSpPr/>
          <p:nvPr/>
        </p:nvCxnSpPr>
        <p:spPr>
          <a:xfrm>
            <a:off x="3106063" y="2593820"/>
            <a:ext cx="0" cy="3528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79C0A8A-0E56-8D6B-4604-1EE565C3EC3E}"/>
              </a:ext>
            </a:extLst>
          </p:cNvPr>
          <p:cNvCxnSpPr/>
          <p:nvPr/>
        </p:nvCxnSpPr>
        <p:spPr>
          <a:xfrm>
            <a:off x="5998607" y="2593820"/>
            <a:ext cx="0" cy="3528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CE2F880-3F7E-7481-4127-36614FD17919}"/>
              </a:ext>
            </a:extLst>
          </p:cNvPr>
          <p:cNvCxnSpPr/>
          <p:nvPr/>
        </p:nvCxnSpPr>
        <p:spPr>
          <a:xfrm>
            <a:off x="8749477" y="2593820"/>
            <a:ext cx="0" cy="3528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28" name="Graphic 27" descr="Lightbulb and pencil outline">
            <a:extLst>
              <a:ext uri="{FF2B5EF4-FFF2-40B4-BE49-F238E27FC236}">
                <a16:creationId xmlns:a16="http://schemas.microsoft.com/office/drawing/2014/main" id="{8A9FF958-8A79-9069-E3BB-C5D486A2F93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8673" y="1587048"/>
            <a:ext cx="415003" cy="415003"/>
          </a:xfrm>
          <a:prstGeom prst="rect">
            <a:avLst/>
          </a:prstGeom>
        </p:spPr>
      </p:pic>
      <p:sp>
        <p:nvSpPr>
          <p:cNvPr id="3" name="Rectangle 2">
            <a:extLst>
              <a:ext uri="{FF2B5EF4-FFF2-40B4-BE49-F238E27FC236}">
                <a16:creationId xmlns:a16="http://schemas.microsoft.com/office/drawing/2014/main" id="{F96BE878-6A1C-FCB8-3556-3AC2244271C0}"/>
              </a:ext>
            </a:extLst>
          </p:cNvPr>
          <p:cNvSpPr/>
          <p:nvPr/>
        </p:nvSpPr>
        <p:spPr>
          <a:xfrm>
            <a:off x="3167848" y="2553454"/>
            <a:ext cx="2937711" cy="3535635"/>
          </a:xfrm>
          <a:prstGeom prst="rect">
            <a:avLst/>
          </a:prstGeom>
          <a:noFill/>
          <a:effectLst/>
        </p:spPr>
        <p:txBody>
          <a:bodyPr wrap="square" lIns="0">
            <a:noAutofit/>
          </a:bodyPr>
          <a:lstStyle/>
          <a:p>
            <a:pPr marL="177800" indent="-177800">
              <a:spcBef>
                <a:spcPts val="100"/>
              </a:spcBef>
              <a:spcAft>
                <a:spcPts val="100"/>
              </a:spcAft>
              <a:buFont typeface="+mj-lt"/>
              <a:buAutoNum type="arabicPeriod"/>
              <a:defRPr/>
            </a:pPr>
            <a:r>
              <a:rPr lang="en-US" sz="980" b="1" dirty="0"/>
              <a:t>Frameworks to answer strategic questions</a:t>
            </a:r>
          </a:p>
          <a:p>
            <a:pPr marL="265113" lvl="1" indent="-82550">
              <a:spcBef>
                <a:spcPts val="100"/>
              </a:spcBef>
              <a:spcAft>
                <a:spcPts val="100"/>
              </a:spcAft>
              <a:buFont typeface="Arial" panose="020B0604020202020204" pitchFamily="34" charset="0"/>
              <a:buChar char="•"/>
              <a:defRPr/>
            </a:pPr>
            <a:r>
              <a:rPr lang="en-US" sz="980" dirty="0"/>
              <a:t>What caused the profit to decrease?</a:t>
            </a:r>
          </a:p>
          <a:p>
            <a:pPr marL="265113" lvl="1" indent="-82550">
              <a:spcBef>
                <a:spcPts val="100"/>
              </a:spcBef>
              <a:spcAft>
                <a:spcPts val="100"/>
              </a:spcAft>
              <a:buFont typeface="Arial" panose="020B0604020202020204" pitchFamily="34" charset="0"/>
              <a:buChar char="•"/>
              <a:defRPr/>
            </a:pPr>
            <a:r>
              <a:rPr lang="en-US" sz="980" dirty="0"/>
              <a:t>Should we enter a new market?</a:t>
            </a:r>
          </a:p>
          <a:p>
            <a:pPr marL="265113" lvl="1" indent="-82550">
              <a:spcBef>
                <a:spcPts val="100"/>
              </a:spcBef>
              <a:spcAft>
                <a:spcPts val="100"/>
              </a:spcAft>
              <a:buFont typeface="Arial" panose="020B0604020202020204" pitchFamily="34" charset="0"/>
              <a:buChar char="•"/>
              <a:defRPr/>
            </a:pPr>
            <a:r>
              <a:rPr lang="en-US" sz="980" dirty="0"/>
              <a:t>Should we introduce a new product?</a:t>
            </a:r>
          </a:p>
          <a:p>
            <a:pPr marL="265113" lvl="1" indent="-82550">
              <a:spcBef>
                <a:spcPts val="100"/>
              </a:spcBef>
              <a:spcAft>
                <a:spcPts val="100"/>
              </a:spcAft>
              <a:buFont typeface="Arial" panose="020B0604020202020204" pitchFamily="34" charset="0"/>
              <a:buChar char="•"/>
              <a:defRPr/>
            </a:pPr>
            <a:r>
              <a:rPr lang="en-US" sz="980" dirty="0"/>
              <a:t>Should we acquire this company?</a:t>
            </a:r>
          </a:p>
          <a:p>
            <a:pPr marL="177800" indent="-177800">
              <a:spcBef>
                <a:spcPts val="100"/>
              </a:spcBef>
              <a:spcAft>
                <a:spcPts val="100"/>
              </a:spcAft>
              <a:buFont typeface="+mj-lt"/>
              <a:buAutoNum type="arabicPeriod"/>
              <a:defRPr/>
            </a:pPr>
            <a:r>
              <a:rPr lang="en-US" sz="980" b="1" dirty="0"/>
              <a:t>BU/Product portfolio management tools:</a:t>
            </a:r>
          </a:p>
          <a:p>
            <a:pPr marL="265113" lvl="1" indent="-82550">
              <a:spcBef>
                <a:spcPts val="100"/>
              </a:spcBef>
              <a:spcAft>
                <a:spcPts val="100"/>
              </a:spcAft>
              <a:buFont typeface="Arial" panose="020B0604020202020204" pitchFamily="34" charset="0"/>
              <a:buChar char="•"/>
              <a:defRPr/>
            </a:pPr>
            <a:r>
              <a:rPr lang="en-US" sz="980" dirty="0"/>
              <a:t>GE-McKinsey Matrix</a:t>
            </a:r>
          </a:p>
          <a:p>
            <a:pPr marL="265113" lvl="1" indent="-82550">
              <a:spcBef>
                <a:spcPts val="100"/>
              </a:spcBef>
              <a:spcAft>
                <a:spcPts val="100"/>
              </a:spcAft>
              <a:buFont typeface="Arial" panose="020B0604020202020204" pitchFamily="34" charset="0"/>
              <a:buChar char="•"/>
              <a:defRPr/>
            </a:pPr>
            <a:r>
              <a:rPr lang="en-US" sz="980" dirty="0"/>
              <a:t>BCG Growth-Share Matrix</a:t>
            </a:r>
          </a:p>
          <a:p>
            <a:pPr marL="177800" indent="-177800">
              <a:spcBef>
                <a:spcPts val="100"/>
              </a:spcBef>
              <a:spcAft>
                <a:spcPts val="100"/>
              </a:spcAft>
              <a:buFont typeface="+mj-lt"/>
              <a:buAutoNum type="arabicPeriod"/>
              <a:defRPr/>
            </a:pPr>
            <a:r>
              <a:rPr lang="en-US" sz="980" b="1" dirty="0"/>
              <a:t>Growth strategy tools</a:t>
            </a:r>
          </a:p>
          <a:p>
            <a:pPr marL="265113" lvl="1" indent="-82550">
              <a:spcBef>
                <a:spcPts val="100"/>
              </a:spcBef>
              <a:spcAft>
                <a:spcPts val="100"/>
              </a:spcAft>
              <a:buFont typeface="Arial" panose="020B0604020202020204" pitchFamily="34" charset="0"/>
              <a:buChar char="•"/>
              <a:defRPr/>
            </a:pPr>
            <a:r>
              <a:rPr lang="en-US" sz="980" dirty="0"/>
              <a:t>7 Degrees of Freedom for Growth</a:t>
            </a:r>
          </a:p>
          <a:p>
            <a:pPr marL="265113" lvl="1" indent="-82550">
              <a:spcBef>
                <a:spcPts val="100"/>
              </a:spcBef>
              <a:spcAft>
                <a:spcPts val="100"/>
              </a:spcAft>
              <a:buFont typeface="Arial" panose="020B0604020202020204" pitchFamily="34" charset="0"/>
              <a:buChar char="•"/>
              <a:defRPr/>
            </a:pPr>
            <a:r>
              <a:rPr lang="en-US" sz="980" dirty="0"/>
              <a:t>Ansoff Growth Matrix</a:t>
            </a:r>
          </a:p>
          <a:p>
            <a:pPr marL="265113" lvl="1" indent="-82550">
              <a:spcBef>
                <a:spcPts val="100"/>
              </a:spcBef>
              <a:spcAft>
                <a:spcPts val="100"/>
              </a:spcAft>
              <a:buFont typeface="Arial" panose="020B0604020202020204" pitchFamily="34" charset="0"/>
              <a:buChar char="•"/>
              <a:defRPr/>
            </a:pPr>
            <a:r>
              <a:rPr lang="en-US" sz="980" dirty="0"/>
              <a:t>Blue Ocean Strategy</a:t>
            </a:r>
          </a:p>
          <a:p>
            <a:pPr marL="265113" lvl="1" indent="-82550">
              <a:spcBef>
                <a:spcPts val="100"/>
              </a:spcBef>
              <a:spcAft>
                <a:spcPts val="100"/>
              </a:spcAft>
              <a:buFont typeface="Arial" panose="020B0604020202020204" pitchFamily="34" charset="0"/>
              <a:buChar char="•"/>
              <a:defRPr/>
            </a:pPr>
            <a:r>
              <a:rPr lang="en-US" sz="980" dirty="0"/>
              <a:t>McKinsey Seven-S</a:t>
            </a:r>
          </a:p>
          <a:p>
            <a:pPr marL="265113" lvl="1" indent="-82550">
              <a:spcBef>
                <a:spcPts val="100"/>
              </a:spcBef>
              <a:spcAft>
                <a:spcPts val="100"/>
              </a:spcAft>
              <a:buFont typeface="Arial" panose="020B0604020202020204" pitchFamily="34" charset="0"/>
              <a:buChar char="•"/>
              <a:defRPr/>
            </a:pPr>
            <a:r>
              <a:rPr lang="en-US" sz="980" dirty="0"/>
              <a:t>Porter’s Generic Corporate Strategies</a:t>
            </a:r>
          </a:p>
          <a:p>
            <a:pPr marL="265113" lvl="1" indent="-82550">
              <a:spcBef>
                <a:spcPts val="100"/>
              </a:spcBef>
              <a:spcAft>
                <a:spcPts val="100"/>
              </a:spcAft>
              <a:buFont typeface="Arial" panose="020B0604020202020204" pitchFamily="34" charset="0"/>
              <a:buChar char="•"/>
              <a:defRPr/>
            </a:pPr>
            <a:r>
              <a:rPr lang="en-US" sz="980" dirty="0"/>
              <a:t>Product Life Cycle</a:t>
            </a:r>
          </a:p>
          <a:p>
            <a:pPr marL="265113" lvl="1" indent="-82550">
              <a:spcBef>
                <a:spcPts val="100"/>
              </a:spcBef>
              <a:spcAft>
                <a:spcPts val="100"/>
              </a:spcAft>
              <a:buFont typeface="Arial" panose="020B0604020202020204" pitchFamily="34" charset="0"/>
              <a:buChar char="•"/>
              <a:defRPr/>
            </a:pPr>
            <a:r>
              <a:rPr lang="en-US" sz="980" dirty="0"/>
              <a:t>Greiner's Growth Model </a:t>
            </a:r>
          </a:p>
          <a:p>
            <a:pPr marL="177800" indent="-177800">
              <a:spcBef>
                <a:spcPts val="100"/>
              </a:spcBef>
              <a:spcAft>
                <a:spcPts val="100"/>
              </a:spcAft>
              <a:buFont typeface="+mj-lt"/>
              <a:buAutoNum type="arabicPeriod"/>
              <a:defRPr/>
            </a:pPr>
            <a:r>
              <a:rPr lang="en-US" sz="980" b="1" dirty="0"/>
              <a:t>Other tools &amp; frameworks</a:t>
            </a:r>
          </a:p>
          <a:p>
            <a:pPr marL="265113" lvl="1" indent="-82550">
              <a:spcBef>
                <a:spcPts val="100"/>
              </a:spcBef>
              <a:spcAft>
                <a:spcPts val="100"/>
              </a:spcAft>
              <a:buFont typeface="Arial" panose="020B0604020202020204" pitchFamily="34" charset="0"/>
              <a:buChar char="•"/>
              <a:defRPr/>
            </a:pPr>
            <a:r>
              <a:rPr lang="en-US" sz="980" dirty="0"/>
              <a:t>Value chain analysis</a:t>
            </a:r>
          </a:p>
          <a:p>
            <a:pPr marL="265113" lvl="1" indent="-82550">
              <a:spcBef>
                <a:spcPts val="100"/>
              </a:spcBef>
              <a:spcAft>
                <a:spcPts val="100"/>
              </a:spcAft>
              <a:buFont typeface="Arial" panose="020B0604020202020204" pitchFamily="34" charset="0"/>
              <a:buChar char="•"/>
              <a:defRPr/>
            </a:pPr>
            <a:r>
              <a:rPr lang="en-GB" sz="980" dirty="0"/>
              <a:t>Value Driver Tree </a:t>
            </a:r>
          </a:p>
          <a:p>
            <a:pPr marL="265113" lvl="1" indent="-82550">
              <a:spcBef>
                <a:spcPts val="100"/>
              </a:spcBef>
              <a:spcAft>
                <a:spcPts val="100"/>
              </a:spcAft>
              <a:buFont typeface="Arial" panose="020B0604020202020204" pitchFamily="34" charset="0"/>
              <a:buChar char="•"/>
              <a:defRPr/>
            </a:pPr>
            <a:r>
              <a:rPr lang="en-GB" sz="980" dirty="0"/>
              <a:t>Pareto Principle</a:t>
            </a:r>
            <a:endParaRPr lang="en-US" sz="980" dirty="0"/>
          </a:p>
          <a:p>
            <a:pPr marL="265113" lvl="1" indent="-82550">
              <a:spcBef>
                <a:spcPts val="100"/>
              </a:spcBef>
              <a:spcAft>
                <a:spcPts val="100"/>
              </a:spcAft>
              <a:buFont typeface="Arial" panose="020B0604020202020204" pitchFamily="34" charset="0"/>
              <a:buChar char="•"/>
              <a:defRPr/>
            </a:pPr>
            <a:r>
              <a:rPr lang="en-US" sz="980" dirty="0"/>
              <a:t>Etc.</a:t>
            </a:r>
          </a:p>
        </p:txBody>
      </p:sp>
      <p:sp>
        <p:nvSpPr>
          <p:cNvPr id="4" name="Footer Placeholder 3">
            <a:extLst>
              <a:ext uri="{FF2B5EF4-FFF2-40B4-BE49-F238E27FC236}">
                <a16:creationId xmlns:a16="http://schemas.microsoft.com/office/drawing/2014/main" id="{A28D89E2-E171-B413-11A2-0B1491888120}"/>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7E10C6C1-559B-7A95-42C6-DFCE48B0077B}"/>
              </a:ext>
            </a:extLst>
          </p:cNvPr>
          <p:cNvSpPr>
            <a:spLocks noGrp="1"/>
          </p:cNvSpPr>
          <p:nvPr>
            <p:ph type="sldNum" sz="quarter" idx="4"/>
          </p:nvPr>
        </p:nvSpPr>
        <p:spPr/>
        <p:txBody>
          <a:bodyPr/>
          <a:lstStyle/>
          <a:p>
            <a:fld id="{37F5C94B-8C55-478B-B509-BAE6A06B2E2A}" type="slidenum">
              <a:rPr lang="en-US" smtClean="0"/>
              <a:pPr/>
              <a:t>8</a:t>
            </a:fld>
            <a:endParaRPr lang="en-US" dirty="0"/>
          </a:p>
        </p:txBody>
      </p:sp>
      <p:sp>
        <p:nvSpPr>
          <p:cNvPr id="7" name="Arrow: Pentagon 6">
            <a:extLst>
              <a:ext uri="{FF2B5EF4-FFF2-40B4-BE49-F238E27FC236}">
                <a16:creationId xmlns:a16="http://schemas.microsoft.com/office/drawing/2014/main" id="{A60DEF9A-B617-566C-79BA-1EBFC79B581E}"/>
              </a:ext>
            </a:extLst>
          </p:cNvPr>
          <p:cNvSpPr/>
          <p:nvPr/>
        </p:nvSpPr>
        <p:spPr>
          <a:xfrm>
            <a:off x="613320" y="6255279"/>
            <a:ext cx="11001349" cy="305881"/>
          </a:xfrm>
          <a:prstGeom prst="homePlate">
            <a:avLst>
              <a:gd name="adj" fmla="val 31705"/>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Dashboards</a:t>
            </a:r>
          </a:p>
        </p:txBody>
      </p:sp>
    </p:spTree>
    <p:extLst>
      <p:ext uri="{BB962C8B-B14F-4D97-AF65-F5344CB8AC3E}">
        <p14:creationId xmlns:p14="http://schemas.microsoft.com/office/powerpoint/2010/main" val="3669027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5136319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1 small preview</a:t>
            </a:r>
          </a:p>
        </p:txBody>
      </p:sp>
      <p:sp>
        <p:nvSpPr>
          <p:cNvPr id="4" name="Footer Placeholder 3">
            <a:extLst>
              <a:ext uri="{FF2B5EF4-FFF2-40B4-BE49-F238E27FC236}">
                <a16:creationId xmlns:a16="http://schemas.microsoft.com/office/drawing/2014/main" id="{142851E4-2DF5-5879-C58D-C14653771027}"/>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67CA5DB1-95BF-6FD4-5C2F-4D869DCF36E2}"/>
              </a:ext>
            </a:extLst>
          </p:cNvPr>
          <p:cNvSpPr>
            <a:spLocks noGrp="1"/>
          </p:cNvSpPr>
          <p:nvPr>
            <p:ph type="sldNum" sz="quarter" idx="4"/>
          </p:nvPr>
        </p:nvSpPr>
        <p:spPr/>
        <p:txBody>
          <a:bodyPr/>
          <a:lstStyle/>
          <a:p>
            <a:fld id="{37F5C94B-8C55-478B-B509-BAE6A06B2E2A}" type="slidenum">
              <a:rPr lang="en-US" smtClean="0"/>
              <a:pPr/>
              <a:t>9</a:t>
            </a:fld>
            <a:endParaRPr lang="en-US" dirty="0"/>
          </a:p>
        </p:txBody>
      </p:sp>
      <p:sp>
        <p:nvSpPr>
          <p:cNvPr id="10" name="Chevron 17">
            <a:extLst>
              <a:ext uri="{FF2B5EF4-FFF2-40B4-BE49-F238E27FC236}">
                <a16:creationId xmlns:a16="http://schemas.microsoft.com/office/drawing/2014/main" id="{798B6644-50C2-B22D-99E2-E6CA050B7EFC}"/>
              </a:ext>
            </a:extLst>
          </p:cNvPr>
          <p:cNvSpPr/>
          <p:nvPr/>
        </p:nvSpPr>
        <p:spPr bwMode="auto">
          <a:xfrm>
            <a:off x="6051554" y="2060473"/>
            <a:ext cx="2844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a:t>
            </a:r>
          </a:p>
        </p:txBody>
      </p:sp>
      <p:sp>
        <p:nvSpPr>
          <p:cNvPr id="13" name="Chevron 17">
            <a:extLst>
              <a:ext uri="{FF2B5EF4-FFF2-40B4-BE49-F238E27FC236}">
                <a16:creationId xmlns:a16="http://schemas.microsoft.com/office/drawing/2014/main" id="{AF038E8C-822F-325E-8B01-9BD04E545F89}"/>
              </a:ext>
            </a:extLst>
          </p:cNvPr>
          <p:cNvSpPr/>
          <p:nvPr/>
        </p:nvSpPr>
        <p:spPr bwMode="auto">
          <a:xfrm>
            <a:off x="8770670" y="2060473"/>
            <a:ext cx="2844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Plan</a:t>
            </a:r>
          </a:p>
        </p:txBody>
      </p:sp>
      <p:sp>
        <p:nvSpPr>
          <p:cNvPr id="23" name="Chevron 17">
            <a:extLst>
              <a:ext uri="{FF2B5EF4-FFF2-40B4-BE49-F238E27FC236}">
                <a16:creationId xmlns:a16="http://schemas.microsoft.com/office/drawing/2014/main" id="{43E4C9E1-84D0-76D5-A58B-AF10D896770A}"/>
              </a:ext>
            </a:extLst>
          </p:cNvPr>
          <p:cNvSpPr/>
          <p:nvPr/>
        </p:nvSpPr>
        <p:spPr bwMode="auto">
          <a:xfrm>
            <a:off x="3130777" y="2060473"/>
            <a:ext cx="3042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 Tools &amp; Frameworks to shape our Strategy</a:t>
            </a:r>
          </a:p>
        </p:txBody>
      </p:sp>
      <p:sp>
        <p:nvSpPr>
          <p:cNvPr id="25" name="Arrow: Pentagon 24">
            <a:extLst>
              <a:ext uri="{FF2B5EF4-FFF2-40B4-BE49-F238E27FC236}">
                <a16:creationId xmlns:a16="http://schemas.microsoft.com/office/drawing/2014/main" id="{20DCF5FC-4093-BB07-9A1D-5EF1DAF25753}"/>
              </a:ext>
            </a:extLst>
          </p:cNvPr>
          <p:cNvSpPr/>
          <p:nvPr/>
        </p:nvSpPr>
        <p:spPr>
          <a:xfrm>
            <a:off x="613321" y="2060472"/>
            <a:ext cx="2640832" cy="499379"/>
          </a:xfrm>
          <a:prstGeom prst="homePlate">
            <a:avLst>
              <a:gd name="adj" fmla="val 31705"/>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Internal and External Analysis</a:t>
            </a:r>
          </a:p>
        </p:txBody>
      </p:sp>
      <p:sp>
        <p:nvSpPr>
          <p:cNvPr id="26" name="Oval 25">
            <a:extLst>
              <a:ext uri="{FF2B5EF4-FFF2-40B4-BE49-F238E27FC236}">
                <a16:creationId xmlns:a16="http://schemas.microsoft.com/office/drawing/2014/main" id="{88785D24-274D-76F3-15B5-8D5118BB8ACD}"/>
              </a:ext>
            </a:extLst>
          </p:cNvPr>
          <p:cNvSpPr/>
          <p:nvPr/>
        </p:nvSpPr>
        <p:spPr>
          <a:xfrm>
            <a:off x="518943"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27" name="Oval 26">
            <a:extLst>
              <a:ext uri="{FF2B5EF4-FFF2-40B4-BE49-F238E27FC236}">
                <a16:creationId xmlns:a16="http://schemas.microsoft.com/office/drawing/2014/main" id="{49C64E03-4CE1-E808-A0A4-3C94C9A4F31C}"/>
              </a:ext>
            </a:extLst>
          </p:cNvPr>
          <p:cNvSpPr/>
          <p:nvPr/>
        </p:nvSpPr>
        <p:spPr>
          <a:xfrm>
            <a:off x="3122777"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29" name="Oval 28">
            <a:extLst>
              <a:ext uri="{FF2B5EF4-FFF2-40B4-BE49-F238E27FC236}">
                <a16:creationId xmlns:a16="http://schemas.microsoft.com/office/drawing/2014/main" id="{9C00C0C7-BC67-E2A4-4D69-CA4531D0BC24}"/>
              </a:ext>
            </a:extLst>
          </p:cNvPr>
          <p:cNvSpPr/>
          <p:nvPr/>
        </p:nvSpPr>
        <p:spPr>
          <a:xfrm>
            <a:off x="6053468"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36" name="Oval 35">
            <a:extLst>
              <a:ext uri="{FF2B5EF4-FFF2-40B4-BE49-F238E27FC236}">
                <a16:creationId xmlns:a16="http://schemas.microsoft.com/office/drawing/2014/main" id="{36EF6A55-3BD5-2AB7-0124-653A3E40A72C}"/>
              </a:ext>
            </a:extLst>
          </p:cNvPr>
          <p:cNvSpPr/>
          <p:nvPr/>
        </p:nvSpPr>
        <p:spPr>
          <a:xfrm>
            <a:off x="8772820"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37" name="Graphic 36" descr="Blueprint outline">
            <a:extLst>
              <a:ext uri="{FF2B5EF4-FFF2-40B4-BE49-F238E27FC236}">
                <a16:creationId xmlns:a16="http://schemas.microsoft.com/office/drawing/2014/main" id="{E970E6C0-0D05-D1DA-9C10-F8F32CAB53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8901" y="1577092"/>
            <a:ext cx="432065" cy="432065"/>
          </a:xfrm>
          <a:prstGeom prst="rect">
            <a:avLst/>
          </a:prstGeom>
        </p:spPr>
      </p:pic>
      <p:pic>
        <p:nvPicPr>
          <p:cNvPr id="38" name="Graphic 37" descr="Clipboard Partially Checked outline">
            <a:extLst>
              <a:ext uri="{FF2B5EF4-FFF2-40B4-BE49-F238E27FC236}">
                <a16:creationId xmlns:a16="http://schemas.microsoft.com/office/drawing/2014/main" id="{BD9E44A1-F72C-E470-F125-EE39B7A700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7303" y="1535876"/>
            <a:ext cx="473281" cy="473281"/>
          </a:xfrm>
          <a:prstGeom prst="rect">
            <a:avLst/>
          </a:prstGeom>
        </p:spPr>
      </p:pic>
      <p:pic>
        <p:nvPicPr>
          <p:cNvPr id="39" name="Graphic 38" descr="Research outline">
            <a:extLst>
              <a:ext uri="{FF2B5EF4-FFF2-40B4-BE49-F238E27FC236}">
                <a16:creationId xmlns:a16="http://schemas.microsoft.com/office/drawing/2014/main" id="{A9BD6E72-357B-3A54-3B5B-CD704ADCDBB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7705" y="1576035"/>
            <a:ext cx="432064" cy="432064"/>
          </a:xfrm>
          <a:prstGeom prst="rect">
            <a:avLst/>
          </a:prstGeom>
        </p:spPr>
      </p:pic>
      <p:pic>
        <p:nvPicPr>
          <p:cNvPr id="43" name="Graphic 42" descr="Lightbulb and pencil outline">
            <a:extLst>
              <a:ext uri="{FF2B5EF4-FFF2-40B4-BE49-F238E27FC236}">
                <a16:creationId xmlns:a16="http://schemas.microsoft.com/office/drawing/2014/main" id="{07414DA3-DFD0-89A7-E03D-965A7D77D3B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8673" y="1587048"/>
            <a:ext cx="415003" cy="415003"/>
          </a:xfrm>
          <a:prstGeom prst="rect">
            <a:avLst/>
          </a:prstGeom>
        </p:spPr>
      </p:pic>
      <p:sp>
        <p:nvSpPr>
          <p:cNvPr id="45" name="Arrow: Pentagon 44">
            <a:extLst>
              <a:ext uri="{FF2B5EF4-FFF2-40B4-BE49-F238E27FC236}">
                <a16:creationId xmlns:a16="http://schemas.microsoft.com/office/drawing/2014/main" id="{80969576-461E-7D43-F395-B4C869634085}"/>
              </a:ext>
            </a:extLst>
          </p:cNvPr>
          <p:cNvSpPr/>
          <p:nvPr/>
        </p:nvSpPr>
        <p:spPr>
          <a:xfrm>
            <a:off x="613320" y="6255279"/>
            <a:ext cx="11001349" cy="305881"/>
          </a:xfrm>
          <a:prstGeom prst="homePlate">
            <a:avLst>
              <a:gd name="adj" fmla="val 31705"/>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Dashboards</a:t>
            </a:r>
          </a:p>
        </p:txBody>
      </p:sp>
      <p:sp>
        <p:nvSpPr>
          <p:cNvPr id="46" name="Rectangle 45">
            <a:extLst>
              <a:ext uri="{FF2B5EF4-FFF2-40B4-BE49-F238E27FC236}">
                <a16:creationId xmlns:a16="http://schemas.microsoft.com/office/drawing/2014/main" id="{F1755826-198D-85AA-C5B2-6224DCD1047A}"/>
              </a:ext>
            </a:extLst>
          </p:cNvPr>
          <p:cNvSpPr/>
          <p:nvPr/>
        </p:nvSpPr>
        <p:spPr>
          <a:xfrm>
            <a:off x="613321" y="2881248"/>
            <a:ext cx="10960193" cy="332374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7" name="Arrow: Down 46">
            <a:extLst>
              <a:ext uri="{FF2B5EF4-FFF2-40B4-BE49-F238E27FC236}">
                <a16:creationId xmlns:a16="http://schemas.microsoft.com/office/drawing/2014/main" id="{6342AF1C-94A8-013F-0A0B-B2A17ED0ADD8}"/>
              </a:ext>
            </a:extLst>
          </p:cNvPr>
          <p:cNvSpPr/>
          <p:nvPr/>
        </p:nvSpPr>
        <p:spPr>
          <a:xfrm>
            <a:off x="1734588" y="2580325"/>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48" name="Picture 47">
            <a:extLst>
              <a:ext uri="{FF2B5EF4-FFF2-40B4-BE49-F238E27FC236}">
                <a16:creationId xmlns:a16="http://schemas.microsoft.com/office/drawing/2014/main" id="{7A1F591D-02C2-63FC-1399-DE3FA1731772}"/>
              </a:ext>
            </a:extLst>
          </p:cNvPr>
          <p:cNvPicPr>
            <a:picLocks noChangeAspect="1"/>
          </p:cNvPicPr>
          <p:nvPr/>
        </p:nvPicPr>
        <p:blipFill>
          <a:blip r:embed="rId13"/>
          <a:stretch>
            <a:fillRect/>
          </a:stretch>
        </p:blipFill>
        <p:spPr>
          <a:xfrm>
            <a:off x="1104998" y="2987168"/>
            <a:ext cx="2695280" cy="1516095"/>
          </a:xfrm>
          <a:prstGeom prst="rect">
            <a:avLst/>
          </a:prstGeom>
          <a:effectLst>
            <a:outerShdw blurRad="50800" dist="38100" dir="5400000" algn="t" rotWithShape="0">
              <a:prstClr val="black">
                <a:alpha val="40000"/>
              </a:prstClr>
            </a:outerShdw>
          </a:effectLst>
        </p:spPr>
      </p:pic>
      <p:pic>
        <p:nvPicPr>
          <p:cNvPr id="49" name="Picture 48">
            <a:extLst>
              <a:ext uri="{FF2B5EF4-FFF2-40B4-BE49-F238E27FC236}">
                <a16:creationId xmlns:a16="http://schemas.microsoft.com/office/drawing/2014/main" id="{0205E2A8-DE8F-EF8A-CDA5-C42BE5ADAD12}"/>
              </a:ext>
            </a:extLst>
          </p:cNvPr>
          <p:cNvPicPr>
            <a:picLocks noChangeAspect="1"/>
          </p:cNvPicPr>
          <p:nvPr/>
        </p:nvPicPr>
        <p:blipFill>
          <a:blip r:embed="rId14"/>
          <a:stretch>
            <a:fillRect/>
          </a:stretch>
        </p:blipFill>
        <p:spPr>
          <a:xfrm>
            <a:off x="8430372" y="2987168"/>
            <a:ext cx="2695280" cy="1516095"/>
          </a:xfrm>
          <a:prstGeom prst="rect">
            <a:avLst/>
          </a:prstGeom>
          <a:effectLst>
            <a:outerShdw blurRad="50800" dist="38100" dir="5400000" algn="t" rotWithShape="0">
              <a:prstClr val="black">
                <a:alpha val="40000"/>
              </a:prstClr>
            </a:outerShdw>
          </a:effectLst>
        </p:spPr>
      </p:pic>
      <p:pic>
        <p:nvPicPr>
          <p:cNvPr id="50" name="Picture 49">
            <a:extLst>
              <a:ext uri="{FF2B5EF4-FFF2-40B4-BE49-F238E27FC236}">
                <a16:creationId xmlns:a16="http://schemas.microsoft.com/office/drawing/2014/main" id="{C6B9250F-CAD1-C56F-66E6-6BAAEE490304}"/>
              </a:ext>
            </a:extLst>
          </p:cNvPr>
          <p:cNvPicPr>
            <a:picLocks noChangeAspect="1"/>
          </p:cNvPicPr>
          <p:nvPr/>
        </p:nvPicPr>
        <p:blipFill>
          <a:blip r:embed="rId15"/>
          <a:stretch>
            <a:fillRect/>
          </a:stretch>
        </p:blipFill>
        <p:spPr>
          <a:xfrm>
            <a:off x="8430372" y="4629729"/>
            <a:ext cx="2695280" cy="1516095"/>
          </a:xfrm>
          <a:prstGeom prst="rect">
            <a:avLst/>
          </a:prstGeom>
          <a:effectLst>
            <a:outerShdw blurRad="50800" dist="38100" dir="5400000" algn="t" rotWithShape="0">
              <a:prstClr val="black">
                <a:alpha val="40000"/>
              </a:prstClr>
            </a:outerShdw>
          </a:effectLst>
        </p:spPr>
      </p:pic>
      <p:pic>
        <p:nvPicPr>
          <p:cNvPr id="51" name="Picture 50">
            <a:extLst>
              <a:ext uri="{FF2B5EF4-FFF2-40B4-BE49-F238E27FC236}">
                <a16:creationId xmlns:a16="http://schemas.microsoft.com/office/drawing/2014/main" id="{5E046D12-FDE1-8712-B445-16C1E0A16F55}"/>
              </a:ext>
            </a:extLst>
          </p:cNvPr>
          <p:cNvPicPr>
            <a:picLocks noChangeAspect="1"/>
          </p:cNvPicPr>
          <p:nvPr/>
        </p:nvPicPr>
        <p:blipFill>
          <a:blip r:embed="rId16"/>
          <a:stretch>
            <a:fillRect/>
          </a:stretch>
        </p:blipFill>
        <p:spPr>
          <a:xfrm>
            <a:off x="4767685" y="2987168"/>
            <a:ext cx="2695280" cy="1516095"/>
          </a:xfrm>
          <a:prstGeom prst="rect">
            <a:avLst/>
          </a:prstGeom>
          <a:effectLst>
            <a:outerShdw blurRad="50800" dist="38100" dir="5400000" algn="t" rotWithShape="0">
              <a:prstClr val="black">
                <a:alpha val="40000"/>
              </a:prstClr>
            </a:outerShdw>
          </a:effectLst>
        </p:spPr>
      </p:pic>
      <p:pic>
        <p:nvPicPr>
          <p:cNvPr id="52" name="Picture 51">
            <a:extLst>
              <a:ext uri="{FF2B5EF4-FFF2-40B4-BE49-F238E27FC236}">
                <a16:creationId xmlns:a16="http://schemas.microsoft.com/office/drawing/2014/main" id="{B9A40BCF-BEB6-8C6A-B857-5601BECFD78A}"/>
              </a:ext>
            </a:extLst>
          </p:cNvPr>
          <p:cNvPicPr>
            <a:picLocks noChangeAspect="1"/>
          </p:cNvPicPr>
          <p:nvPr/>
        </p:nvPicPr>
        <p:blipFill>
          <a:blip r:embed="rId17"/>
          <a:stretch>
            <a:fillRect/>
          </a:stretch>
        </p:blipFill>
        <p:spPr>
          <a:xfrm>
            <a:off x="4767685" y="4629730"/>
            <a:ext cx="2695280" cy="1516095"/>
          </a:xfrm>
          <a:prstGeom prst="rect">
            <a:avLst/>
          </a:prstGeom>
          <a:effectLst>
            <a:outerShdw blurRad="50800" dist="38100" dir="5400000" algn="t" rotWithShape="0">
              <a:prstClr val="black">
                <a:alpha val="40000"/>
              </a:prstClr>
            </a:outerShdw>
          </a:effectLst>
        </p:spPr>
      </p:pic>
      <p:pic>
        <p:nvPicPr>
          <p:cNvPr id="53" name="Picture 52">
            <a:extLst>
              <a:ext uri="{FF2B5EF4-FFF2-40B4-BE49-F238E27FC236}">
                <a16:creationId xmlns:a16="http://schemas.microsoft.com/office/drawing/2014/main" id="{3DA8BE9E-BE3D-AA2C-75CB-4887BDBB4D25}"/>
              </a:ext>
            </a:extLst>
          </p:cNvPr>
          <p:cNvPicPr>
            <a:picLocks noChangeAspect="1"/>
          </p:cNvPicPr>
          <p:nvPr/>
        </p:nvPicPr>
        <p:blipFill>
          <a:blip r:embed="rId18"/>
          <a:stretch>
            <a:fillRect/>
          </a:stretch>
        </p:blipFill>
        <p:spPr>
          <a:xfrm>
            <a:off x="1104998" y="4605411"/>
            <a:ext cx="2695280" cy="1516095"/>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16818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7032140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2 small preview</a:t>
            </a:r>
          </a:p>
        </p:txBody>
      </p:sp>
      <p:sp>
        <p:nvSpPr>
          <p:cNvPr id="3" name="Footer Placeholder 2">
            <a:extLst>
              <a:ext uri="{FF2B5EF4-FFF2-40B4-BE49-F238E27FC236}">
                <a16:creationId xmlns:a16="http://schemas.microsoft.com/office/drawing/2014/main" id="{65FC4064-9FDB-54AF-B805-7E97DD07BBC9}"/>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97F65237-3559-F5BB-F1C2-BEDDFDEC023D}"/>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
        <p:nvSpPr>
          <p:cNvPr id="13" name="Chevron 17">
            <a:extLst>
              <a:ext uri="{FF2B5EF4-FFF2-40B4-BE49-F238E27FC236}">
                <a16:creationId xmlns:a16="http://schemas.microsoft.com/office/drawing/2014/main" id="{7107F89F-8ACC-0EA1-CE75-2A3816B3D5DB}"/>
              </a:ext>
            </a:extLst>
          </p:cNvPr>
          <p:cNvSpPr/>
          <p:nvPr/>
        </p:nvSpPr>
        <p:spPr bwMode="auto">
          <a:xfrm>
            <a:off x="6051554" y="2060473"/>
            <a:ext cx="2844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a:t>
            </a:r>
          </a:p>
        </p:txBody>
      </p:sp>
      <p:sp>
        <p:nvSpPr>
          <p:cNvPr id="23" name="Chevron 17">
            <a:extLst>
              <a:ext uri="{FF2B5EF4-FFF2-40B4-BE49-F238E27FC236}">
                <a16:creationId xmlns:a16="http://schemas.microsoft.com/office/drawing/2014/main" id="{CD7EEECC-4FB6-3719-1340-98AF7AEEFE83}"/>
              </a:ext>
            </a:extLst>
          </p:cNvPr>
          <p:cNvSpPr/>
          <p:nvPr/>
        </p:nvSpPr>
        <p:spPr bwMode="auto">
          <a:xfrm>
            <a:off x="8770670" y="2060473"/>
            <a:ext cx="2844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Plan</a:t>
            </a:r>
          </a:p>
        </p:txBody>
      </p:sp>
      <p:sp>
        <p:nvSpPr>
          <p:cNvPr id="27" name="Chevron 17">
            <a:extLst>
              <a:ext uri="{FF2B5EF4-FFF2-40B4-BE49-F238E27FC236}">
                <a16:creationId xmlns:a16="http://schemas.microsoft.com/office/drawing/2014/main" id="{CD5DB073-0FC6-347F-8113-78656472FE4E}"/>
              </a:ext>
            </a:extLst>
          </p:cNvPr>
          <p:cNvSpPr/>
          <p:nvPr/>
        </p:nvSpPr>
        <p:spPr bwMode="auto">
          <a:xfrm>
            <a:off x="3130777" y="2060473"/>
            <a:ext cx="3042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 Tools &amp; Frameworks to shape our Strategy</a:t>
            </a:r>
          </a:p>
        </p:txBody>
      </p:sp>
      <p:sp>
        <p:nvSpPr>
          <p:cNvPr id="29" name="Arrow: Pentagon 28">
            <a:extLst>
              <a:ext uri="{FF2B5EF4-FFF2-40B4-BE49-F238E27FC236}">
                <a16:creationId xmlns:a16="http://schemas.microsoft.com/office/drawing/2014/main" id="{691083DE-3A43-7BDA-EFC7-DFB5320D89CE}"/>
              </a:ext>
            </a:extLst>
          </p:cNvPr>
          <p:cNvSpPr/>
          <p:nvPr/>
        </p:nvSpPr>
        <p:spPr>
          <a:xfrm>
            <a:off x="613321" y="2060472"/>
            <a:ext cx="2640832" cy="499379"/>
          </a:xfrm>
          <a:prstGeom prst="homePlate">
            <a:avLst>
              <a:gd name="adj" fmla="val 31705"/>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Internal and External Analysis</a:t>
            </a:r>
          </a:p>
        </p:txBody>
      </p:sp>
      <p:sp>
        <p:nvSpPr>
          <p:cNvPr id="30" name="Oval 29">
            <a:extLst>
              <a:ext uri="{FF2B5EF4-FFF2-40B4-BE49-F238E27FC236}">
                <a16:creationId xmlns:a16="http://schemas.microsoft.com/office/drawing/2014/main" id="{F317872C-F21F-7AF5-88C7-47A91E0E26F2}"/>
              </a:ext>
            </a:extLst>
          </p:cNvPr>
          <p:cNvSpPr/>
          <p:nvPr/>
        </p:nvSpPr>
        <p:spPr>
          <a:xfrm>
            <a:off x="518943"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31" name="Oval 30">
            <a:extLst>
              <a:ext uri="{FF2B5EF4-FFF2-40B4-BE49-F238E27FC236}">
                <a16:creationId xmlns:a16="http://schemas.microsoft.com/office/drawing/2014/main" id="{6ED72F37-04AD-78B2-E0C2-85525E0F62CA}"/>
              </a:ext>
            </a:extLst>
          </p:cNvPr>
          <p:cNvSpPr/>
          <p:nvPr/>
        </p:nvSpPr>
        <p:spPr>
          <a:xfrm>
            <a:off x="3122777"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32" name="Oval 31">
            <a:extLst>
              <a:ext uri="{FF2B5EF4-FFF2-40B4-BE49-F238E27FC236}">
                <a16:creationId xmlns:a16="http://schemas.microsoft.com/office/drawing/2014/main" id="{56C491A0-82F6-6A60-BD60-9874BF15D003}"/>
              </a:ext>
            </a:extLst>
          </p:cNvPr>
          <p:cNvSpPr/>
          <p:nvPr/>
        </p:nvSpPr>
        <p:spPr>
          <a:xfrm>
            <a:off x="6053468"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33" name="Oval 32">
            <a:extLst>
              <a:ext uri="{FF2B5EF4-FFF2-40B4-BE49-F238E27FC236}">
                <a16:creationId xmlns:a16="http://schemas.microsoft.com/office/drawing/2014/main" id="{323BBB97-E61D-A861-54E9-B7AB29CA1A60}"/>
              </a:ext>
            </a:extLst>
          </p:cNvPr>
          <p:cNvSpPr/>
          <p:nvPr/>
        </p:nvSpPr>
        <p:spPr>
          <a:xfrm>
            <a:off x="8772820"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34" name="Graphic 33" descr="Blueprint outline">
            <a:extLst>
              <a:ext uri="{FF2B5EF4-FFF2-40B4-BE49-F238E27FC236}">
                <a16:creationId xmlns:a16="http://schemas.microsoft.com/office/drawing/2014/main" id="{9F3686CA-36E1-B930-7980-4A57201108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8901" y="1577092"/>
            <a:ext cx="432065" cy="432065"/>
          </a:xfrm>
          <a:prstGeom prst="rect">
            <a:avLst/>
          </a:prstGeom>
        </p:spPr>
      </p:pic>
      <p:pic>
        <p:nvPicPr>
          <p:cNvPr id="35" name="Graphic 34" descr="Clipboard Partially Checked outline">
            <a:extLst>
              <a:ext uri="{FF2B5EF4-FFF2-40B4-BE49-F238E27FC236}">
                <a16:creationId xmlns:a16="http://schemas.microsoft.com/office/drawing/2014/main" id="{637E2C7C-9EE9-341D-8C91-D20B03AF20D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7303" y="1535876"/>
            <a:ext cx="473281" cy="473281"/>
          </a:xfrm>
          <a:prstGeom prst="rect">
            <a:avLst/>
          </a:prstGeom>
        </p:spPr>
      </p:pic>
      <p:pic>
        <p:nvPicPr>
          <p:cNvPr id="36" name="Graphic 35" descr="Research outline">
            <a:extLst>
              <a:ext uri="{FF2B5EF4-FFF2-40B4-BE49-F238E27FC236}">
                <a16:creationId xmlns:a16="http://schemas.microsoft.com/office/drawing/2014/main" id="{46579321-987C-B27D-0E8C-49C9638BBBB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7705" y="1576035"/>
            <a:ext cx="432064" cy="432064"/>
          </a:xfrm>
          <a:prstGeom prst="rect">
            <a:avLst/>
          </a:prstGeom>
        </p:spPr>
      </p:pic>
      <p:pic>
        <p:nvPicPr>
          <p:cNvPr id="37" name="Graphic 36" descr="Lightbulb and pencil outline">
            <a:extLst>
              <a:ext uri="{FF2B5EF4-FFF2-40B4-BE49-F238E27FC236}">
                <a16:creationId xmlns:a16="http://schemas.microsoft.com/office/drawing/2014/main" id="{8DE9B9DA-9430-EC15-092E-D20F7DAA14E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8673" y="1587048"/>
            <a:ext cx="415003" cy="415003"/>
          </a:xfrm>
          <a:prstGeom prst="rect">
            <a:avLst/>
          </a:prstGeom>
        </p:spPr>
      </p:pic>
      <p:sp>
        <p:nvSpPr>
          <p:cNvPr id="38" name="Arrow: Pentagon 37">
            <a:extLst>
              <a:ext uri="{FF2B5EF4-FFF2-40B4-BE49-F238E27FC236}">
                <a16:creationId xmlns:a16="http://schemas.microsoft.com/office/drawing/2014/main" id="{E21362DA-A696-8209-0F2C-D32F65333B1A}"/>
              </a:ext>
            </a:extLst>
          </p:cNvPr>
          <p:cNvSpPr/>
          <p:nvPr/>
        </p:nvSpPr>
        <p:spPr>
          <a:xfrm>
            <a:off x="613320" y="6255279"/>
            <a:ext cx="11001349" cy="305881"/>
          </a:xfrm>
          <a:prstGeom prst="homePlate">
            <a:avLst>
              <a:gd name="adj" fmla="val 31705"/>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Dashboards</a:t>
            </a:r>
          </a:p>
        </p:txBody>
      </p:sp>
      <p:sp>
        <p:nvSpPr>
          <p:cNvPr id="39" name="Rectangle 38">
            <a:extLst>
              <a:ext uri="{FF2B5EF4-FFF2-40B4-BE49-F238E27FC236}">
                <a16:creationId xmlns:a16="http://schemas.microsoft.com/office/drawing/2014/main" id="{C2B14083-4EB0-287F-706F-B3173A098932}"/>
              </a:ext>
            </a:extLst>
          </p:cNvPr>
          <p:cNvSpPr/>
          <p:nvPr/>
        </p:nvSpPr>
        <p:spPr>
          <a:xfrm>
            <a:off x="613321" y="2881248"/>
            <a:ext cx="10960193" cy="332374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47" name="Picture 46">
            <a:extLst>
              <a:ext uri="{FF2B5EF4-FFF2-40B4-BE49-F238E27FC236}">
                <a16:creationId xmlns:a16="http://schemas.microsoft.com/office/drawing/2014/main" id="{32BACD25-2B22-54B4-1281-F2FF317FEE41}"/>
              </a:ext>
            </a:extLst>
          </p:cNvPr>
          <p:cNvPicPr>
            <a:picLocks noChangeAspect="1"/>
          </p:cNvPicPr>
          <p:nvPr/>
        </p:nvPicPr>
        <p:blipFill>
          <a:blip r:embed="rId13"/>
          <a:stretch>
            <a:fillRect/>
          </a:stretch>
        </p:blipFill>
        <p:spPr>
          <a:xfrm>
            <a:off x="1024872" y="2954369"/>
            <a:ext cx="2694400" cy="1515600"/>
          </a:xfrm>
          <a:prstGeom prst="rect">
            <a:avLst/>
          </a:prstGeom>
          <a:effectLst>
            <a:outerShdw blurRad="50800" dist="38100" dir="5400000" algn="t" rotWithShape="0">
              <a:prstClr val="black">
                <a:alpha val="40000"/>
              </a:prstClr>
            </a:outerShdw>
          </a:effectLst>
        </p:spPr>
      </p:pic>
      <p:pic>
        <p:nvPicPr>
          <p:cNvPr id="48" name="Picture 47">
            <a:extLst>
              <a:ext uri="{FF2B5EF4-FFF2-40B4-BE49-F238E27FC236}">
                <a16:creationId xmlns:a16="http://schemas.microsoft.com/office/drawing/2014/main" id="{B1F24292-7004-86B3-2859-8D7ED2E2700C}"/>
              </a:ext>
            </a:extLst>
          </p:cNvPr>
          <p:cNvPicPr>
            <a:picLocks noChangeAspect="1"/>
          </p:cNvPicPr>
          <p:nvPr/>
        </p:nvPicPr>
        <p:blipFill>
          <a:blip r:embed="rId14"/>
          <a:stretch>
            <a:fillRect/>
          </a:stretch>
        </p:blipFill>
        <p:spPr>
          <a:xfrm>
            <a:off x="4736988" y="2923651"/>
            <a:ext cx="2694399" cy="1515600"/>
          </a:xfrm>
          <a:prstGeom prst="rect">
            <a:avLst/>
          </a:prstGeom>
          <a:effectLst>
            <a:outerShdw blurRad="50800" dist="38100" dir="5400000" algn="t" rotWithShape="0">
              <a:prstClr val="black">
                <a:alpha val="40000"/>
              </a:prstClr>
            </a:outerShdw>
          </a:effectLst>
        </p:spPr>
      </p:pic>
      <p:pic>
        <p:nvPicPr>
          <p:cNvPr id="49" name="Picture 48">
            <a:extLst>
              <a:ext uri="{FF2B5EF4-FFF2-40B4-BE49-F238E27FC236}">
                <a16:creationId xmlns:a16="http://schemas.microsoft.com/office/drawing/2014/main" id="{DCD31391-F4D3-EFFC-9557-E4CDF7706543}"/>
              </a:ext>
            </a:extLst>
          </p:cNvPr>
          <p:cNvPicPr>
            <a:picLocks noChangeAspect="1"/>
          </p:cNvPicPr>
          <p:nvPr/>
        </p:nvPicPr>
        <p:blipFill>
          <a:blip r:embed="rId15"/>
          <a:stretch>
            <a:fillRect/>
          </a:stretch>
        </p:blipFill>
        <p:spPr>
          <a:xfrm>
            <a:off x="1024872" y="4602441"/>
            <a:ext cx="2694400" cy="1515600"/>
          </a:xfrm>
          <a:prstGeom prst="rect">
            <a:avLst/>
          </a:prstGeom>
          <a:effectLst>
            <a:outerShdw blurRad="50800" dist="38100" dir="5400000" algn="t" rotWithShape="0">
              <a:prstClr val="black">
                <a:alpha val="40000"/>
              </a:prstClr>
            </a:outerShdw>
          </a:effectLst>
        </p:spPr>
      </p:pic>
      <p:pic>
        <p:nvPicPr>
          <p:cNvPr id="50" name="Picture 49">
            <a:extLst>
              <a:ext uri="{FF2B5EF4-FFF2-40B4-BE49-F238E27FC236}">
                <a16:creationId xmlns:a16="http://schemas.microsoft.com/office/drawing/2014/main" id="{9CBC42F4-2A78-30D2-7A93-62AB5201A781}"/>
              </a:ext>
            </a:extLst>
          </p:cNvPr>
          <p:cNvPicPr>
            <a:picLocks noChangeAspect="1"/>
          </p:cNvPicPr>
          <p:nvPr/>
        </p:nvPicPr>
        <p:blipFill>
          <a:blip r:embed="rId16"/>
          <a:stretch>
            <a:fillRect/>
          </a:stretch>
        </p:blipFill>
        <p:spPr>
          <a:xfrm>
            <a:off x="4736987" y="4595931"/>
            <a:ext cx="2694400" cy="1515600"/>
          </a:xfrm>
          <a:prstGeom prst="rect">
            <a:avLst/>
          </a:prstGeom>
          <a:effectLst>
            <a:outerShdw blurRad="50800" dist="38100" dir="5400000" algn="t" rotWithShape="0">
              <a:prstClr val="black">
                <a:alpha val="40000"/>
              </a:prstClr>
            </a:outerShdw>
          </a:effectLst>
        </p:spPr>
      </p:pic>
      <p:pic>
        <p:nvPicPr>
          <p:cNvPr id="51" name="Picture 50">
            <a:extLst>
              <a:ext uri="{FF2B5EF4-FFF2-40B4-BE49-F238E27FC236}">
                <a16:creationId xmlns:a16="http://schemas.microsoft.com/office/drawing/2014/main" id="{45613E0E-6C1B-6696-E2AF-15DE4D03A3FD}"/>
              </a:ext>
            </a:extLst>
          </p:cNvPr>
          <p:cNvPicPr>
            <a:picLocks noChangeAspect="1"/>
          </p:cNvPicPr>
          <p:nvPr/>
        </p:nvPicPr>
        <p:blipFill>
          <a:blip r:embed="rId17"/>
          <a:stretch>
            <a:fillRect/>
          </a:stretch>
        </p:blipFill>
        <p:spPr>
          <a:xfrm>
            <a:off x="8449102" y="2954369"/>
            <a:ext cx="2694400" cy="1515600"/>
          </a:xfrm>
          <a:prstGeom prst="rect">
            <a:avLst/>
          </a:prstGeom>
          <a:effectLst>
            <a:outerShdw blurRad="50800" dist="38100" dir="5400000" algn="t" rotWithShape="0">
              <a:prstClr val="black">
                <a:alpha val="40000"/>
              </a:prstClr>
            </a:outerShdw>
          </a:effectLst>
        </p:spPr>
      </p:pic>
      <p:pic>
        <p:nvPicPr>
          <p:cNvPr id="52" name="Picture 51">
            <a:extLst>
              <a:ext uri="{FF2B5EF4-FFF2-40B4-BE49-F238E27FC236}">
                <a16:creationId xmlns:a16="http://schemas.microsoft.com/office/drawing/2014/main" id="{C054C924-5024-DF2D-B680-E7BF7AA1C1CE}"/>
              </a:ext>
            </a:extLst>
          </p:cNvPr>
          <p:cNvPicPr>
            <a:picLocks noChangeAspect="1"/>
          </p:cNvPicPr>
          <p:nvPr/>
        </p:nvPicPr>
        <p:blipFill>
          <a:blip r:embed="rId18"/>
          <a:stretch>
            <a:fillRect/>
          </a:stretch>
        </p:blipFill>
        <p:spPr>
          <a:xfrm>
            <a:off x="8449102" y="4595930"/>
            <a:ext cx="2694400" cy="1515600"/>
          </a:xfrm>
          <a:prstGeom prst="rect">
            <a:avLst/>
          </a:prstGeom>
          <a:effectLst>
            <a:outerShdw blurRad="50800" dist="38100" dir="5400000" algn="t" rotWithShape="0">
              <a:prstClr val="black">
                <a:alpha val="40000"/>
              </a:prstClr>
            </a:outerShdw>
          </a:effectLst>
        </p:spPr>
      </p:pic>
      <p:sp>
        <p:nvSpPr>
          <p:cNvPr id="53" name="Arrow: Down 52">
            <a:extLst>
              <a:ext uri="{FF2B5EF4-FFF2-40B4-BE49-F238E27FC236}">
                <a16:creationId xmlns:a16="http://schemas.microsoft.com/office/drawing/2014/main" id="{6139B682-B15D-3049-51BA-FBE495B90659}"/>
              </a:ext>
            </a:extLst>
          </p:cNvPr>
          <p:cNvSpPr/>
          <p:nvPr/>
        </p:nvSpPr>
        <p:spPr>
          <a:xfrm>
            <a:off x="4434306" y="2580325"/>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extLst>
      <p:ext uri="{BB962C8B-B14F-4D97-AF65-F5344CB8AC3E}">
        <p14:creationId xmlns:p14="http://schemas.microsoft.com/office/powerpoint/2010/main" val="498457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71E87-896A-738C-F3B1-7482D21A4CC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C69BC80-BC6B-AB75-F956-29A5F5DD9D38}"/>
              </a:ext>
            </a:extLst>
          </p:cNvPr>
          <p:cNvGraphicFramePr>
            <a:graphicFrameLocks noChangeAspect="1"/>
          </p:cNvGraphicFramePr>
          <p:nvPr>
            <p:custDataLst>
              <p:tags r:id="rId1"/>
            </p:custDataLst>
            <p:extLst>
              <p:ext uri="{D42A27DB-BD31-4B8C-83A1-F6EECF244321}">
                <p14:modId xmlns:p14="http://schemas.microsoft.com/office/powerpoint/2010/main" val="21728477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C69BC80-BC6B-AB75-F956-29A5F5DD9D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E0AA54E-30BF-ADBF-CBDB-7B466E8FC1CF}"/>
              </a:ext>
            </a:extLst>
          </p:cNvPr>
          <p:cNvSpPr>
            <a:spLocks noGrp="1"/>
          </p:cNvSpPr>
          <p:nvPr>
            <p:ph type="title"/>
          </p:nvPr>
        </p:nvSpPr>
        <p:spPr/>
        <p:txBody>
          <a:bodyPr vert="horz">
            <a:normAutofit/>
          </a:bodyPr>
          <a:lstStyle/>
          <a:p>
            <a:r>
              <a:rPr lang="en-US" dirty="0"/>
              <a:t>Phase 3 small preview</a:t>
            </a:r>
          </a:p>
        </p:txBody>
      </p:sp>
      <p:sp>
        <p:nvSpPr>
          <p:cNvPr id="3" name="Footer Placeholder 2">
            <a:extLst>
              <a:ext uri="{FF2B5EF4-FFF2-40B4-BE49-F238E27FC236}">
                <a16:creationId xmlns:a16="http://schemas.microsoft.com/office/drawing/2014/main" id="{4B0DCB9D-6418-31CD-0DF7-374502C88E08}"/>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2048FBDE-6426-21D6-D6B2-B6DEC78012F3}"/>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
        <p:nvSpPr>
          <p:cNvPr id="13" name="Chevron 17">
            <a:extLst>
              <a:ext uri="{FF2B5EF4-FFF2-40B4-BE49-F238E27FC236}">
                <a16:creationId xmlns:a16="http://schemas.microsoft.com/office/drawing/2014/main" id="{8ED8DD6D-F4B5-54EE-7774-F84CE48B3D99}"/>
              </a:ext>
            </a:extLst>
          </p:cNvPr>
          <p:cNvSpPr/>
          <p:nvPr/>
        </p:nvSpPr>
        <p:spPr bwMode="auto">
          <a:xfrm>
            <a:off x="6051554" y="2060473"/>
            <a:ext cx="2844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a:t>
            </a:r>
          </a:p>
        </p:txBody>
      </p:sp>
      <p:sp>
        <p:nvSpPr>
          <p:cNvPr id="23" name="Chevron 17">
            <a:extLst>
              <a:ext uri="{FF2B5EF4-FFF2-40B4-BE49-F238E27FC236}">
                <a16:creationId xmlns:a16="http://schemas.microsoft.com/office/drawing/2014/main" id="{1089F709-84FD-AF79-0B41-D1B62F514211}"/>
              </a:ext>
            </a:extLst>
          </p:cNvPr>
          <p:cNvSpPr/>
          <p:nvPr/>
        </p:nvSpPr>
        <p:spPr bwMode="auto">
          <a:xfrm>
            <a:off x="8770670" y="2060473"/>
            <a:ext cx="2844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Plan</a:t>
            </a:r>
          </a:p>
        </p:txBody>
      </p:sp>
      <p:sp>
        <p:nvSpPr>
          <p:cNvPr id="27" name="Chevron 17">
            <a:extLst>
              <a:ext uri="{FF2B5EF4-FFF2-40B4-BE49-F238E27FC236}">
                <a16:creationId xmlns:a16="http://schemas.microsoft.com/office/drawing/2014/main" id="{203980C0-7B8B-1DA5-8A31-DDB1825AE6B4}"/>
              </a:ext>
            </a:extLst>
          </p:cNvPr>
          <p:cNvSpPr/>
          <p:nvPr/>
        </p:nvSpPr>
        <p:spPr bwMode="auto">
          <a:xfrm>
            <a:off x="3130777" y="2060473"/>
            <a:ext cx="3042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 Tools &amp; Frameworks to shape our Strategy</a:t>
            </a:r>
          </a:p>
        </p:txBody>
      </p:sp>
      <p:sp>
        <p:nvSpPr>
          <p:cNvPr id="29" name="Arrow: Pentagon 28">
            <a:extLst>
              <a:ext uri="{FF2B5EF4-FFF2-40B4-BE49-F238E27FC236}">
                <a16:creationId xmlns:a16="http://schemas.microsoft.com/office/drawing/2014/main" id="{649CB399-BCD3-18B4-D1CE-8ED980A188A0}"/>
              </a:ext>
            </a:extLst>
          </p:cNvPr>
          <p:cNvSpPr/>
          <p:nvPr/>
        </p:nvSpPr>
        <p:spPr>
          <a:xfrm>
            <a:off x="613321" y="2060472"/>
            <a:ext cx="2640832" cy="499379"/>
          </a:xfrm>
          <a:prstGeom prst="homePlate">
            <a:avLst>
              <a:gd name="adj" fmla="val 31705"/>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Internal and External Analysis</a:t>
            </a:r>
          </a:p>
        </p:txBody>
      </p:sp>
      <p:sp>
        <p:nvSpPr>
          <p:cNvPr id="30" name="Oval 29">
            <a:extLst>
              <a:ext uri="{FF2B5EF4-FFF2-40B4-BE49-F238E27FC236}">
                <a16:creationId xmlns:a16="http://schemas.microsoft.com/office/drawing/2014/main" id="{D82DCF2D-4B99-52DB-ADE5-B0478A2ADFF6}"/>
              </a:ext>
            </a:extLst>
          </p:cNvPr>
          <p:cNvSpPr/>
          <p:nvPr/>
        </p:nvSpPr>
        <p:spPr>
          <a:xfrm>
            <a:off x="518943"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31" name="Oval 30">
            <a:extLst>
              <a:ext uri="{FF2B5EF4-FFF2-40B4-BE49-F238E27FC236}">
                <a16:creationId xmlns:a16="http://schemas.microsoft.com/office/drawing/2014/main" id="{447C846B-BA8E-A8AA-ED56-A6E36C35A6D5}"/>
              </a:ext>
            </a:extLst>
          </p:cNvPr>
          <p:cNvSpPr/>
          <p:nvPr/>
        </p:nvSpPr>
        <p:spPr>
          <a:xfrm>
            <a:off x="3122777"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32" name="Oval 31">
            <a:extLst>
              <a:ext uri="{FF2B5EF4-FFF2-40B4-BE49-F238E27FC236}">
                <a16:creationId xmlns:a16="http://schemas.microsoft.com/office/drawing/2014/main" id="{679E04DB-A3AA-D4A6-7C16-445E42633C19}"/>
              </a:ext>
            </a:extLst>
          </p:cNvPr>
          <p:cNvSpPr/>
          <p:nvPr/>
        </p:nvSpPr>
        <p:spPr>
          <a:xfrm>
            <a:off x="6053468"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33" name="Oval 32">
            <a:extLst>
              <a:ext uri="{FF2B5EF4-FFF2-40B4-BE49-F238E27FC236}">
                <a16:creationId xmlns:a16="http://schemas.microsoft.com/office/drawing/2014/main" id="{1EE4402E-740E-E93A-23D6-5EE7ED14BCB2}"/>
              </a:ext>
            </a:extLst>
          </p:cNvPr>
          <p:cNvSpPr/>
          <p:nvPr/>
        </p:nvSpPr>
        <p:spPr>
          <a:xfrm>
            <a:off x="8772820"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34" name="Graphic 33" descr="Blueprint outline">
            <a:extLst>
              <a:ext uri="{FF2B5EF4-FFF2-40B4-BE49-F238E27FC236}">
                <a16:creationId xmlns:a16="http://schemas.microsoft.com/office/drawing/2014/main" id="{AA99514B-9E6D-DBB3-54D8-0C27E074C1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8901" y="1577092"/>
            <a:ext cx="432065" cy="432065"/>
          </a:xfrm>
          <a:prstGeom prst="rect">
            <a:avLst/>
          </a:prstGeom>
        </p:spPr>
      </p:pic>
      <p:pic>
        <p:nvPicPr>
          <p:cNvPr id="35" name="Graphic 34" descr="Clipboard Partially Checked outline">
            <a:extLst>
              <a:ext uri="{FF2B5EF4-FFF2-40B4-BE49-F238E27FC236}">
                <a16:creationId xmlns:a16="http://schemas.microsoft.com/office/drawing/2014/main" id="{0847146B-815A-8245-5D62-FEF3ED5C6E3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7303" y="1535876"/>
            <a:ext cx="473281" cy="473281"/>
          </a:xfrm>
          <a:prstGeom prst="rect">
            <a:avLst/>
          </a:prstGeom>
        </p:spPr>
      </p:pic>
      <p:pic>
        <p:nvPicPr>
          <p:cNvPr id="36" name="Graphic 35" descr="Research outline">
            <a:extLst>
              <a:ext uri="{FF2B5EF4-FFF2-40B4-BE49-F238E27FC236}">
                <a16:creationId xmlns:a16="http://schemas.microsoft.com/office/drawing/2014/main" id="{DF9BC896-869F-75DC-B4C8-3E68FD4A9B7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7705" y="1576035"/>
            <a:ext cx="432064" cy="432064"/>
          </a:xfrm>
          <a:prstGeom prst="rect">
            <a:avLst/>
          </a:prstGeom>
        </p:spPr>
      </p:pic>
      <p:pic>
        <p:nvPicPr>
          <p:cNvPr id="37" name="Graphic 36" descr="Lightbulb and pencil outline">
            <a:extLst>
              <a:ext uri="{FF2B5EF4-FFF2-40B4-BE49-F238E27FC236}">
                <a16:creationId xmlns:a16="http://schemas.microsoft.com/office/drawing/2014/main" id="{BB45F7C3-EE80-43AA-4AD2-2CDB359DA8F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8673" y="1587048"/>
            <a:ext cx="415003" cy="415003"/>
          </a:xfrm>
          <a:prstGeom prst="rect">
            <a:avLst/>
          </a:prstGeom>
        </p:spPr>
      </p:pic>
      <p:sp>
        <p:nvSpPr>
          <p:cNvPr id="38" name="Arrow: Pentagon 37">
            <a:extLst>
              <a:ext uri="{FF2B5EF4-FFF2-40B4-BE49-F238E27FC236}">
                <a16:creationId xmlns:a16="http://schemas.microsoft.com/office/drawing/2014/main" id="{D834F624-6394-75A6-138D-8549CAA1D5DD}"/>
              </a:ext>
            </a:extLst>
          </p:cNvPr>
          <p:cNvSpPr/>
          <p:nvPr/>
        </p:nvSpPr>
        <p:spPr>
          <a:xfrm>
            <a:off x="613320" y="6255279"/>
            <a:ext cx="11001349" cy="305881"/>
          </a:xfrm>
          <a:prstGeom prst="homePlate">
            <a:avLst>
              <a:gd name="adj" fmla="val 31705"/>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Dashboards</a:t>
            </a:r>
          </a:p>
        </p:txBody>
      </p:sp>
      <p:sp>
        <p:nvSpPr>
          <p:cNvPr id="39" name="Rectangle 38">
            <a:extLst>
              <a:ext uri="{FF2B5EF4-FFF2-40B4-BE49-F238E27FC236}">
                <a16:creationId xmlns:a16="http://schemas.microsoft.com/office/drawing/2014/main" id="{334603E4-55C0-DAD4-BE86-5AFFCEEF656B}"/>
              </a:ext>
            </a:extLst>
          </p:cNvPr>
          <p:cNvSpPr/>
          <p:nvPr/>
        </p:nvSpPr>
        <p:spPr>
          <a:xfrm>
            <a:off x="613321" y="2881248"/>
            <a:ext cx="10960193" cy="332374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Arrow: Down 6">
            <a:extLst>
              <a:ext uri="{FF2B5EF4-FFF2-40B4-BE49-F238E27FC236}">
                <a16:creationId xmlns:a16="http://schemas.microsoft.com/office/drawing/2014/main" id="{64E1AF95-C84C-2387-E957-FFE45AA1381F}"/>
              </a:ext>
            </a:extLst>
          </p:cNvPr>
          <p:cNvSpPr/>
          <p:nvPr/>
        </p:nvSpPr>
        <p:spPr>
          <a:xfrm>
            <a:off x="7260903" y="2580325"/>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8" name="Picture 7">
            <a:extLst>
              <a:ext uri="{FF2B5EF4-FFF2-40B4-BE49-F238E27FC236}">
                <a16:creationId xmlns:a16="http://schemas.microsoft.com/office/drawing/2014/main" id="{6F8FF3C0-EA88-30E5-8057-2EB00283335A}"/>
              </a:ext>
            </a:extLst>
          </p:cNvPr>
          <p:cNvPicPr>
            <a:picLocks noChangeAspect="1"/>
          </p:cNvPicPr>
          <p:nvPr/>
        </p:nvPicPr>
        <p:blipFill>
          <a:blip r:embed="rId13"/>
          <a:stretch>
            <a:fillRect/>
          </a:stretch>
        </p:blipFill>
        <p:spPr>
          <a:xfrm>
            <a:off x="8449102" y="2966706"/>
            <a:ext cx="2702463" cy="15156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C0C15018-77D6-F9DD-D358-9D862DEBBA0C}"/>
              </a:ext>
            </a:extLst>
          </p:cNvPr>
          <p:cNvPicPr>
            <a:picLocks noChangeAspect="1"/>
          </p:cNvPicPr>
          <p:nvPr/>
        </p:nvPicPr>
        <p:blipFill>
          <a:blip r:embed="rId14"/>
          <a:stretch>
            <a:fillRect/>
          </a:stretch>
        </p:blipFill>
        <p:spPr>
          <a:xfrm>
            <a:off x="1128223" y="2966706"/>
            <a:ext cx="2694400" cy="15156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70E89800-28AE-1E0F-3CC3-5A95FD0B1DE9}"/>
              </a:ext>
            </a:extLst>
          </p:cNvPr>
          <p:cNvPicPr>
            <a:picLocks noChangeAspect="1"/>
          </p:cNvPicPr>
          <p:nvPr/>
        </p:nvPicPr>
        <p:blipFill>
          <a:blip r:embed="rId15"/>
          <a:stretch>
            <a:fillRect/>
          </a:stretch>
        </p:blipFill>
        <p:spPr>
          <a:xfrm>
            <a:off x="4788663" y="2966706"/>
            <a:ext cx="2694400" cy="15156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D25FEC4B-DD95-69D9-2B89-5C2812FA3305}"/>
              </a:ext>
            </a:extLst>
          </p:cNvPr>
          <p:cNvPicPr>
            <a:picLocks noChangeAspect="1"/>
          </p:cNvPicPr>
          <p:nvPr/>
        </p:nvPicPr>
        <p:blipFill>
          <a:blip r:embed="rId16"/>
          <a:stretch>
            <a:fillRect/>
          </a:stretch>
        </p:blipFill>
        <p:spPr>
          <a:xfrm>
            <a:off x="1132866" y="4602441"/>
            <a:ext cx="2694400" cy="15156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E48A2312-2017-744E-B51C-A8229CD372EE}"/>
              </a:ext>
            </a:extLst>
          </p:cNvPr>
          <p:cNvPicPr>
            <a:picLocks noChangeAspect="1"/>
          </p:cNvPicPr>
          <p:nvPr/>
        </p:nvPicPr>
        <p:blipFill>
          <a:blip r:embed="rId17"/>
          <a:stretch>
            <a:fillRect/>
          </a:stretch>
        </p:blipFill>
        <p:spPr>
          <a:xfrm>
            <a:off x="4803402" y="4595930"/>
            <a:ext cx="2694400" cy="15156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3BB272B4-0C49-114D-E342-CF43A464EC1E}"/>
              </a:ext>
            </a:extLst>
          </p:cNvPr>
          <p:cNvPicPr>
            <a:picLocks noChangeAspect="1"/>
          </p:cNvPicPr>
          <p:nvPr/>
        </p:nvPicPr>
        <p:blipFill>
          <a:blip r:embed="rId18"/>
          <a:srcRect r="-3704"/>
          <a:stretch/>
        </p:blipFill>
        <p:spPr>
          <a:xfrm>
            <a:off x="8473938" y="4602441"/>
            <a:ext cx="2772000" cy="152966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028978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6E3A3-21E4-A247-56A7-37D4BD57656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3BE2E63-A3E7-F807-D158-A151A54FC312}"/>
              </a:ext>
            </a:extLst>
          </p:cNvPr>
          <p:cNvGraphicFramePr>
            <a:graphicFrameLocks noChangeAspect="1"/>
          </p:cNvGraphicFramePr>
          <p:nvPr>
            <p:custDataLst>
              <p:tags r:id="rId1"/>
            </p:custDataLst>
            <p:extLst>
              <p:ext uri="{D42A27DB-BD31-4B8C-83A1-F6EECF244321}">
                <p14:modId xmlns:p14="http://schemas.microsoft.com/office/powerpoint/2010/main" val="3538185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53BE2E63-A3E7-F807-D158-A151A54FC3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F7362A5-C505-C2D6-21F2-1C8F853EBFDD}"/>
              </a:ext>
            </a:extLst>
          </p:cNvPr>
          <p:cNvSpPr>
            <a:spLocks noGrp="1"/>
          </p:cNvSpPr>
          <p:nvPr>
            <p:ph type="title"/>
          </p:nvPr>
        </p:nvSpPr>
        <p:spPr/>
        <p:txBody>
          <a:bodyPr vert="horz">
            <a:normAutofit/>
          </a:bodyPr>
          <a:lstStyle/>
          <a:p>
            <a:r>
              <a:rPr lang="en-US" dirty="0"/>
              <a:t>Phase 4 small preview</a:t>
            </a:r>
          </a:p>
        </p:txBody>
      </p:sp>
      <p:sp>
        <p:nvSpPr>
          <p:cNvPr id="3" name="Footer Placeholder 2">
            <a:extLst>
              <a:ext uri="{FF2B5EF4-FFF2-40B4-BE49-F238E27FC236}">
                <a16:creationId xmlns:a16="http://schemas.microsoft.com/office/drawing/2014/main" id="{609E9376-43D8-A192-BDD2-1A4C26E83CCD}"/>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2F1A3EBF-CD92-A610-92C8-F37D4FE4ED41}"/>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
        <p:nvSpPr>
          <p:cNvPr id="13" name="Chevron 17">
            <a:extLst>
              <a:ext uri="{FF2B5EF4-FFF2-40B4-BE49-F238E27FC236}">
                <a16:creationId xmlns:a16="http://schemas.microsoft.com/office/drawing/2014/main" id="{05FB3458-76E2-BCC3-AAA6-006741051569}"/>
              </a:ext>
            </a:extLst>
          </p:cNvPr>
          <p:cNvSpPr/>
          <p:nvPr/>
        </p:nvSpPr>
        <p:spPr bwMode="auto">
          <a:xfrm>
            <a:off x="6051554" y="2060473"/>
            <a:ext cx="2844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a:t>
            </a:r>
          </a:p>
        </p:txBody>
      </p:sp>
      <p:sp>
        <p:nvSpPr>
          <p:cNvPr id="23" name="Chevron 17">
            <a:extLst>
              <a:ext uri="{FF2B5EF4-FFF2-40B4-BE49-F238E27FC236}">
                <a16:creationId xmlns:a16="http://schemas.microsoft.com/office/drawing/2014/main" id="{428F73A3-A320-9ED6-B5E6-1E909E32318B}"/>
              </a:ext>
            </a:extLst>
          </p:cNvPr>
          <p:cNvSpPr/>
          <p:nvPr/>
        </p:nvSpPr>
        <p:spPr bwMode="auto">
          <a:xfrm>
            <a:off x="8770670" y="2060473"/>
            <a:ext cx="2844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Plan</a:t>
            </a:r>
          </a:p>
        </p:txBody>
      </p:sp>
      <p:sp>
        <p:nvSpPr>
          <p:cNvPr id="27" name="Chevron 17">
            <a:extLst>
              <a:ext uri="{FF2B5EF4-FFF2-40B4-BE49-F238E27FC236}">
                <a16:creationId xmlns:a16="http://schemas.microsoft.com/office/drawing/2014/main" id="{AA8CFA25-BE93-215E-1133-C5DE8E031EF5}"/>
              </a:ext>
            </a:extLst>
          </p:cNvPr>
          <p:cNvSpPr/>
          <p:nvPr/>
        </p:nvSpPr>
        <p:spPr bwMode="auto">
          <a:xfrm>
            <a:off x="3130777" y="2060473"/>
            <a:ext cx="3042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 Tools &amp; Frameworks to shape our Strategy</a:t>
            </a:r>
          </a:p>
        </p:txBody>
      </p:sp>
      <p:sp>
        <p:nvSpPr>
          <p:cNvPr id="29" name="Arrow: Pentagon 28">
            <a:extLst>
              <a:ext uri="{FF2B5EF4-FFF2-40B4-BE49-F238E27FC236}">
                <a16:creationId xmlns:a16="http://schemas.microsoft.com/office/drawing/2014/main" id="{6F6BA67B-82A0-47E5-6988-6FEBA5A3CF25}"/>
              </a:ext>
            </a:extLst>
          </p:cNvPr>
          <p:cNvSpPr/>
          <p:nvPr/>
        </p:nvSpPr>
        <p:spPr>
          <a:xfrm>
            <a:off x="613321" y="2060472"/>
            <a:ext cx="2640832" cy="499379"/>
          </a:xfrm>
          <a:prstGeom prst="homePlate">
            <a:avLst>
              <a:gd name="adj" fmla="val 31705"/>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Internal and External Analysis</a:t>
            </a:r>
          </a:p>
        </p:txBody>
      </p:sp>
      <p:sp>
        <p:nvSpPr>
          <p:cNvPr id="30" name="Oval 29">
            <a:extLst>
              <a:ext uri="{FF2B5EF4-FFF2-40B4-BE49-F238E27FC236}">
                <a16:creationId xmlns:a16="http://schemas.microsoft.com/office/drawing/2014/main" id="{4C498E14-BED6-A6AB-4F3D-1E5FC26CFCCF}"/>
              </a:ext>
            </a:extLst>
          </p:cNvPr>
          <p:cNvSpPr/>
          <p:nvPr/>
        </p:nvSpPr>
        <p:spPr>
          <a:xfrm>
            <a:off x="518943"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31" name="Oval 30">
            <a:extLst>
              <a:ext uri="{FF2B5EF4-FFF2-40B4-BE49-F238E27FC236}">
                <a16:creationId xmlns:a16="http://schemas.microsoft.com/office/drawing/2014/main" id="{961B30D9-787E-99FE-30F8-6A289CE26E01}"/>
              </a:ext>
            </a:extLst>
          </p:cNvPr>
          <p:cNvSpPr/>
          <p:nvPr/>
        </p:nvSpPr>
        <p:spPr>
          <a:xfrm>
            <a:off x="3122777"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32" name="Oval 31">
            <a:extLst>
              <a:ext uri="{FF2B5EF4-FFF2-40B4-BE49-F238E27FC236}">
                <a16:creationId xmlns:a16="http://schemas.microsoft.com/office/drawing/2014/main" id="{95A66E70-EF68-D268-69DA-D24A532351F6}"/>
              </a:ext>
            </a:extLst>
          </p:cNvPr>
          <p:cNvSpPr/>
          <p:nvPr/>
        </p:nvSpPr>
        <p:spPr>
          <a:xfrm>
            <a:off x="6053468"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33" name="Oval 32">
            <a:extLst>
              <a:ext uri="{FF2B5EF4-FFF2-40B4-BE49-F238E27FC236}">
                <a16:creationId xmlns:a16="http://schemas.microsoft.com/office/drawing/2014/main" id="{EBAFE3F4-17FC-5360-434A-0D81E576BF2B}"/>
              </a:ext>
            </a:extLst>
          </p:cNvPr>
          <p:cNvSpPr/>
          <p:nvPr/>
        </p:nvSpPr>
        <p:spPr>
          <a:xfrm>
            <a:off x="8772820"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34" name="Graphic 33" descr="Blueprint outline">
            <a:extLst>
              <a:ext uri="{FF2B5EF4-FFF2-40B4-BE49-F238E27FC236}">
                <a16:creationId xmlns:a16="http://schemas.microsoft.com/office/drawing/2014/main" id="{1E4726D3-D94C-46B0-A6B8-77D391E4D4F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8901" y="1577092"/>
            <a:ext cx="432065" cy="432065"/>
          </a:xfrm>
          <a:prstGeom prst="rect">
            <a:avLst/>
          </a:prstGeom>
        </p:spPr>
      </p:pic>
      <p:pic>
        <p:nvPicPr>
          <p:cNvPr id="35" name="Graphic 34" descr="Clipboard Partially Checked outline">
            <a:extLst>
              <a:ext uri="{FF2B5EF4-FFF2-40B4-BE49-F238E27FC236}">
                <a16:creationId xmlns:a16="http://schemas.microsoft.com/office/drawing/2014/main" id="{5AA00791-8F4F-D2C4-AE1B-E7EA4A1020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7303" y="1535876"/>
            <a:ext cx="473281" cy="473281"/>
          </a:xfrm>
          <a:prstGeom prst="rect">
            <a:avLst/>
          </a:prstGeom>
        </p:spPr>
      </p:pic>
      <p:pic>
        <p:nvPicPr>
          <p:cNvPr id="36" name="Graphic 35" descr="Research outline">
            <a:extLst>
              <a:ext uri="{FF2B5EF4-FFF2-40B4-BE49-F238E27FC236}">
                <a16:creationId xmlns:a16="http://schemas.microsoft.com/office/drawing/2014/main" id="{87A7FD38-B24D-FFFA-0598-67F5407D88E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7705" y="1576035"/>
            <a:ext cx="432064" cy="432064"/>
          </a:xfrm>
          <a:prstGeom prst="rect">
            <a:avLst/>
          </a:prstGeom>
        </p:spPr>
      </p:pic>
      <p:pic>
        <p:nvPicPr>
          <p:cNvPr id="37" name="Graphic 36" descr="Lightbulb and pencil outline">
            <a:extLst>
              <a:ext uri="{FF2B5EF4-FFF2-40B4-BE49-F238E27FC236}">
                <a16:creationId xmlns:a16="http://schemas.microsoft.com/office/drawing/2014/main" id="{8E520E47-DAE8-F968-3EFE-AA7425B3893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8673" y="1587048"/>
            <a:ext cx="415003" cy="415003"/>
          </a:xfrm>
          <a:prstGeom prst="rect">
            <a:avLst/>
          </a:prstGeom>
        </p:spPr>
      </p:pic>
      <p:sp>
        <p:nvSpPr>
          <p:cNvPr id="38" name="Arrow: Pentagon 37">
            <a:extLst>
              <a:ext uri="{FF2B5EF4-FFF2-40B4-BE49-F238E27FC236}">
                <a16:creationId xmlns:a16="http://schemas.microsoft.com/office/drawing/2014/main" id="{25B5590A-C28F-193A-B54D-BFC3FFC5FB8D}"/>
              </a:ext>
            </a:extLst>
          </p:cNvPr>
          <p:cNvSpPr/>
          <p:nvPr/>
        </p:nvSpPr>
        <p:spPr>
          <a:xfrm>
            <a:off x="613320" y="6255279"/>
            <a:ext cx="11001349" cy="305881"/>
          </a:xfrm>
          <a:prstGeom prst="homePlate">
            <a:avLst>
              <a:gd name="adj" fmla="val 31705"/>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Dashboards</a:t>
            </a:r>
          </a:p>
        </p:txBody>
      </p:sp>
      <p:sp>
        <p:nvSpPr>
          <p:cNvPr id="39" name="Rectangle 38">
            <a:extLst>
              <a:ext uri="{FF2B5EF4-FFF2-40B4-BE49-F238E27FC236}">
                <a16:creationId xmlns:a16="http://schemas.microsoft.com/office/drawing/2014/main" id="{217277FB-8571-372A-A295-129B10F808EC}"/>
              </a:ext>
            </a:extLst>
          </p:cNvPr>
          <p:cNvSpPr/>
          <p:nvPr/>
        </p:nvSpPr>
        <p:spPr>
          <a:xfrm>
            <a:off x="613321" y="2881248"/>
            <a:ext cx="10960193" cy="332374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Arrow: Down 14">
            <a:extLst>
              <a:ext uri="{FF2B5EF4-FFF2-40B4-BE49-F238E27FC236}">
                <a16:creationId xmlns:a16="http://schemas.microsoft.com/office/drawing/2014/main" id="{D539B94E-E15E-4736-1A20-8046E34CE466}"/>
              </a:ext>
            </a:extLst>
          </p:cNvPr>
          <p:cNvSpPr/>
          <p:nvPr/>
        </p:nvSpPr>
        <p:spPr>
          <a:xfrm>
            <a:off x="10025282" y="2580325"/>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6" name="Picture 15">
            <a:extLst>
              <a:ext uri="{FF2B5EF4-FFF2-40B4-BE49-F238E27FC236}">
                <a16:creationId xmlns:a16="http://schemas.microsoft.com/office/drawing/2014/main" id="{6B6EA9E7-541D-AEE8-4E2D-8742CE4285F0}"/>
              </a:ext>
            </a:extLst>
          </p:cNvPr>
          <p:cNvPicPr>
            <a:picLocks noChangeAspect="1"/>
          </p:cNvPicPr>
          <p:nvPr/>
        </p:nvPicPr>
        <p:blipFill>
          <a:blip r:embed="rId13"/>
          <a:stretch>
            <a:fillRect/>
          </a:stretch>
        </p:blipFill>
        <p:spPr>
          <a:xfrm>
            <a:off x="8551637" y="4651715"/>
            <a:ext cx="2693527" cy="15156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C58A2B4C-A3E2-A6D8-ABAE-58FCC0D49E04}"/>
              </a:ext>
            </a:extLst>
          </p:cNvPr>
          <p:cNvPicPr>
            <a:picLocks noChangeAspect="1"/>
          </p:cNvPicPr>
          <p:nvPr/>
        </p:nvPicPr>
        <p:blipFill>
          <a:blip r:embed="rId14"/>
          <a:stretch>
            <a:fillRect/>
          </a:stretch>
        </p:blipFill>
        <p:spPr>
          <a:xfrm>
            <a:off x="902903" y="2970196"/>
            <a:ext cx="2694400" cy="15156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AA4CE53C-D056-0798-C979-9390B2015AE2}"/>
              </a:ext>
            </a:extLst>
          </p:cNvPr>
          <p:cNvPicPr>
            <a:picLocks noChangeAspect="1"/>
          </p:cNvPicPr>
          <p:nvPr/>
        </p:nvPicPr>
        <p:blipFill>
          <a:blip r:embed="rId15"/>
          <a:stretch>
            <a:fillRect/>
          </a:stretch>
        </p:blipFill>
        <p:spPr>
          <a:xfrm>
            <a:off x="8537901" y="2908936"/>
            <a:ext cx="2694400" cy="15156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1998AD8C-43CD-1223-A873-8026F8B3CDA7}"/>
              </a:ext>
            </a:extLst>
          </p:cNvPr>
          <p:cNvPicPr>
            <a:picLocks noChangeAspect="1"/>
          </p:cNvPicPr>
          <p:nvPr/>
        </p:nvPicPr>
        <p:blipFill>
          <a:blip r:embed="rId16"/>
          <a:stretch>
            <a:fillRect/>
          </a:stretch>
        </p:blipFill>
        <p:spPr>
          <a:xfrm>
            <a:off x="4727270" y="4619872"/>
            <a:ext cx="2694400" cy="15156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820DBD7C-B570-5CCA-DAF5-819C9042CDC3}"/>
              </a:ext>
            </a:extLst>
          </p:cNvPr>
          <p:cNvPicPr>
            <a:picLocks noChangeAspect="1"/>
          </p:cNvPicPr>
          <p:nvPr/>
        </p:nvPicPr>
        <p:blipFill>
          <a:blip r:embed="rId17"/>
          <a:stretch>
            <a:fillRect/>
          </a:stretch>
        </p:blipFill>
        <p:spPr>
          <a:xfrm>
            <a:off x="4720402" y="2908936"/>
            <a:ext cx="2694400" cy="15156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7B727DE4-6C8D-6D39-F155-A74BECE8583E}"/>
              </a:ext>
            </a:extLst>
          </p:cNvPr>
          <p:cNvPicPr>
            <a:picLocks noChangeAspect="1"/>
          </p:cNvPicPr>
          <p:nvPr/>
        </p:nvPicPr>
        <p:blipFill>
          <a:blip r:embed="rId18"/>
          <a:stretch>
            <a:fillRect/>
          </a:stretch>
        </p:blipFill>
        <p:spPr>
          <a:xfrm>
            <a:off x="902903" y="4598968"/>
            <a:ext cx="2694400" cy="15156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601817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FB00F-A971-A000-6C64-7B5610FFC4D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046567E-9519-2531-8AF7-DE18A8C21F27}"/>
              </a:ext>
            </a:extLst>
          </p:cNvPr>
          <p:cNvGraphicFramePr>
            <a:graphicFrameLocks noChangeAspect="1"/>
          </p:cNvGraphicFramePr>
          <p:nvPr>
            <p:custDataLst>
              <p:tags r:id="rId1"/>
            </p:custDataLst>
            <p:extLst>
              <p:ext uri="{D42A27DB-BD31-4B8C-83A1-F6EECF244321}">
                <p14:modId xmlns:p14="http://schemas.microsoft.com/office/powerpoint/2010/main" val="3810619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B046567E-9519-2531-8AF7-DE18A8C21F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366DEF4-008E-75F7-50D0-AF6FB75F475D}"/>
              </a:ext>
            </a:extLst>
          </p:cNvPr>
          <p:cNvSpPr>
            <a:spLocks noGrp="1"/>
          </p:cNvSpPr>
          <p:nvPr>
            <p:ph type="title"/>
          </p:nvPr>
        </p:nvSpPr>
        <p:spPr/>
        <p:txBody>
          <a:bodyPr vert="horz">
            <a:normAutofit/>
          </a:bodyPr>
          <a:lstStyle/>
          <a:p>
            <a:r>
              <a:rPr lang="en-US" dirty="0"/>
              <a:t>Transverse phase small preview</a:t>
            </a:r>
          </a:p>
        </p:txBody>
      </p:sp>
      <p:sp>
        <p:nvSpPr>
          <p:cNvPr id="3" name="Footer Placeholder 2">
            <a:extLst>
              <a:ext uri="{FF2B5EF4-FFF2-40B4-BE49-F238E27FC236}">
                <a16:creationId xmlns:a16="http://schemas.microsoft.com/office/drawing/2014/main" id="{305C555C-11A7-94E0-4899-BD07666E08CB}"/>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0F2F0EC8-90D4-A73B-B30C-3D6BF3F7249C}"/>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
        <p:nvSpPr>
          <p:cNvPr id="13" name="Chevron 17">
            <a:extLst>
              <a:ext uri="{FF2B5EF4-FFF2-40B4-BE49-F238E27FC236}">
                <a16:creationId xmlns:a16="http://schemas.microsoft.com/office/drawing/2014/main" id="{503E6AAA-9944-A999-5089-1861676660D4}"/>
              </a:ext>
            </a:extLst>
          </p:cNvPr>
          <p:cNvSpPr/>
          <p:nvPr/>
        </p:nvSpPr>
        <p:spPr bwMode="auto">
          <a:xfrm>
            <a:off x="6051554" y="2060473"/>
            <a:ext cx="2844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a:t>
            </a:r>
          </a:p>
        </p:txBody>
      </p:sp>
      <p:sp>
        <p:nvSpPr>
          <p:cNvPr id="23" name="Chevron 17">
            <a:extLst>
              <a:ext uri="{FF2B5EF4-FFF2-40B4-BE49-F238E27FC236}">
                <a16:creationId xmlns:a16="http://schemas.microsoft.com/office/drawing/2014/main" id="{C35ABA1E-E293-F8BC-EC79-8F6D70D93290}"/>
              </a:ext>
            </a:extLst>
          </p:cNvPr>
          <p:cNvSpPr/>
          <p:nvPr/>
        </p:nvSpPr>
        <p:spPr bwMode="auto">
          <a:xfrm>
            <a:off x="8770670" y="2060473"/>
            <a:ext cx="2844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Plan</a:t>
            </a:r>
          </a:p>
        </p:txBody>
      </p:sp>
      <p:sp>
        <p:nvSpPr>
          <p:cNvPr id="27" name="Chevron 17">
            <a:extLst>
              <a:ext uri="{FF2B5EF4-FFF2-40B4-BE49-F238E27FC236}">
                <a16:creationId xmlns:a16="http://schemas.microsoft.com/office/drawing/2014/main" id="{7CFC74E5-2AAC-67CC-0B42-2931603CE1FA}"/>
              </a:ext>
            </a:extLst>
          </p:cNvPr>
          <p:cNvSpPr/>
          <p:nvPr/>
        </p:nvSpPr>
        <p:spPr bwMode="auto">
          <a:xfrm>
            <a:off x="3130777" y="2060473"/>
            <a:ext cx="3042000" cy="499379"/>
          </a:xfrm>
          <a:prstGeom prst="chevron">
            <a:avLst>
              <a:gd name="adj" fmla="val 31818"/>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 Tools &amp; Frameworks to shape our Strategy</a:t>
            </a:r>
          </a:p>
        </p:txBody>
      </p:sp>
      <p:sp>
        <p:nvSpPr>
          <p:cNvPr id="29" name="Arrow: Pentagon 28">
            <a:extLst>
              <a:ext uri="{FF2B5EF4-FFF2-40B4-BE49-F238E27FC236}">
                <a16:creationId xmlns:a16="http://schemas.microsoft.com/office/drawing/2014/main" id="{A05A5FC6-78A8-8706-6E90-70F8948243B2}"/>
              </a:ext>
            </a:extLst>
          </p:cNvPr>
          <p:cNvSpPr/>
          <p:nvPr/>
        </p:nvSpPr>
        <p:spPr>
          <a:xfrm>
            <a:off x="613321" y="2060472"/>
            <a:ext cx="2640832" cy="499379"/>
          </a:xfrm>
          <a:prstGeom prst="homePlate">
            <a:avLst>
              <a:gd name="adj" fmla="val 31705"/>
            </a:avLst>
          </a:prstGeom>
          <a:solidFill>
            <a:schemeClr val="bg1">
              <a:lumMod val="7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Internal and External Analysis</a:t>
            </a:r>
          </a:p>
        </p:txBody>
      </p:sp>
      <p:sp>
        <p:nvSpPr>
          <p:cNvPr id="30" name="Oval 29">
            <a:extLst>
              <a:ext uri="{FF2B5EF4-FFF2-40B4-BE49-F238E27FC236}">
                <a16:creationId xmlns:a16="http://schemas.microsoft.com/office/drawing/2014/main" id="{9E538E89-D9AF-168A-FD06-C3D3308AE48E}"/>
              </a:ext>
            </a:extLst>
          </p:cNvPr>
          <p:cNvSpPr/>
          <p:nvPr/>
        </p:nvSpPr>
        <p:spPr>
          <a:xfrm>
            <a:off x="518943"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31" name="Oval 30">
            <a:extLst>
              <a:ext uri="{FF2B5EF4-FFF2-40B4-BE49-F238E27FC236}">
                <a16:creationId xmlns:a16="http://schemas.microsoft.com/office/drawing/2014/main" id="{ED8ADA24-E97F-20F9-E5CC-7D52D2F06520}"/>
              </a:ext>
            </a:extLst>
          </p:cNvPr>
          <p:cNvSpPr/>
          <p:nvPr/>
        </p:nvSpPr>
        <p:spPr>
          <a:xfrm>
            <a:off x="3122777"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32" name="Oval 31">
            <a:extLst>
              <a:ext uri="{FF2B5EF4-FFF2-40B4-BE49-F238E27FC236}">
                <a16:creationId xmlns:a16="http://schemas.microsoft.com/office/drawing/2014/main" id="{1F245023-F7F4-BC8B-3D7C-0569114969FB}"/>
              </a:ext>
            </a:extLst>
          </p:cNvPr>
          <p:cNvSpPr/>
          <p:nvPr/>
        </p:nvSpPr>
        <p:spPr>
          <a:xfrm>
            <a:off x="6053468"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33" name="Oval 32">
            <a:extLst>
              <a:ext uri="{FF2B5EF4-FFF2-40B4-BE49-F238E27FC236}">
                <a16:creationId xmlns:a16="http://schemas.microsoft.com/office/drawing/2014/main" id="{0582F012-36EE-4ECD-7141-FF2E68CD58EC}"/>
              </a:ext>
            </a:extLst>
          </p:cNvPr>
          <p:cNvSpPr/>
          <p:nvPr/>
        </p:nvSpPr>
        <p:spPr>
          <a:xfrm>
            <a:off x="8772820" y="1890970"/>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34" name="Graphic 33" descr="Blueprint outline">
            <a:extLst>
              <a:ext uri="{FF2B5EF4-FFF2-40B4-BE49-F238E27FC236}">
                <a16:creationId xmlns:a16="http://schemas.microsoft.com/office/drawing/2014/main" id="{85DFF9A3-32EA-785E-A2FD-C378119CA4C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8901" y="1577092"/>
            <a:ext cx="432065" cy="432065"/>
          </a:xfrm>
          <a:prstGeom prst="rect">
            <a:avLst/>
          </a:prstGeom>
        </p:spPr>
      </p:pic>
      <p:pic>
        <p:nvPicPr>
          <p:cNvPr id="35" name="Graphic 34" descr="Clipboard Partially Checked outline">
            <a:extLst>
              <a:ext uri="{FF2B5EF4-FFF2-40B4-BE49-F238E27FC236}">
                <a16:creationId xmlns:a16="http://schemas.microsoft.com/office/drawing/2014/main" id="{34D732D4-989A-F132-DE2B-46AC3CE308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7303" y="1535876"/>
            <a:ext cx="473281" cy="473281"/>
          </a:xfrm>
          <a:prstGeom prst="rect">
            <a:avLst/>
          </a:prstGeom>
        </p:spPr>
      </p:pic>
      <p:pic>
        <p:nvPicPr>
          <p:cNvPr id="36" name="Graphic 35" descr="Research outline">
            <a:extLst>
              <a:ext uri="{FF2B5EF4-FFF2-40B4-BE49-F238E27FC236}">
                <a16:creationId xmlns:a16="http://schemas.microsoft.com/office/drawing/2014/main" id="{BB2B994E-4018-E46A-AD1F-E772B44A167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7705" y="1576035"/>
            <a:ext cx="432064" cy="432064"/>
          </a:xfrm>
          <a:prstGeom prst="rect">
            <a:avLst/>
          </a:prstGeom>
        </p:spPr>
      </p:pic>
      <p:pic>
        <p:nvPicPr>
          <p:cNvPr id="37" name="Graphic 36" descr="Lightbulb and pencil outline">
            <a:extLst>
              <a:ext uri="{FF2B5EF4-FFF2-40B4-BE49-F238E27FC236}">
                <a16:creationId xmlns:a16="http://schemas.microsoft.com/office/drawing/2014/main" id="{CC11D082-C0A3-2794-AABC-8875E4EA61E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8673" y="1587048"/>
            <a:ext cx="415003" cy="415003"/>
          </a:xfrm>
          <a:prstGeom prst="rect">
            <a:avLst/>
          </a:prstGeom>
        </p:spPr>
      </p:pic>
      <p:sp>
        <p:nvSpPr>
          <p:cNvPr id="38" name="Arrow: Pentagon 37">
            <a:extLst>
              <a:ext uri="{FF2B5EF4-FFF2-40B4-BE49-F238E27FC236}">
                <a16:creationId xmlns:a16="http://schemas.microsoft.com/office/drawing/2014/main" id="{7B244183-A42A-E7A6-5BC0-A6C27F2EFC47}"/>
              </a:ext>
            </a:extLst>
          </p:cNvPr>
          <p:cNvSpPr/>
          <p:nvPr/>
        </p:nvSpPr>
        <p:spPr>
          <a:xfrm>
            <a:off x="613320" y="6255279"/>
            <a:ext cx="11001349" cy="305881"/>
          </a:xfrm>
          <a:prstGeom prst="homePlate">
            <a:avLst>
              <a:gd name="adj" fmla="val 31705"/>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Dashboards</a:t>
            </a:r>
          </a:p>
        </p:txBody>
      </p:sp>
      <p:sp>
        <p:nvSpPr>
          <p:cNvPr id="39" name="Rectangle 38">
            <a:extLst>
              <a:ext uri="{FF2B5EF4-FFF2-40B4-BE49-F238E27FC236}">
                <a16:creationId xmlns:a16="http://schemas.microsoft.com/office/drawing/2014/main" id="{DD39FF77-2C5F-EB4C-DDD9-7D86906CF1D4}"/>
              </a:ext>
            </a:extLst>
          </p:cNvPr>
          <p:cNvSpPr/>
          <p:nvPr/>
        </p:nvSpPr>
        <p:spPr>
          <a:xfrm>
            <a:off x="613321" y="2609394"/>
            <a:ext cx="10960193" cy="332374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Arrow: Down 9">
            <a:extLst>
              <a:ext uri="{FF2B5EF4-FFF2-40B4-BE49-F238E27FC236}">
                <a16:creationId xmlns:a16="http://schemas.microsoft.com/office/drawing/2014/main" id="{345694C3-E9E8-EEFA-A887-220DF16A8405}"/>
              </a:ext>
            </a:extLst>
          </p:cNvPr>
          <p:cNvSpPr/>
          <p:nvPr/>
        </p:nvSpPr>
        <p:spPr>
          <a:xfrm rot="10800000">
            <a:off x="5871045" y="5951773"/>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4" name="Picture 13">
            <a:extLst>
              <a:ext uri="{FF2B5EF4-FFF2-40B4-BE49-F238E27FC236}">
                <a16:creationId xmlns:a16="http://schemas.microsoft.com/office/drawing/2014/main" id="{89D7D5C2-A6CC-6C2A-0014-6D71D994DD93}"/>
              </a:ext>
            </a:extLst>
          </p:cNvPr>
          <p:cNvPicPr>
            <a:picLocks noChangeAspect="1"/>
          </p:cNvPicPr>
          <p:nvPr/>
        </p:nvPicPr>
        <p:blipFill>
          <a:blip r:embed="rId13"/>
          <a:stretch>
            <a:fillRect/>
          </a:stretch>
        </p:blipFill>
        <p:spPr>
          <a:xfrm>
            <a:off x="1149295" y="2709899"/>
            <a:ext cx="2296109" cy="3150034"/>
          </a:xfrm>
          <a:prstGeom prst="rect">
            <a:avLst/>
          </a:prstGeom>
          <a:effectLst>
            <a:outerShdw blurRad="63500" sx="102000" sy="102000" algn="ctr" rotWithShape="0">
              <a:prstClr val="black">
                <a:alpha val="40000"/>
              </a:prstClr>
            </a:outerShdw>
          </a:effectLst>
        </p:spPr>
      </p:pic>
      <p:sp>
        <p:nvSpPr>
          <p:cNvPr id="22" name="Rectangle 21">
            <a:extLst>
              <a:ext uri="{FF2B5EF4-FFF2-40B4-BE49-F238E27FC236}">
                <a16:creationId xmlns:a16="http://schemas.microsoft.com/office/drawing/2014/main" id="{79228238-E2F1-A5FB-B50B-BADF0C9F305F}"/>
              </a:ext>
            </a:extLst>
          </p:cNvPr>
          <p:cNvSpPr/>
          <p:nvPr/>
        </p:nvSpPr>
        <p:spPr>
          <a:xfrm>
            <a:off x="7250318" y="2709898"/>
            <a:ext cx="3829537" cy="315003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4" name="Picture 23">
            <a:extLst>
              <a:ext uri="{FF2B5EF4-FFF2-40B4-BE49-F238E27FC236}">
                <a16:creationId xmlns:a16="http://schemas.microsoft.com/office/drawing/2014/main" id="{3E6C6468-8FA2-8C1E-86CB-3E7A38EB6F3D}"/>
              </a:ext>
            </a:extLst>
          </p:cNvPr>
          <p:cNvPicPr>
            <a:picLocks noChangeAspect="1"/>
          </p:cNvPicPr>
          <p:nvPr/>
        </p:nvPicPr>
        <p:blipFill>
          <a:blip r:embed="rId14"/>
          <a:stretch>
            <a:fillRect/>
          </a:stretch>
        </p:blipFill>
        <p:spPr>
          <a:xfrm>
            <a:off x="7250318" y="2709898"/>
            <a:ext cx="3829537" cy="3150034"/>
          </a:xfrm>
          <a:prstGeom prst="rect">
            <a:avLst/>
          </a:prstGeom>
        </p:spPr>
      </p:pic>
      <p:pic>
        <p:nvPicPr>
          <p:cNvPr id="25" name="Picture 24">
            <a:extLst>
              <a:ext uri="{FF2B5EF4-FFF2-40B4-BE49-F238E27FC236}">
                <a16:creationId xmlns:a16="http://schemas.microsoft.com/office/drawing/2014/main" id="{123897DD-16E9-D2D1-8FBE-1F02A38A8B81}"/>
              </a:ext>
            </a:extLst>
          </p:cNvPr>
          <p:cNvPicPr>
            <a:picLocks noChangeAspect="1"/>
          </p:cNvPicPr>
          <p:nvPr/>
        </p:nvPicPr>
        <p:blipFill>
          <a:blip r:embed="rId15"/>
          <a:srcRect b="1554"/>
          <a:stretch/>
        </p:blipFill>
        <p:spPr>
          <a:xfrm>
            <a:off x="3988145" y="2709898"/>
            <a:ext cx="2716404" cy="1502844"/>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8407BA20-2E96-EDCA-E354-D2F981E3AF34}"/>
              </a:ext>
            </a:extLst>
          </p:cNvPr>
          <p:cNvPicPr>
            <a:picLocks noChangeAspect="1"/>
          </p:cNvPicPr>
          <p:nvPr/>
        </p:nvPicPr>
        <p:blipFill>
          <a:blip r:embed="rId16"/>
          <a:stretch>
            <a:fillRect/>
          </a:stretch>
        </p:blipFill>
        <p:spPr>
          <a:xfrm>
            <a:off x="3988145" y="4330010"/>
            <a:ext cx="2716404" cy="152797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391312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330952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In the next slides, you’ll see more content from the </a:t>
            </a:r>
            <a:r>
              <a:rPr lang="en-GB" dirty="0"/>
              <a:t>Corporate/Business Strategy and Strategic Planning Toolkit</a:t>
            </a:r>
            <a:endParaRPr lang="en-US" dirty="0"/>
          </a:p>
        </p:txBody>
      </p:sp>
      <p:sp>
        <p:nvSpPr>
          <p:cNvPr id="29" name="Footer Placeholder 28">
            <a:extLst>
              <a:ext uri="{FF2B5EF4-FFF2-40B4-BE49-F238E27FC236}">
                <a16:creationId xmlns:a16="http://schemas.microsoft.com/office/drawing/2014/main" id="{4984DB70-F19F-F8C3-105A-C65747DE4949}"/>
              </a:ext>
            </a:extLst>
          </p:cNvPr>
          <p:cNvSpPr>
            <a:spLocks noGrp="1"/>
          </p:cNvSpPr>
          <p:nvPr>
            <p:ph type="ftr" sz="quarter" idx="3"/>
          </p:nvPr>
        </p:nvSpPr>
        <p:spPr/>
        <p:txBody>
          <a:bodyPr/>
          <a:lstStyle/>
          <a:p>
            <a:r>
              <a:rPr lang="en-US"/>
              <a:t>Domont Consulting</a:t>
            </a:r>
            <a:endParaRPr lang="en-US" dirty="0"/>
          </a:p>
        </p:txBody>
      </p:sp>
      <p:sp>
        <p:nvSpPr>
          <p:cNvPr id="30" name="Slide Number Placeholder 29">
            <a:extLst>
              <a:ext uri="{FF2B5EF4-FFF2-40B4-BE49-F238E27FC236}">
                <a16:creationId xmlns:a16="http://schemas.microsoft.com/office/drawing/2014/main" id="{38D240A9-01FD-2C50-3142-23F0C097A5F1}"/>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
        <p:nvSpPr>
          <p:cNvPr id="3" name="Rectangle 2">
            <a:extLst>
              <a:ext uri="{FF2B5EF4-FFF2-40B4-BE49-F238E27FC236}">
                <a16:creationId xmlns:a16="http://schemas.microsoft.com/office/drawing/2014/main" id="{E04A85D9-FFF8-35F4-0B39-FDBBE28B25F2}"/>
              </a:ext>
            </a:extLst>
          </p:cNvPr>
          <p:cNvSpPr/>
          <p:nvPr/>
        </p:nvSpPr>
        <p:spPr>
          <a:xfrm>
            <a:off x="662944" y="2585353"/>
            <a:ext cx="2640832" cy="3306546"/>
          </a:xfrm>
          <a:prstGeom prst="rect">
            <a:avLst/>
          </a:prstGeom>
          <a:effectLst/>
        </p:spPr>
        <p:txBody>
          <a:bodyPr wrap="square" lIns="0">
            <a:spAutoFit/>
          </a:bodyPr>
          <a:lstStyle/>
          <a:p>
            <a:pPr marL="177800" indent="-177800">
              <a:spcBef>
                <a:spcPts val="200"/>
              </a:spcBef>
              <a:spcAft>
                <a:spcPts val="200"/>
              </a:spcAft>
              <a:buFont typeface="+mj-lt"/>
              <a:buAutoNum type="arabicPeriod"/>
              <a:defRPr/>
            </a:pPr>
            <a:r>
              <a:rPr lang="en-US" sz="1000" b="1" dirty="0"/>
              <a:t>Internal analysis</a:t>
            </a:r>
          </a:p>
          <a:p>
            <a:pPr marL="265113" lvl="1" indent="-82550">
              <a:spcBef>
                <a:spcPts val="100"/>
              </a:spcBef>
              <a:spcAft>
                <a:spcPts val="100"/>
              </a:spcAft>
              <a:buFont typeface="Arial" panose="020B0604020202020204" pitchFamily="34" charset="0"/>
              <a:buChar char="•"/>
              <a:defRPr/>
            </a:pPr>
            <a:r>
              <a:rPr lang="en-US" sz="980" dirty="0"/>
              <a:t>Financial analysis</a:t>
            </a:r>
          </a:p>
          <a:p>
            <a:pPr marL="265113" lvl="1" indent="-82550">
              <a:spcBef>
                <a:spcPts val="100"/>
              </a:spcBef>
              <a:spcAft>
                <a:spcPts val="100"/>
              </a:spcAft>
              <a:buFont typeface="Arial" panose="020B0604020202020204" pitchFamily="34" charset="0"/>
              <a:buChar char="•"/>
              <a:defRPr/>
            </a:pPr>
            <a:r>
              <a:rPr lang="en-US" sz="980" dirty="0"/>
              <a:t>HR analysis</a:t>
            </a:r>
          </a:p>
          <a:p>
            <a:pPr marL="265113" lvl="1" indent="-82550">
              <a:spcBef>
                <a:spcPts val="100"/>
              </a:spcBef>
              <a:spcAft>
                <a:spcPts val="100"/>
              </a:spcAft>
              <a:buFont typeface="Arial" panose="020B0604020202020204" pitchFamily="34" charset="0"/>
              <a:buChar char="•"/>
              <a:defRPr/>
            </a:pPr>
            <a:r>
              <a:rPr lang="en-US" sz="980" dirty="0"/>
              <a:t>Marketing analysis</a:t>
            </a:r>
          </a:p>
          <a:p>
            <a:pPr marL="265113" lvl="1" indent="-82550">
              <a:spcBef>
                <a:spcPts val="100"/>
              </a:spcBef>
              <a:spcAft>
                <a:spcPts val="100"/>
              </a:spcAft>
              <a:buFont typeface="Arial" panose="020B0604020202020204" pitchFamily="34" charset="0"/>
              <a:buChar char="•"/>
              <a:defRPr/>
            </a:pPr>
            <a:r>
              <a:rPr lang="en-US" sz="980" dirty="0"/>
              <a:t>Customers analysis</a:t>
            </a:r>
          </a:p>
          <a:p>
            <a:pPr marL="265113" lvl="1" indent="-82550">
              <a:spcBef>
                <a:spcPts val="100"/>
              </a:spcBef>
              <a:spcAft>
                <a:spcPts val="100"/>
              </a:spcAft>
              <a:buFont typeface="Arial" panose="020B0604020202020204" pitchFamily="34" charset="0"/>
              <a:buChar char="•"/>
              <a:defRPr/>
            </a:pPr>
            <a:r>
              <a:rPr lang="en-US" sz="980" dirty="0"/>
              <a:t>Suppliers analysis</a:t>
            </a:r>
          </a:p>
          <a:p>
            <a:pPr marL="177800" indent="-177800">
              <a:spcBef>
                <a:spcPts val="200"/>
              </a:spcBef>
              <a:spcAft>
                <a:spcPts val="200"/>
              </a:spcAft>
              <a:buFont typeface="+mj-lt"/>
              <a:buAutoNum type="arabicPeriod"/>
              <a:defRPr/>
            </a:pPr>
            <a:r>
              <a:rPr lang="en-US" sz="1000" b="1" dirty="0"/>
              <a:t>Market Analysis</a:t>
            </a:r>
          </a:p>
          <a:p>
            <a:pPr marL="265113" lvl="1" indent="-82550">
              <a:spcBef>
                <a:spcPts val="100"/>
              </a:spcBef>
              <a:spcAft>
                <a:spcPts val="100"/>
              </a:spcAft>
              <a:buFont typeface="Arial" panose="020B0604020202020204" pitchFamily="34" charset="0"/>
              <a:buChar char="•"/>
              <a:defRPr/>
            </a:pPr>
            <a:r>
              <a:rPr lang="en-US" sz="980" dirty="0"/>
              <a:t>Target market</a:t>
            </a:r>
          </a:p>
          <a:p>
            <a:pPr marL="265113" lvl="1" indent="-82550">
              <a:spcBef>
                <a:spcPts val="100"/>
              </a:spcBef>
              <a:spcAft>
                <a:spcPts val="100"/>
              </a:spcAft>
              <a:buFont typeface="Arial" panose="020B0604020202020204" pitchFamily="34" charset="0"/>
              <a:buChar char="•"/>
              <a:defRPr/>
            </a:pPr>
            <a:r>
              <a:rPr lang="en-US" sz="980" dirty="0"/>
              <a:t>Market sizing with TAM</a:t>
            </a:r>
          </a:p>
          <a:p>
            <a:pPr marL="265113" lvl="1" indent="-82550">
              <a:spcBef>
                <a:spcPts val="100"/>
              </a:spcBef>
              <a:spcAft>
                <a:spcPts val="100"/>
              </a:spcAft>
              <a:buFont typeface="Arial" panose="020B0604020202020204" pitchFamily="34" charset="0"/>
              <a:buChar char="•"/>
              <a:defRPr/>
            </a:pPr>
            <a:r>
              <a:rPr lang="en-US" sz="980" dirty="0"/>
              <a:t>Market attractiveness with Porter’s 5 Forces</a:t>
            </a:r>
          </a:p>
          <a:p>
            <a:pPr marL="265113" lvl="1" indent="-82550">
              <a:spcBef>
                <a:spcPts val="100"/>
              </a:spcBef>
              <a:spcAft>
                <a:spcPts val="100"/>
              </a:spcAft>
              <a:buFont typeface="Arial" panose="020B0604020202020204" pitchFamily="34" charset="0"/>
              <a:buChar char="•"/>
              <a:defRPr/>
            </a:pPr>
            <a:r>
              <a:rPr lang="en-US" sz="980" dirty="0"/>
              <a:t>Environment analysis with PESTLE</a:t>
            </a:r>
          </a:p>
          <a:p>
            <a:pPr marL="177800" indent="-177800">
              <a:spcBef>
                <a:spcPts val="200"/>
              </a:spcBef>
              <a:spcAft>
                <a:spcPts val="200"/>
              </a:spcAft>
              <a:buFont typeface="+mj-lt"/>
              <a:buAutoNum type="arabicPeriod"/>
              <a:defRPr/>
            </a:pPr>
            <a:r>
              <a:rPr lang="en-US" sz="1000" b="1" dirty="0"/>
              <a:t>Competitor Analysis</a:t>
            </a:r>
          </a:p>
          <a:p>
            <a:pPr marL="265113" lvl="1" indent="-82550">
              <a:spcBef>
                <a:spcPts val="100"/>
              </a:spcBef>
              <a:spcAft>
                <a:spcPts val="100"/>
              </a:spcAft>
              <a:buFont typeface="Arial" panose="020B0604020202020204" pitchFamily="34" charset="0"/>
              <a:buChar char="•"/>
              <a:defRPr/>
            </a:pPr>
            <a:r>
              <a:rPr lang="en-US" sz="980" dirty="0"/>
              <a:t>Competitor identification</a:t>
            </a:r>
          </a:p>
          <a:p>
            <a:pPr marL="265113" lvl="1" indent="-82550">
              <a:spcBef>
                <a:spcPts val="100"/>
              </a:spcBef>
              <a:spcAft>
                <a:spcPts val="100"/>
              </a:spcAft>
              <a:buFont typeface="Arial" panose="020B0604020202020204" pitchFamily="34" charset="0"/>
              <a:buChar char="•"/>
              <a:defRPr/>
            </a:pPr>
            <a:r>
              <a:rPr lang="en-US" sz="980" dirty="0"/>
              <a:t>Benchmarking</a:t>
            </a:r>
          </a:p>
          <a:p>
            <a:pPr marL="265113" lvl="1" indent="-82550">
              <a:spcBef>
                <a:spcPts val="100"/>
              </a:spcBef>
              <a:spcAft>
                <a:spcPts val="100"/>
              </a:spcAft>
              <a:buFont typeface="Arial" panose="020B0604020202020204" pitchFamily="34" charset="0"/>
              <a:buChar char="•"/>
              <a:defRPr/>
            </a:pPr>
            <a:r>
              <a:rPr lang="en-US" sz="980" dirty="0"/>
              <a:t>Strategic group mapping</a:t>
            </a:r>
          </a:p>
          <a:p>
            <a:pPr marL="265113" lvl="1" indent="-82550">
              <a:spcBef>
                <a:spcPts val="100"/>
              </a:spcBef>
              <a:spcAft>
                <a:spcPts val="100"/>
              </a:spcAft>
              <a:buFont typeface="Arial" panose="020B0604020202020204" pitchFamily="34" charset="0"/>
              <a:buChar char="•"/>
              <a:defRPr/>
            </a:pPr>
            <a:r>
              <a:rPr lang="en-US" sz="980" dirty="0"/>
              <a:t>Competitor profiling</a:t>
            </a:r>
          </a:p>
          <a:p>
            <a:pPr marL="177800" indent="-177800">
              <a:spcBef>
                <a:spcPts val="200"/>
              </a:spcBef>
              <a:spcAft>
                <a:spcPts val="200"/>
              </a:spcAft>
              <a:buFont typeface="+mj-lt"/>
              <a:buAutoNum type="arabicPeriod"/>
              <a:defRPr/>
            </a:pPr>
            <a:r>
              <a:rPr lang="en-US" sz="1000" b="1" dirty="0"/>
              <a:t>SWOT summary</a:t>
            </a:r>
            <a:endParaRPr lang="en-US" sz="1000" dirty="0"/>
          </a:p>
        </p:txBody>
      </p:sp>
      <p:sp>
        <p:nvSpPr>
          <p:cNvPr id="10" name="Rectangle 9">
            <a:extLst>
              <a:ext uri="{FF2B5EF4-FFF2-40B4-BE49-F238E27FC236}">
                <a16:creationId xmlns:a16="http://schemas.microsoft.com/office/drawing/2014/main" id="{8BE20FA5-235B-1EF9-719B-B2184F4BB1AD}"/>
              </a:ext>
            </a:extLst>
          </p:cNvPr>
          <p:cNvSpPr/>
          <p:nvPr/>
        </p:nvSpPr>
        <p:spPr>
          <a:xfrm>
            <a:off x="6101239" y="2585353"/>
            <a:ext cx="2669431" cy="2939266"/>
          </a:xfrm>
          <a:prstGeom prst="rect">
            <a:avLst/>
          </a:prstGeom>
          <a:effectLst/>
        </p:spPr>
        <p:txBody>
          <a:bodyPr wrap="square" lIns="0">
            <a:spAutoFit/>
          </a:bodyPr>
          <a:lstStyle/>
          <a:p>
            <a:pPr marL="177800" indent="-177800">
              <a:spcBef>
                <a:spcPts val="300"/>
              </a:spcBef>
              <a:spcAft>
                <a:spcPts val="300"/>
              </a:spcAft>
              <a:buFont typeface="+mj-lt"/>
              <a:buAutoNum type="arabicPeriod"/>
              <a:defRPr/>
            </a:pPr>
            <a:r>
              <a:rPr lang="en-US" sz="1000" b="1" dirty="0"/>
              <a:t>Business model</a:t>
            </a:r>
          </a:p>
          <a:p>
            <a:pPr marL="177800" indent="-177800">
              <a:spcBef>
                <a:spcPts val="300"/>
              </a:spcBef>
              <a:spcAft>
                <a:spcPts val="300"/>
              </a:spcAft>
              <a:buFont typeface="+mj-lt"/>
              <a:buAutoNum type="arabicPeriod"/>
              <a:defRPr/>
            </a:pPr>
            <a:r>
              <a:rPr lang="en-US" sz="1000" b="1" dirty="0"/>
              <a:t>Mission, vision and values</a:t>
            </a:r>
          </a:p>
          <a:p>
            <a:pPr marL="177800" indent="-177800">
              <a:spcBef>
                <a:spcPts val="300"/>
              </a:spcBef>
              <a:spcAft>
                <a:spcPts val="300"/>
              </a:spcAft>
              <a:buFont typeface="+mj-lt"/>
              <a:buAutoNum type="arabicPeriod"/>
              <a:defRPr/>
            </a:pPr>
            <a:r>
              <a:rPr lang="en-US" sz="1000" b="1" dirty="0"/>
              <a:t>Strategy map </a:t>
            </a:r>
            <a:r>
              <a:rPr lang="en-US" sz="1000" dirty="0"/>
              <a:t>including the strategic objectives to reach our vision</a:t>
            </a:r>
          </a:p>
          <a:p>
            <a:pPr marL="177800" indent="-177800">
              <a:spcBef>
                <a:spcPts val="300"/>
              </a:spcBef>
              <a:spcAft>
                <a:spcPts val="300"/>
              </a:spcAft>
              <a:buFont typeface="+mj-lt"/>
              <a:buAutoNum type="arabicPeriod"/>
              <a:defRPr/>
            </a:pPr>
            <a:r>
              <a:rPr lang="en-US" sz="1000" b="1" dirty="0"/>
              <a:t>Balanced scorecard </a:t>
            </a:r>
            <a:r>
              <a:rPr lang="en-US" sz="1000" dirty="0"/>
              <a:t>including the key performance indicators linked to the strategic objectives</a:t>
            </a:r>
          </a:p>
          <a:p>
            <a:pPr marL="177800" indent="-177800">
              <a:spcBef>
                <a:spcPts val="300"/>
              </a:spcBef>
              <a:spcAft>
                <a:spcPts val="300"/>
              </a:spcAft>
              <a:buFont typeface="+mj-lt"/>
              <a:buAutoNum type="arabicPeriod"/>
              <a:defRPr/>
            </a:pPr>
            <a:r>
              <a:rPr lang="en-US" sz="1000" b="1" dirty="0"/>
              <a:t>Strategic pillars </a:t>
            </a:r>
            <a:r>
              <a:rPr lang="en-US" sz="1000" dirty="0"/>
              <a:t>to reach our strategic objectives</a:t>
            </a:r>
          </a:p>
          <a:p>
            <a:pPr marL="177800" indent="-177800">
              <a:spcBef>
                <a:spcPts val="300"/>
              </a:spcBef>
              <a:spcAft>
                <a:spcPts val="300"/>
              </a:spcAft>
              <a:buFont typeface="+mj-lt"/>
              <a:buAutoNum type="arabicPeriod"/>
              <a:defRPr/>
            </a:pPr>
            <a:r>
              <a:rPr lang="en-US" sz="1000" b="1" dirty="0"/>
              <a:t>Potential strategic initiatives </a:t>
            </a:r>
            <a:r>
              <a:rPr lang="en-US" sz="1000" dirty="0"/>
              <a:t>in each strategic pillar</a:t>
            </a:r>
          </a:p>
          <a:p>
            <a:pPr marL="177800" indent="-177800">
              <a:spcBef>
                <a:spcPts val="300"/>
              </a:spcBef>
              <a:spcAft>
                <a:spcPts val="300"/>
              </a:spcAft>
              <a:buFont typeface="+mj-lt"/>
              <a:buAutoNum type="arabicPeriod"/>
              <a:defRPr/>
            </a:pPr>
            <a:r>
              <a:rPr lang="en-US" sz="1000" b="1" dirty="0"/>
              <a:t>Business cases and financial models </a:t>
            </a:r>
            <a:r>
              <a:rPr lang="en-US" sz="1000" dirty="0"/>
              <a:t>to prioritize our list of potential strategic initiatives</a:t>
            </a:r>
          </a:p>
          <a:p>
            <a:pPr marL="177800" indent="-177800">
              <a:spcBef>
                <a:spcPts val="300"/>
              </a:spcBef>
              <a:spcAft>
                <a:spcPts val="300"/>
              </a:spcAft>
              <a:buFont typeface="+mj-lt"/>
              <a:buAutoNum type="arabicPeriod"/>
              <a:defRPr/>
            </a:pPr>
            <a:r>
              <a:rPr lang="en-US" sz="1000" b="1" dirty="0"/>
              <a:t>Project prioritization</a:t>
            </a:r>
          </a:p>
        </p:txBody>
      </p:sp>
      <p:sp>
        <p:nvSpPr>
          <p:cNvPr id="11" name="Chevron 17">
            <a:extLst>
              <a:ext uri="{FF2B5EF4-FFF2-40B4-BE49-F238E27FC236}">
                <a16:creationId xmlns:a16="http://schemas.microsoft.com/office/drawing/2014/main" id="{95C1D6B5-E127-B539-1169-AD333895AE66}"/>
              </a:ext>
            </a:extLst>
          </p:cNvPr>
          <p:cNvSpPr/>
          <p:nvPr/>
        </p:nvSpPr>
        <p:spPr bwMode="auto">
          <a:xfrm>
            <a:off x="6051554" y="2060473"/>
            <a:ext cx="2844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a:t>
            </a:r>
          </a:p>
        </p:txBody>
      </p:sp>
      <p:sp>
        <p:nvSpPr>
          <p:cNvPr id="12" name="Rectangle 11">
            <a:extLst>
              <a:ext uri="{FF2B5EF4-FFF2-40B4-BE49-F238E27FC236}">
                <a16:creationId xmlns:a16="http://schemas.microsoft.com/office/drawing/2014/main" id="{CF548B69-6922-BDCA-8916-1528113875D3}"/>
              </a:ext>
            </a:extLst>
          </p:cNvPr>
          <p:cNvSpPr/>
          <p:nvPr/>
        </p:nvSpPr>
        <p:spPr>
          <a:xfrm>
            <a:off x="8862825" y="2585353"/>
            <a:ext cx="2694768" cy="2555571"/>
          </a:xfrm>
          <a:prstGeom prst="rect">
            <a:avLst/>
          </a:prstGeom>
          <a:effectLst/>
        </p:spPr>
        <p:txBody>
          <a:bodyPr wrap="square" lIns="0">
            <a:spAutoFit/>
          </a:bodyPr>
          <a:lstStyle/>
          <a:p>
            <a:pPr marL="177800" indent="-177800">
              <a:spcBef>
                <a:spcPts val="300"/>
              </a:spcBef>
              <a:spcAft>
                <a:spcPts val="300"/>
              </a:spcAft>
              <a:buFont typeface="+mj-lt"/>
              <a:buAutoNum type="arabicPeriod"/>
              <a:defRPr/>
            </a:pPr>
            <a:r>
              <a:rPr lang="en-US" sz="1000" b="1" dirty="0"/>
              <a:t>Guiding principles</a:t>
            </a:r>
          </a:p>
          <a:p>
            <a:pPr marL="177800" indent="-177800">
              <a:spcBef>
                <a:spcPts val="300"/>
              </a:spcBef>
              <a:spcAft>
                <a:spcPts val="300"/>
              </a:spcAft>
              <a:buFont typeface="+mj-lt"/>
              <a:buAutoNum type="arabicPeriod"/>
              <a:defRPr/>
            </a:pPr>
            <a:r>
              <a:rPr lang="en-US" sz="1000" b="1" dirty="0"/>
              <a:t>Strategic plan formulation</a:t>
            </a:r>
          </a:p>
          <a:p>
            <a:pPr marL="265113" lvl="1" indent="-82550">
              <a:spcBef>
                <a:spcPts val="100"/>
              </a:spcBef>
              <a:spcAft>
                <a:spcPts val="100"/>
              </a:spcAft>
              <a:buFont typeface="Arial" panose="020B0604020202020204" pitchFamily="34" charset="0"/>
              <a:buChar char="•"/>
              <a:defRPr/>
            </a:pPr>
            <a:r>
              <a:rPr lang="en-US" sz="980" dirty="0"/>
              <a:t>High-level strategic plan with the three horizons of growth </a:t>
            </a:r>
          </a:p>
          <a:p>
            <a:pPr marL="265113" lvl="1" indent="-82550">
              <a:spcBef>
                <a:spcPts val="100"/>
              </a:spcBef>
              <a:spcAft>
                <a:spcPts val="100"/>
              </a:spcAft>
              <a:buFont typeface="Arial" panose="020B0604020202020204" pitchFamily="34" charset="0"/>
              <a:buChar char="•"/>
              <a:defRPr/>
            </a:pPr>
            <a:r>
              <a:rPr lang="en-US" sz="980" dirty="0"/>
              <a:t>Detailed strategic plan</a:t>
            </a:r>
          </a:p>
          <a:p>
            <a:pPr marL="177800" indent="-177800">
              <a:spcBef>
                <a:spcPts val="300"/>
              </a:spcBef>
              <a:spcAft>
                <a:spcPts val="300"/>
              </a:spcAft>
              <a:buFont typeface="+mj-lt"/>
              <a:buAutoNum type="arabicPeriod"/>
              <a:defRPr/>
            </a:pPr>
            <a:r>
              <a:rPr lang="en-US" sz="1000" b="1" dirty="0"/>
              <a:t>Strategic plan implementation</a:t>
            </a:r>
          </a:p>
          <a:p>
            <a:pPr marL="265113" lvl="1" indent="-82550">
              <a:spcBef>
                <a:spcPts val="100"/>
              </a:spcBef>
              <a:spcAft>
                <a:spcPts val="100"/>
              </a:spcAft>
              <a:buFont typeface="Arial" panose="020B0604020202020204" pitchFamily="34" charset="0"/>
              <a:buChar char="•"/>
              <a:defRPr/>
            </a:pPr>
            <a:r>
              <a:rPr lang="en-US" sz="980" dirty="0"/>
              <a:t>Governance</a:t>
            </a:r>
          </a:p>
          <a:p>
            <a:pPr marL="265113" lvl="1" indent="-82550">
              <a:spcBef>
                <a:spcPts val="100"/>
              </a:spcBef>
              <a:spcAft>
                <a:spcPts val="100"/>
              </a:spcAft>
              <a:buFont typeface="Arial" panose="020B0604020202020204" pitchFamily="34" charset="0"/>
              <a:buChar char="•"/>
              <a:defRPr/>
            </a:pPr>
            <a:r>
              <a:rPr lang="en-US" sz="980" dirty="0"/>
              <a:t>Strategic objectives dashboard</a:t>
            </a:r>
          </a:p>
          <a:p>
            <a:pPr marL="265113" lvl="1" indent="-82550">
              <a:spcBef>
                <a:spcPts val="100"/>
              </a:spcBef>
              <a:spcAft>
                <a:spcPts val="100"/>
              </a:spcAft>
              <a:buFont typeface="Arial" panose="020B0604020202020204" pitchFamily="34" charset="0"/>
              <a:buChar char="•"/>
              <a:defRPr/>
            </a:pPr>
            <a:r>
              <a:rPr lang="en-US" sz="980" dirty="0"/>
              <a:t>Strategic pillars dashboard</a:t>
            </a:r>
          </a:p>
          <a:p>
            <a:pPr marL="265113" lvl="1" indent="-82550">
              <a:spcBef>
                <a:spcPts val="100"/>
              </a:spcBef>
              <a:spcAft>
                <a:spcPts val="100"/>
              </a:spcAft>
              <a:buFont typeface="Arial" panose="020B0604020202020204" pitchFamily="34" charset="0"/>
              <a:buChar char="•"/>
              <a:defRPr/>
            </a:pPr>
            <a:r>
              <a:rPr lang="en-US" sz="980" dirty="0"/>
              <a:t>Strategic initiatives dashboard</a:t>
            </a:r>
          </a:p>
          <a:p>
            <a:pPr marL="265113" lvl="1" indent="-82550">
              <a:spcBef>
                <a:spcPts val="100"/>
              </a:spcBef>
              <a:spcAft>
                <a:spcPts val="100"/>
              </a:spcAft>
              <a:buFont typeface="Arial" panose="020B0604020202020204" pitchFamily="34" charset="0"/>
              <a:buChar char="•"/>
              <a:defRPr/>
            </a:pPr>
            <a:r>
              <a:rPr lang="en-US" sz="980" dirty="0"/>
              <a:t>Objectives and key results (OKR)</a:t>
            </a:r>
          </a:p>
          <a:p>
            <a:pPr marL="177800" indent="-177800">
              <a:spcBef>
                <a:spcPts val="300"/>
              </a:spcBef>
              <a:spcAft>
                <a:spcPts val="300"/>
              </a:spcAft>
              <a:buFont typeface="+mj-lt"/>
              <a:buAutoNum type="arabicPeriod"/>
              <a:defRPr/>
            </a:pPr>
            <a:r>
              <a:rPr lang="en-US" sz="1000" b="1" dirty="0"/>
              <a:t>Evaluation and lessons learnt</a:t>
            </a:r>
          </a:p>
          <a:p>
            <a:pPr marL="228600" indent="-228600">
              <a:spcBef>
                <a:spcPts val="300"/>
              </a:spcBef>
              <a:spcAft>
                <a:spcPts val="300"/>
              </a:spcAft>
              <a:buFont typeface="+mj-lt"/>
              <a:buAutoNum type="arabicPeriod"/>
              <a:defRPr/>
            </a:pPr>
            <a:endParaRPr lang="en-US" sz="1000" b="1" dirty="0"/>
          </a:p>
        </p:txBody>
      </p:sp>
      <p:sp>
        <p:nvSpPr>
          <p:cNvPr id="13" name="Chevron 17">
            <a:extLst>
              <a:ext uri="{FF2B5EF4-FFF2-40B4-BE49-F238E27FC236}">
                <a16:creationId xmlns:a16="http://schemas.microsoft.com/office/drawing/2014/main" id="{A5A6B3D0-F3F8-8E3E-B38D-54E9440F64DE}"/>
              </a:ext>
            </a:extLst>
          </p:cNvPr>
          <p:cNvSpPr/>
          <p:nvPr/>
        </p:nvSpPr>
        <p:spPr bwMode="auto">
          <a:xfrm>
            <a:off x="8770670" y="2060473"/>
            <a:ext cx="2844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Plan</a:t>
            </a:r>
          </a:p>
        </p:txBody>
      </p:sp>
      <p:sp>
        <p:nvSpPr>
          <p:cNvPr id="14" name="Chevron 17">
            <a:extLst>
              <a:ext uri="{FF2B5EF4-FFF2-40B4-BE49-F238E27FC236}">
                <a16:creationId xmlns:a16="http://schemas.microsoft.com/office/drawing/2014/main" id="{9492BA46-5F95-9BE4-A71D-1992B01EA139}"/>
              </a:ext>
            </a:extLst>
          </p:cNvPr>
          <p:cNvSpPr/>
          <p:nvPr/>
        </p:nvSpPr>
        <p:spPr bwMode="auto">
          <a:xfrm>
            <a:off x="3130777" y="2060473"/>
            <a:ext cx="3042000" cy="499379"/>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Strategy Tools &amp; Frameworks to shape our Strategy</a:t>
            </a:r>
          </a:p>
        </p:txBody>
      </p:sp>
      <p:sp>
        <p:nvSpPr>
          <p:cNvPr id="15" name="Arrow: Pentagon 14">
            <a:extLst>
              <a:ext uri="{FF2B5EF4-FFF2-40B4-BE49-F238E27FC236}">
                <a16:creationId xmlns:a16="http://schemas.microsoft.com/office/drawing/2014/main" id="{264DB7E4-1530-6E1E-5D5F-BE2CD372538D}"/>
              </a:ext>
            </a:extLst>
          </p:cNvPr>
          <p:cNvSpPr/>
          <p:nvPr/>
        </p:nvSpPr>
        <p:spPr>
          <a:xfrm>
            <a:off x="613321" y="2060472"/>
            <a:ext cx="2640832" cy="499379"/>
          </a:xfrm>
          <a:prstGeom prst="homePlate">
            <a:avLst>
              <a:gd name="adj" fmla="val 31705"/>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Internal and External Analysis</a:t>
            </a:r>
          </a:p>
        </p:txBody>
      </p:sp>
      <p:sp>
        <p:nvSpPr>
          <p:cNvPr id="16" name="Oval 15">
            <a:extLst>
              <a:ext uri="{FF2B5EF4-FFF2-40B4-BE49-F238E27FC236}">
                <a16:creationId xmlns:a16="http://schemas.microsoft.com/office/drawing/2014/main" id="{7C6A9DA5-47A4-2D8E-0735-DD135BDDA703}"/>
              </a:ext>
            </a:extLst>
          </p:cNvPr>
          <p:cNvSpPr/>
          <p:nvPr/>
        </p:nvSpPr>
        <p:spPr>
          <a:xfrm>
            <a:off x="518943"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7" name="Oval 16">
            <a:extLst>
              <a:ext uri="{FF2B5EF4-FFF2-40B4-BE49-F238E27FC236}">
                <a16:creationId xmlns:a16="http://schemas.microsoft.com/office/drawing/2014/main" id="{3944CBE5-C2D2-92B7-6556-95306C0723E7}"/>
              </a:ext>
            </a:extLst>
          </p:cNvPr>
          <p:cNvSpPr/>
          <p:nvPr/>
        </p:nvSpPr>
        <p:spPr>
          <a:xfrm>
            <a:off x="3122777"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8" name="Oval 17">
            <a:extLst>
              <a:ext uri="{FF2B5EF4-FFF2-40B4-BE49-F238E27FC236}">
                <a16:creationId xmlns:a16="http://schemas.microsoft.com/office/drawing/2014/main" id="{12230145-8743-F49F-E685-D33DEBB49972}"/>
              </a:ext>
            </a:extLst>
          </p:cNvPr>
          <p:cNvSpPr/>
          <p:nvPr/>
        </p:nvSpPr>
        <p:spPr>
          <a:xfrm>
            <a:off x="6053468"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19" name="Oval 18">
            <a:extLst>
              <a:ext uri="{FF2B5EF4-FFF2-40B4-BE49-F238E27FC236}">
                <a16:creationId xmlns:a16="http://schemas.microsoft.com/office/drawing/2014/main" id="{312C74A2-6849-8080-7995-D973169193DB}"/>
              </a:ext>
            </a:extLst>
          </p:cNvPr>
          <p:cNvSpPr/>
          <p:nvPr/>
        </p:nvSpPr>
        <p:spPr>
          <a:xfrm>
            <a:off x="8772820" y="1890970"/>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20" name="Graphic 19" descr="Blueprint outline">
            <a:extLst>
              <a:ext uri="{FF2B5EF4-FFF2-40B4-BE49-F238E27FC236}">
                <a16:creationId xmlns:a16="http://schemas.microsoft.com/office/drawing/2014/main" id="{794B31A9-7C8B-1380-F00D-BA6CDC7442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8901" y="1577092"/>
            <a:ext cx="432065" cy="432065"/>
          </a:xfrm>
          <a:prstGeom prst="rect">
            <a:avLst/>
          </a:prstGeom>
        </p:spPr>
      </p:pic>
      <p:pic>
        <p:nvPicPr>
          <p:cNvPr id="21" name="Graphic 20" descr="Clipboard Partially Checked outline">
            <a:extLst>
              <a:ext uri="{FF2B5EF4-FFF2-40B4-BE49-F238E27FC236}">
                <a16:creationId xmlns:a16="http://schemas.microsoft.com/office/drawing/2014/main" id="{69560D2D-A233-417B-806B-573C266F6B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7303" y="1535876"/>
            <a:ext cx="473281" cy="473281"/>
          </a:xfrm>
          <a:prstGeom prst="rect">
            <a:avLst/>
          </a:prstGeom>
        </p:spPr>
      </p:pic>
      <p:pic>
        <p:nvPicPr>
          <p:cNvPr id="22" name="Graphic 21" descr="Research outline">
            <a:extLst>
              <a:ext uri="{FF2B5EF4-FFF2-40B4-BE49-F238E27FC236}">
                <a16:creationId xmlns:a16="http://schemas.microsoft.com/office/drawing/2014/main" id="{BDFC8145-F005-0661-9A94-3E1372C0C74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7705" y="1576035"/>
            <a:ext cx="432064" cy="432064"/>
          </a:xfrm>
          <a:prstGeom prst="rect">
            <a:avLst/>
          </a:prstGeom>
        </p:spPr>
      </p:pic>
      <p:cxnSp>
        <p:nvCxnSpPr>
          <p:cNvPr id="24" name="Straight Connector 23">
            <a:extLst>
              <a:ext uri="{FF2B5EF4-FFF2-40B4-BE49-F238E27FC236}">
                <a16:creationId xmlns:a16="http://schemas.microsoft.com/office/drawing/2014/main" id="{59B92328-50FD-8E1D-247F-1B050D5D06D6}"/>
              </a:ext>
            </a:extLst>
          </p:cNvPr>
          <p:cNvCxnSpPr/>
          <p:nvPr/>
        </p:nvCxnSpPr>
        <p:spPr>
          <a:xfrm>
            <a:off x="3106063" y="2593820"/>
            <a:ext cx="0" cy="3528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485F4BD-1776-0DC7-0C50-1BCD5E26C462}"/>
              </a:ext>
            </a:extLst>
          </p:cNvPr>
          <p:cNvCxnSpPr/>
          <p:nvPr/>
        </p:nvCxnSpPr>
        <p:spPr>
          <a:xfrm>
            <a:off x="5998607" y="2593820"/>
            <a:ext cx="0" cy="3528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11B6D7A-4CC9-9DE0-0BD5-B979118DD0E4}"/>
              </a:ext>
            </a:extLst>
          </p:cNvPr>
          <p:cNvCxnSpPr/>
          <p:nvPr/>
        </p:nvCxnSpPr>
        <p:spPr>
          <a:xfrm>
            <a:off x="8749477" y="2593820"/>
            <a:ext cx="0" cy="3528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27" name="Graphic 26" descr="Lightbulb and pencil outline">
            <a:extLst>
              <a:ext uri="{FF2B5EF4-FFF2-40B4-BE49-F238E27FC236}">
                <a16:creationId xmlns:a16="http://schemas.microsoft.com/office/drawing/2014/main" id="{03CE514F-894D-4243-DFBF-9A0FEEFFD2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8673" y="1587048"/>
            <a:ext cx="415003" cy="415003"/>
          </a:xfrm>
          <a:prstGeom prst="rect">
            <a:avLst/>
          </a:prstGeom>
        </p:spPr>
      </p:pic>
      <p:sp>
        <p:nvSpPr>
          <p:cNvPr id="28" name="Rectangle 27">
            <a:extLst>
              <a:ext uri="{FF2B5EF4-FFF2-40B4-BE49-F238E27FC236}">
                <a16:creationId xmlns:a16="http://schemas.microsoft.com/office/drawing/2014/main" id="{C05E064E-1DB8-7154-BCFF-BE5E7326FAAF}"/>
              </a:ext>
            </a:extLst>
          </p:cNvPr>
          <p:cNvSpPr/>
          <p:nvPr/>
        </p:nvSpPr>
        <p:spPr>
          <a:xfrm>
            <a:off x="3167848" y="2553454"/>
            <a:ext cx="2937711" cy="3535635"/>
          </a:xfrm>
          <a:prstGeom prst="rect">
            <a:avLst/>
          </a:prstGeom>
          <a:noFill/>
          <a:effectLst/>
        </p:spPr>
        <p:txBody>
          <a:bodyPr wrap="square" lIns="0">
            <a:noAutofit/>
          </a:bodyPr>
          <a:lstStyle/>
          <a:p>
            <a:pPr marL="177800" indent="-177800">
              <a:spcBef>
                <a:spcPts val="100"/>
              </a:spcBef>
              <a:spcAft>
                <a:spcPts val="100"/>
              </a:spcAft>
              <a:buFont typeface="+mj-lt"/>
              <a:buAutoNum type="arabicPeriod"/>
              <a:defRPr/>
            </a:pPr>
            <a:r>
              <a:rPr lang="en-US" sz="980" b="1" dirty="0"/>
              <a:t>Frameworks to answer strategic questions</a:t>
            </a:r>
          </a:p>
          <a:p>
            <a:pPr marL="265113" lvl="1" indent="-82550">
              <a:spcBef>
                <a:spcPts val="100"/>
              </a:spcBef>
              <a:spcAft>
                <a:spcPts val="100"/>
              </a:spcAft>
              <a:buFont typeface="Arial" panose="020B0604020202020204" pitchFamily="34" charset="0"/>
              <a:buChar char="•"/>
              <a:defRPr/>
            </a:pPr>
            <a:r>
              <a:rPr lang="en-US" sz="980" dirty="0"/>
              <a:t>What caused the profit to decrease?</a:t>
            </a:r>
          </a:p>
          <a:p>
            <a:pPr marL="265113" lvl="1" indent="-82550">
              <a:spcBef>
                <a:spcPts val="100"/>
              </a:spcBef>
              <a:spcAft>
                <a:spcPts val="100"/>
              </a:spcAft>
              <a:buFont typeface="Arial" panose="020B0604020202020204" pitchFamily="34" charset="0"/>
              <a:buChar char="•"/>
              <a:defRPr/>
            </a:pPr>
            <a:r>
              <a:rPr lang="en-US" sz="980" dirty="0"/>
              <a:t>Should we enter a new market?</a:t>
            </a:r>
          </a:p>
          <a:p>
            <a:pPr marL="265113" lvl="1" indent="-82550">
              <a:spcBef>
                <a:spcPts val="100"/>
              </a:spcBef>
              <a:spcAft>
                <a:spcPts val="100"/>
              </a:spcAft>
              <a:buFont typeface="Arial" panose="020B0604020202020204" pitchFamily="34" charset="0"/>
              <a:buChar char="•"/>
              <a:defRPr/>
            </a:pPr>
            <a:r>
              <a:rPr lang="en-US" sz="980" dirty="0"/>
              <a:t>Should we introduce a new product?</a:t>
            </a:r>
          </a:p>
          <a:p>
            <a:pPr marL="265113" lvl="1" indent="-82550">
              <a:spcBef>
                <a:spcPts val="100"/>
              </a:spcBef>
              <a:spcAft>
                <a:spcPts val="100"/>
              </a:spcAft>
              <a:buFont typeface="Arial" panose="020B0604020202020204" pitchFamily="34" charset="0"/>
              <a:buChar char="•"/>
              <a:defRPr/>
            </a:pPr>
            <a:r>
              <a:rPr lang="en-US" sz="980" dirty="0"/>
              <a:t>Should we acquire this company?</a:t>
            </a:r>
          </a:p>
          <a:p>
            <a:pPr marL="177800" indent="-177800">
              <a:spcBef>
                <a:spcPts val="100"/>
              </a:spcBef>
              <a:spcAft>
                <a:spcPts val="100"/>
              </a:spcAft>
              <a:buFont typeface="+mj-lt"/>
              <a:buAutoNum type="arabicPeriod"/>
              <a:defRPr/>
            </a:pPr>
            <a:r>
              <a:rPr lang="en-US" sz="980" b="1" dirty="0"/>
              <a:t>BU/Product portfolio management tools:</a:t>
            </a:r>
          </a:p>
          <a:p>
            <a:pPr marL="265113" lvl="1" indent="-82550">
              <a:spcBef>
                <a:spcPts val="100"/>
              </a:spcBef>
              <a:spcAft>
                <a:spcPts val="100"/>
              </a:spcAft>
              <a:buFont typeface="Arial" panose="020B0604020202020204" pitchFamily="34" charset="0"/>
              <a:buChar char="•"/>
              <a:defRPr/>
            </a:pPr>
            <a:r>
              <a:rPr lang="en-US" sz="980" dirty="0"/>
              <a:t>GE-McKinsey Matrix</a:t>
            </a:r>
          </a:p>
          <a:p>
            <a:pPr marL="265113" lvl="1" indent="-82550">
              <a:spcBef>
                <a:spcPts val="100"/>
              </a:spcBef>
              <a:spcAft>
                <a:spcPts val="100"/>
              </a:spcAft>
              <a:buFont typeface="Arial" panose="020B0604020202020204" pitchFamily="34" charset="0"/>
              <a:buChar char="•"/>
              <a:defRPr/>
            </a:pPr>
            <a:r>
              <a:rPr lang="en-US" sz="980" dirty="0"/>
              <a:t>BCG Growth-Share Matrix</a:t>
            </a:r>
          </a:p>
          <a:p>
            <a:pPr marL="177800" indent="-177800">
              <a:spcBef>
                <a:spcPts val="100"/>
              </a:spcBef>
              <a:spcAft>
                <a:spcPts val="100"/>
              </a:spcAft>
              <a:buFont typeface="+mj-lt"/>
              <a:buAutoNum type="arabicPeriod"/>
              <a:defRPr/>
            </a:pPr>
            <a:r>
              <a:rPr lang="en-US" sz="980" b="1" dirty="0"/>
              <a:t>Growth strategy tools</a:t>
            </a:r>
          </a:p>
          <a:p>
            <a:pPr marL="265113" lvl="1" indent="-82550">
              <a:spcBef>
                <a:spcPts val="100"/>
              </a:spcBef>
              <a:spcAft>
                <a:spcPts val="100"/>
              </a:spcAft>
              <a:buFont typeface="Arial" panose="020B0604020202020204" pitchFamily="34" charset="0"/>
              <a:buChar char="•"/>
              <a:defRPr/>
            </a:pPr>
            <a:r>
              <a:rPr lang="en-US" sz="980" dirty="0"/>
              <a:t>7 Degrees of Freedom for Growth</a:t>
            </a:r>
          </a:p>
          <a:p>
            <a:pPr marL="265113" lvl="1" indent="-82550">
              <a:spcBef>
                <a:spcPts val="100"/>
              </a:spcBef>
              <a:spcAft>
                <a:spcPts val="100"/>
              </a:spcAft>
              <a:buFont typeface="Arial" panose="020B0604020202020204" pitchFamily="34" charset="0"/>
              <a:buChar char="•"/>
              <a:defRPr/>
            </a:pPr>
            <a:r>
              <a:rPr lang="en-US" sz="980" dirty="0"/>
              <a:t>Ansoff Growth Matrix</a:t>
            </a:r>
          </a:p>
          <a:p>
            <a:pPr marL="265113" lvl="1" indent="-82550">
              <a:spcBef>
                <a:spcPts val="100"/>
              </a:spcBef>
              <a:spcAft>
                <a:spcPts val="100"/>
              </a:spcAft>
              <a:buFont typeface="Arial" panose="020B0604020202020204" pitchFamily="34" charset="0"/>
              <a:buChar char="•"/>
              <a:defRPr/>
            </a:pPr>
            <a:r>
              <a:rPr lang="en-US" sz="980" dirty="0"/>
              <a:t>Blue Ocean Strategy</a:t>
            </a:r>
          </a:p>
          <a:p>
            <a:pPr marL="265113" lvl="1" indent="-82550">
              <a:spcBef>
                <a:spcPts val="100"/>
              </a:spcBef>
              <a:spcAft>
                <a:spcPts val="100"/>
              </a:spcAft>
              <a:buFont typeface="Arial" panose="020B0604020202020204" pitchFamily="34" charset="0"/>
              <a:buChar char="•"/>
              <a:defRPr/>
            </a:pPr>
            <a:r>
              <a:rPr lang="en-US" sz="980" dirty="0"/>
              <a:t>McKinsey Seven-S</a:t>
            </a:r>
          </a:p>
          <a:p>
            <a:pPr marL="265113" lvl="1" indent="-82550">
              <a:spcBef>
                <a:spcPts val="100"/>
              </a:spcBef>
              <a:spcAft>
                <a:spcPts val="100"/>
              </a:spcAft>
              <a:buFont typeface="Arial" panose="020B0604020202020204" pitchFamily="34" charset="0"/>
              <a:buChar char="•"/>
              <a:defRPr/>
            </a:pPr>
            <a:r>
              <a:rPr lang="en-US" sz="980" dirty="0"/>
              <a:t>Porter’s Generic Corporate Strategies</a:t>
            </a:r>
          </a:p>
          <a:p>
            <a:pPr marL="265113" lvl="1" indent="-82550">
              <a:spcBef>
                <a:spcPts val="100"/>
              </a:spcBef>
              <a:spcAft>
                <a:spcPts val="100"/>
              </a:spcAft>
              <a:buFont typeface="Arial" panose="020B0604020202020204" pitchFamily="34" charset="0"/>
              <a:buChar char="•"/>
              <a:defRPr/>
            </a:pPr>
            <a:r>
              <a:rPr lang="en-US" sz="980" dirty="0"/>
              <a:t>Product Life Cycle</a:t>
            </a:r>
          </a:p>
          <a:p>
            <a:pPr marL="265113" lvl="1" indent="-82550">
              <a:spcBef>
                <a:spcPts val="100"/>
              </a:spcBef>
              <a:spcAft>
                <a:spcPts val="100"/>
              </a:spcAft>
              <a:buFont typeface="Arial" panose="020B0604020202020204" pitchFamily="34" charset="0"/>
              <a:buChar char="•"/>
              <a:defRPr/>
            </a:pPr>
            <a:r>
              <a:rPr lang="en-US" sz="980" dirty="0"/>
              <a:t>Greiner's Growth Model </a:t>
            </a:r>
          </a:p>
          <a:p>
            <a:pPr marL="177800" indent="-177800">
              <a:spcBef>
                <a:spcPts val="100"/>
              </a:spcBef>
              <a:spcAft>
                <a:spcPts val="100"/>
              </a:spcAft>
              <a:buFont typeface="+mj-lt"/>
              <a:buAutoNum type="arabicPeriod"/>
              <a:defRPr/>
            </a:pPr>
            <a:r>
              <a:rPr lang="en-US" sz="980" b="1" dirty="0"/>
              <a:t>Other tools &amp; frameworks</a:t>
            </a:r>
          </a:p>
          <a:p>
            <a:pPr marL="265113" lvl="1" indent="-82550">
              <a:spcBef>
                <a:spcPts val="100"/>
              </a:spcBef>
              <a:spcAft>
                <a:spcPts val="100"/>
              </a:spcAft>
              <a:buFont typeface="Arial" panose="020B0604020202020204" pitchFamily="34" charset="0"/>
              <a:buChar char="•"/>
              <a:defRPr/>
            </a:pPr>
            <a:r>
              <a:rPr lang="en-US" sz="980" dirty="0"/>
              <a:t>Value chain analysis</a:t>
            </a:r>
          </a:p>
          <a:p>
            <a:pPr marL="265113" lvl="1" indent="-82550">
              <a:spcBef>
                <a:spcPts val="100"/>
              </a:spcBef>
              <a:spcAft>
                <a:spcPts val="100"/>
              </a:spcAft>
              <a:buFont typeface="Arial" panose="020B0604020202020204" pitchFamily="34" charset="0"/>
              <a:buChar char="•"/>
              <a:defRPr/>
            </a:pPr>
            <a:r>
              <a:rPr lang="en-GB" sz="980" dirty="0"/>
              <a:t>Value Driver Tree </a:t>
            </a:r>
          </a:p>
          <a:p>
            <a:pPr marL="265113" lvl="1" indent="-82550">
              <a:spcBef>
                <a:spcPts val="100"/>
              </a:spcBef>
              <a:spcAft>
                <a:spcPts val="100"/>
              </a:spcAft>
              <a:buFont typeface="Arial" panose="020B0604020202020204" pitchFamily="34" charset="0"/>
              <a:buChar char="•"/>
              <a:defRPr/>
            </a:pPr>
            <a:r>
              <a:rPr lang="en-GB" sz="980" dirty="0"/>
              <a:t>Pareto Principle</a:t>
            </a:r>
            <a:endParaRPr lang="en-US" sz="980" dirty="0"/>
          </a:p>
          <a:p>
            <a:pPr marL="265113" lvl="1" indent="-82550">
              <a:spcBef>
                <a:spcPts val="100"/>
              </a:spcBef>
              <a:spcAft>
                <a:spcPts val="100"/>
              </a:spcAft>
              <a:buFont typeface="Arial" panose="020B0604020202020204" pitchFamily="34" charset="0"/>
              <a:buChar char="•"/>
              <a:defRPr/>
            </a:pPr>
            <a:r>
              <a:rPr lang="en-US" sz="980" dirty="0"/>
              <a:t>Etc.</a:t>
            </a:r>
          </a:p>
        </p:txBody>
      </p:sp>
      <p:sp>
        <p:nvSpPr>
          <p:cNvPr id="45" name="Arrow: Pentagon 44">
            <a:extLst>
              <a:ext uri="{FF2B5EF4-FFF2-40B4-BE49-F238E27FC236}">
                <a16:creationId xmlns:a16="http://schemas.microsoft.com/office/drawing/2014/main" id="{E8342E59-4287-BA88-0BDB-11297E711682}"/>
              </a:ext>
            </a:extLst>
          </p:cNvPr>
          <p:cNvSpPr/>
          <p:nvPr/>
        </p:nvSpPr>
        <p:spPr>
          <a:xfrm>
            <a:off x="613320" y="6255279"/>
            <a:ext cx="11001349" cy="305881"/>
          </a:xfrm>
          <a:prstGeom prst="homePlate">
            <a:avLst>
              <a:gd name="adj" fmla="val 31705"/>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Strategic Dashboards</a:t>
            </a:r>
          </a:p>
        </p:txBody>
      </p:sp>
    </p:spTree>
    <p:extLst>
      <p:ext uri="{BB962C8B-B14F-4D97-AF65-F5344CB8AC3E}">
        <p14:creationId xmlns:p14="http://schemas.microsoft.com/office/powerpoint/2010/main" val="4071643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AE880-2AA2-1DED-057D-F46410CCC3FA}"/>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7155A521-0F39-7222-4471-91277FBDE1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13" name="Object 12" hidden="1">
                        <a:extLst>
                          <a:ext uri="{FF2B5EF4-FFF2-40B4-BE49-F238E27FC236}">
                            <a16:creationId xmlns:a16="http://schemas.microsoft.com/office/drawing/2014/main" id="{7155A521-0F39-7222-4471-91277FBDE1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350295FB-EACE-C21D-3735-A078D8E6CDCB}"/>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balanced scorecard highlights a strong [insert your own adjective] performance in most of our 12 strategic objectives</a:t>
            </a:r>
            <a:endParaRPr lang="en-US" sz="2400" b="0" kern="0" dirty="0"/>
          </a:p>
        </p:txBody>
      </p:sp>
      <p:sp>
        <p:nvSpPr>
          <p:cNvPr id="4" name="Rectangle 3">
            <a:extLst>
              <a:ext uri="{FF2B5EF4-FFF2-40B4-BE49-F238E27FC236}">
                <a16:creationId xmlns:a16="http://schemas.microsoft.com/office/drawing/2014/main" id="{37206733-0CEC-7DD5-CE00-C834A976B37D}"/>
              </a:ext>
            </a:extLst>
          </p:cNvPr>
          <p:cNvSpPr/>
          <p:nvPr/>
        </p:nvSpPr>
        <p:spPr>
          <a:xfrm>
            <a:off x="10423525" y="1"/>
            <a:ext cx="1768476"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Version 3</a:t>
            </a:r>
          </a:p>
        </p:txBody>
      </p:sp>
      <p:sp>
        <p:nvSpPr>
          <p:cNvPr id="2" name="Footer Placeholder 1">
            <a:extLst>
              <a:ext uri="{FF2B5EF4-FFF2-40B4-BE49-F238E27FC236}">
                <a16:creationId xmlns:a16="http://schemas.microsoft.com/office/drawing/2014/main" id="{9E899866-EE7F-A0D6-48EA-41C0C538CA09}"/>
              </a:ext>
            </a:extLst>
          </p:cNvPr>
          <p:cNvSpPr>
            <a:spLocks noGrp="1"/>
          </p:cNvSpPr>
          <p:nvPr>
            <p:ph type="ftr" sz="quarter" idx="3"/>
          </p:nvPr>
        </p:nvSpPr>
        <p:spPr/>
        <p:txBody>
          <a:bodyPr>
            <a:spAutoFit/>
          </a:bodyPr>
          <a:lstStyle/>
          <a:p>
            <a:r>
              <a:rPr lang="en-US"/>
              <a:t>Domont Consulting</a:t>
            </a:r>
            <a:endParaRPr lang="en-US" dirty="0"/>
          </a:p>
        </p:txBody>
      </p:sp>
      <p:sp>
        <p:nvSpPr>
          <p:cNvPr id="6" name="Slide Number Placeholder 5">
            <a:extLst>
              <a:ext uri="{FF2B5EF4-FFF2-40B4-BE49-F238E27FC236}">
                <a16:creationId xmlns:a16="http://schemas.microsoft.com/office/drawing/2014/main" id="{FF885394-5612-E3E7-6AB6-02EA794360D9}"/>
              </a:ext>
            </a:extLst>
          </p:cNvPr>
          <p:cNvSpPr>
            <a:spLocks noGrp="1"/>
          </p:cNvSpPr>
          <p:nvPr>
            <p:ph type="sldNum" sz="quarter" idx="4"/>
          </p:nvPr>
        </p:nvSpPr>
        <p:spPr/>
        <p:txBody>
          <a:bodyPr/>
          <a:lstStyle/>
          <a:p>
            <a:fld id="{37F5C94B-8C55-478B-B509-BAE6A06B2E2A}" type="slidenum">
              <a:rPr lang="en-US" smtClean="0"/>
              <a:pPr/>
              <a:t>15</a:t>
            </a:fld>
            <a:endParaRPr lang="en-US" dirty="0"/>
          </a:p>
        </p:txBody>
      </p:sp>
      <p:grpSp>
        <p:nvGrpSpPr>
          <p:cNvPr id="44" name="Group 43">
            <a:extLst>
              <a:ext uri="{FF2B5EF4-FFF2-40B4-BE49-F238E27FC236}">
                <a16:creationId xmlns:a16="http://schemas.microsoft.com/office/drawing/2014/main" id="{FA1D2513-4EFB-1873-D314-489567243593}"/>
              </a:ext>
            </a:extLst>
          </p:cNvPr>
          <p:cNvGrpSpPr/>
          <p:nvPr/>
        </p:nvGrpSpPr>
        <p:grpSpPr>
          <a:xfrm>
            <a:off x="562107" y="1637364"/>
            <a:ext cx="1405071" cy="338554"/>
            <a:chOff x="460236" y="1686792"/>
            <a:chExt cx="5266207" cy="338554"/>
          </a:xfrm>
        </p:grpSpPr>
        <p:cxnSp>
          <p:nvCxnSpPr>
            <p:cNvPr id="45" name="Straight Connector 44">
              <a:extLst>
                <a:ext uri="{FF2B5EF4-FFF2-40B4-BE49-F238E27FC236}">
                  <a16:creationId xmlns:a16="http://schemas.microsoft.com/office/drawing/2014/main" id="{86123FF2-DAFC-3EA9-ACA6-8D93CE30E9A8}"/>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8342763B-756E-C66C-8AA5-D1AD39202469}"/>
                </a:ext>
              </a:extLst>
            </p:cNvPr>
            <p:cNvSpPr txBox="1"/>
            <p:nvPr/>
          </p:nvSpPr>
          <p:spPr>
            <a:xfrm>
              <a:off x="460236" y="1686792"/>
              <a:ext cx="5111999" cy="338554"/>
            </a:xfrm>
            <a:prstGeom prst="rect">
              <a:avLst/>
            </a:prstGeom>
            <a:noFill/>
          </p:spPr>
          <p:txBody>
            <a:bodyPr wrap="square" rtlCol="0">
              <a:spAutoFit/>
            </a:bodyPr>
            <a:lstStyle/>
            <a:p>
              <a:r>
                <a:rPr lang="en-US" sz="1600" b="1" dirty="0"/>
                <a:t>Perspective</a:t>
              </a:r>
            </a:p>
          </p:txBody>
        </p:sp>
      </p:grpSp>
      <p:grpSp>
        <p:nvGrpSpPr>
          <p:cNvPr id="52" name="Group 51">
            <a:extLst>
              <a:ext uri="{FF2B5EF4-FFF2-40B4-BE49-F238E27FC236}">
                <a16:creationId xmlns:a16="http://schemas.microsoft.com/office/drawing/2014/main" id="{D6DD2596-5932-34C9-E37D-22FFF457D7C0}"/>
              </a:ext>
            </a:extLst>
          </p:cNvPr>
          <p:cNvGrpSpPr/>
          <p:nvPr/>
        </p:nvGrpSpPr>
        <p:grpSpPr>
          <a:xfrm>
            <a:off x="1996017" y="1637364"/>
            <a:ext cx="2755303" cy="338554"/>
            <a:chOff x="529254" y="1686792"/>
            <a:chExt cx="5197189" cy="338554"/>
          </a:xfrm>
        </p:grpSpPr>
        <p:cxnSp>
          <p:nvCxnSpPr>
            <p:cNvPr id="61" name="Straight Connector 60">
              <a:extLst>
                <a:ext uri="{FF2B5EF4-FFF2-40B4-BE49-F238E27FC236}">
                  <a16:creationId xmlns:a16="http://schemas.microsoft.com/office/drawing/2014/main" id="{E1786C83-F280-7C95-969F-A66FA74A7CAE}"/>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9D138B6-AB45-33CE-3373-A2E392635FA7}"/>
                </a:ext>
              </a:extLst>
            </p:cNvPr>
            <p:cNvSpPr txBox="1"/>
            <p:nvPr/>
          </p:nvSpPr>
          <p:spPr>
            <a:xfrm>
              <a:off x="529254" y="1686792"/>
              <a:ext cx="5111999" cy="338554"/>
            </a:xfrm>
            <a:prstGeom prst="rect">
              <a:avLst/>
            </a:prstGeom>
            <a:noFill/>
          </p:spPr>
          <p:txBody>
            <a:bodyPr wrap="square" rtlCol="0">
              <a:spAutoFit/>
            </a:bodyPr>
            <a:lstStyle/>
            <a:p>
              <a:r>
                <a:rPr lang="en-US" sz="1600" b="1" dirty="0"/>
                <a:t>Strategic Objectives</a:t>
              </a:r>
            </a:p>
          </p:txBody>
        </p:sp>
      </p:grpSp>
      <p:grpSp>
        <p:nvGrpSpPr>
          <p:cNvPr id="66" name="Group 65">
            <a:extLst>
              <a:ext uri="{FF2B5EF4-FFF2-40B4-BE49-F238E27FC236}">
                <a16:creationId xmlns:a16="http://schemas.microsoft.com/office/drawing/2014/main" id="{5F3BEC92-90A2-8B57-77D4-7236A50722E4}"/>
              </a:ext>
            </a:extLst>
          </p:cNvPr>
          <p:cNvGrpSpPr/>
          <p:nvPr/>
        </p:nvGrpSpPr>
        <p:grpSpPr>
          <a:xfrm>
            <a:off x="10325245" y="1637364"/>
            <a:ext cx="1265310" cy="338554"/>
            <a:chOff x="444426" y="1686792"/>
            <a:chExt cx="5282017" cy="338554"/>
          </a:xfrm>
        </p:grpSpPr>
        <p:cxnSp>
          <p:nvCxnSpPr>
            <p:cNvPr id="67" name="Straight Connector 66">
              <a:extLst>
                <a:ext uri="{FF2B5EF4-FFF2-40B4-BE49-F238E27FC236}">
                  <a16:creationId xmlns:a16="http://schemas.microsoft.com/office/drawing/2014/main" id="{3F28C9A1-6EAE-E8C2-70A2-82AE804C88B3}"/>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0F2DB9F-75B2-ABFF-8BD4-C9D6EB25FE1D}"/>
                </a:ext>
              </a:extLst>
            </p:cNvPr>
            <p:cNvSpPr txBox="1"/>
            <p:nvPr/>
          </p:nvSpPr>
          <p:spPr>
            <a:xfrm>
              <a:off x="444426" y="1686792"/>
              <a:ext cx="5111999" cy="338554"/>
            </a:xfrm>
            <a:prstGeom prst="rect">
              <a:avLst/>
            </a:prstGeom>
            <a:noFill/>
          </p:spPr>
          <p:txBody>
            <a:bodyPr wrap="square" rtlCol="0">
              <a:spAutoFit/>
            </a:bodyPr>
            <a:lstStyle/>
            <a:p>
              <a:r>
                <a:rPr lang="en-US" sz="1600" b="1" dirty="0"/>
                <a:t>This Year</a:t>
              </a:r>
            </a:p>
          </p:txBody>
        </p:sp>
      </p:grpSp>
      <p:sp>
        <p:nvSpPr>
          <p:cNvPr id="69" name="Rectangle 68">
            <a:extLst>
              <a:ext uri="{FF2B5EF4-FFF2-40B4-BE49-F238E27FC236}">
                <a16:creationId xmlns:a16="http://schemas.microsoft.com/office/drawing/2014/main" id="{00E4983F-9E7A-69E0-4A78-CE5EC3146E13}"/>
              </a:ext>
            </a:extLst>
          </p:cNvPr>
          <p:cNvSpPr/>
          <p:nvPr/>
        </p:nvSpPr>
        <p:spPr>
          <a:xfrm>
            <a:off x="613404" y="2050770"/>
            <a:ext cx="1349702" cy="1050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rPr>
              <a:t>Financial</a:t>
            </a:r>
          </a:p>
        </p:txBody>
      </p:sp>
      <p:sp>
        <p:nvSpPr>
          <p:cNvPr id="70" name="Rectangle 69">
            <a:extLst>
              <a:ext uri="{FF2B5EF4-FFF2-40B4-BE49-F238E27FC236}">
                <a16:creationId xmlns:a16="http://schemas.microsoft.com/office/drawing/2014/main" id="{98AB49E5-3C64-D240-19EC-44E982932EB9}"/>
              </a:ext>
            </a:extLst>
          </p:cNvPr>
          <p:cNvSpPr/>
          <p:nvPr/>
        </p:nvSpPr>
        <p:spPr>
          <a:xfrm>
            <a:off x="613404" y="3193688"/>
            <a:ext cx="1349702" cy="1050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latin typeface="Arial" panose="020B0604020202020204"/>
              </a:rPr>
              <a:t>Customer</a:t>
            </a:r>
          </a:p>
        </p:txBody>
      </p:sp>
      <p:sp>
        <p:nvSpPr>
          <p:cNvPr id="71" name="Rectangle 70">
            <a:extLst>
              <a:ext uri="{FF2B5EF4-FFF2-40B4-BE49-F238E27FC236}">
                <a16:creationId xmlns:a16="http://schemas.microsoft.com/office/drawing/2014/main" id="{78F599A6-7225-6C0F-20C7-36EE3CB6CD5A}"/>
              </a:ext>
            </a:extLst>
          </p:cNvPr>
          <p:cNvSpPr/>
          <p:nvPr/>
        </p:nvSpPr>
        <p:spPr>
          <a:xfrm>
            <a:off x="613404" y="4336606"/>
            <a:ext cx="1349702" cy="1050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latin typeface="Arial" panose="020B0604020202020204"/>
              </a:rPr>
              <a:t>Internal Process</a:t>
            </a:r>
          </a:p>
        </p:txBody>
      </p:sp>
      <p:sp>
        <p:nvSpPr>
          <p:cNvPr id="72" name="Rectangle 71">
            <a:extLst>
              <a:ext uri="{FF2B5EF4-FFF2-40B4-BE49-F238E27FC236}">
                <a16:creationId xmlns:a16="http://schemas.microsoft.com/office/drawing/2014/main" id="{3510B360-A36A-2D85-055B-511C1F9189DE}"/>
              </a:ext>
            </a:extLst>
          </p:cNvPr>
          <p:cNvSpPr/>
          <p:nvPr/>
        </p:nvSpPr>
        <p:spPr>
          <a:xfrm>
            <a:off x="613404" y="5479523"/>
            <a:ext cx="1349702" cy="10504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chemeClr val="tx1"/>
                </a:solidFill>
                <a:latin typeface="Arial" panose="020B0604020202020204"/>
              </a:rPr>
              <a:t>Learning &amp; Growth</a:t>
            </a:r>
          </a:p>
        </p:txBody>
      </p:sp>
      <p:cxnSp>
        <p:nvCxnSpPr>
          <p:cNvPr id="73" name="Straight Connector 72">
            <a:extLst>
              <a:ext uri="{FF2B5EF4-FFF2-40B4-BE49-F238E27FC236}">
                <a16:creationId xmlns:a16="http://schemas.microsoft.com/office/drawing/2014/main" id="{3596766B-2C55-FAD3-9CA8-9A47D56B3F2A}"/>
              </a:ext>
            </a:extLst>
          </p:cNvPr>
          <p:cNvCxnSpPr>
            <a:cxnSpLocks/>
          </p:cNvCxnSpPr>
          <p:nvPr/>
        </p:nvCxnSpPr>
        <p:spPr>
          <a:xfrm>
            <a:off x="641608" y="3132228"/>
            <a:ext cx="10944000" cy="0"/>
          </a:xfrm>
          <a:prstGeom prst="line">
            <a:avLst/>
          </a:prstGeom>
          <a:ln w="127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16B992C-3656-B4EF-C294-2171FFC4DB83}"/>
              </a:ext>
            </a:extLst>
          </p:cNvPr>
          <p:cNvCxnSpPr>
            <a:cxnSpLocks/>
          </p:cNvCxnSpPr>
          <p:nvPr/>
        </p:nvCxnSpPr>
        <p:spPr>
          <a:xfrm>
            <a:off x="641608" y="4289419"/>
            <a:ext cx="10944000" cy="0"/>
          </a:xfrm>
          <a:prstGeom prst="line">
            <a:avLst/>
          </a:prstGeom>
          <a:ln w="127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53B4ADE-5872-291B-CD05-5215C5FA01E4}"/>
              </a:ext>
            </a:extLst>
          </p:cNvPr>
          <p:cNvCxnSpPr>
            <a:cxnSpLocks/>
          </p:cNvCxnSpPr>
          <p:nvPr/>
        </p:nvCxnSpPr>
        <p:spPr>
          <a:xfrm>
            <a:off x="641608" y="5440574"/>
            <a:ext cx="10944000" cy="0"/>
          </a:xfrm>
          <a:prstGeom prst="line">
            <a:avLst/>
          </a:prstGeom>
          <a:ln w="127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36482A6-EA5F-135F-A807-A15ED6A2EFBE}"/>
              </a:ext>
            </a:extLst>
          </p:cNvPr>
          <p:cNvSpPr txBox="1"/>
          <p:nvPr/>
        </p:nvSpPr>
        <p:spPr>
          <a:xfrm>
            <a:off x="2047212" y="2050770"/>
            <a:ext cx="2710139"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500"/>
              </a:spcBef>
              <a:spcAft>
                <a:spcPts val="500"/>
              </a:spcAft>
            </a:pPr>
            <a:r>
              <a:rPr lang="en-GB" dirty="0"/>
              <a:t>F1: Increase earnings per share</a:t>
            </a:r>
          </a:p>
          <a:p>
            <a:pPr>
              <a:spcBef>
                <a:spcPts val="500"/>
              </a:spcBef>
              <a:spcAft>
                <a:spcPts val="500"/>
              </a:spcAft>
            </a:pPr>
            <a:r>
              <a:rPr lang="en-GB" dirty="0"/>
              <a:t>F2: Increase revenue </a:t>
            </a:r>
          </a:p>
          <a:p>
            <a:pPr>
              <a:spcBef>
                <a:spcPts val="500"/>
              </a:spcBef>
              <a:spcAft>
                <a:spcPts val="500"/>
              </a:spcAft>
            </a:pPr>
            <a:r>
              <a:rPr lang="en-GB" dirty="0"/>
              <a:t>F3: Increase profit margin</a:t>
            </a:r>
          </a:p>
        </p:txBody>
      </p:sp>
      <p:sp>
        <p:nvSpPr>
          <p:cNvPr id="77" name="TextBox 76">
            <a:extLst>
              <a:ext uri="{FF2B5EF4-FFF2-40B4-BE49-F238E27FC236}">
                <a16:creationId xmlns:a16="http://schemas.microsoft.com/office/drawing/2014/main" id="{3959952C-BB41-B759-F11E-68D4B67F5F80}"/>
              </a:ext>
            </a:extLst>
          </p:cNvPr>
          <p:cNvSpPr txBox="1"/>
          <p:nvPr/>
        </p:nvSpPr>
        <p:spPr>
          <a:xfrm>
            <a:off x="2047212" y="3195062"/>
            <a:ext cx="2710139"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500"/>
              </a:spcBef>
              <a:spcAft>
                <a:spcPts val="500"/>
              </a:spcAft>
            </a:pPr>
            <a:r>
              <a:rPr lang="en-US" dirty="0"/>
              <a:t>C1: Increase customer satisfaction</a:t>
            </a:r>
          </a:p>
          <a:p>
            <a:pPr>
              <a:spcBef>
                <a:spcPts val="500"/>
              </a:spcBef>
              <a:spcAft>
                <a:spcPts val="500"/>
              </a:spcAft>
            </a:pPr>
            <a:r>
              <a:rPr lang="en-US" dirty="0"/>
              <a:t>C2: </a:t>
            </a:r>
            <a:r>
              <a:rPr lang="en-GB" dirty="0"/>
              <a:t>Increase revenue per customer</a:t>
            </a:r>
          </a:p>
          <a:p>
            <a:pPr>
              <a:spcBef>
                <a:spcPts val="500"/>
              </a:spcBef>
              <a:spcAft>
                <a:spcPts val="500"/>
              </a:spcAft>
            </a:pPr>
            <a:r>
              <a:rPr lang="en-US" dirty="0"/>
              <a:t>C3: </a:t>
            </a:r>
            <a:r>
              <a:rPr lang="en-GB" dirty="0"/>
              <a:t>Reduce cost per customer</a:t>
            </a:r>
            <a:endParaRPr lang="en-US" dirty="0"/>
          </a:p>
        </p:txBody>
      </p:sp>
      <p:sp>
        <p:nvSpPr>
          <p:cNvPr id="78" name="TextBox 77">
            <a:extLst>
              <a:ext uri="{FF2B5EF4-FFF2-40B4-BE49-F238E27FC236}">
                <a16:creationId xmlns:a16="http://schemas.microsoft.com/office/drawing/2014/main" id="{7C588904-00B3-59D1-D250-E7AEC70D2166}"/>
              </a:ext>
            </a:extLst>
          </p:cNvPr>
          <p:cNvSpPr txBox="1"/>
          <p:nvPr/>
        </p:nvSpPr>
        <p:spPr>
          <a:xfrm>
            <a:off x="2047212" y="4339354"/>
            <a:ext cx="2710139" cy="1008196"/>
          </a:xfrm>
          <a:prstGeom prst="rect">
            <a:avLst/>
          </a:prstGeom>
          <a:noFill/>
        </p:spPr>
        <p:txBody>
          <a:bodyPr wrap="square" rtlCol="0" anchor="ctr">
            <a:noAutofit/>
          </a:bodyPr>
          <a:lstStyle/>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I1: Decrease number of defects</a:t>
            </a:r>
          </a:p>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I2: Increase revenue per employee</a:t>
            </a:r>
          </a:p>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I3: Increase project success rate</a:t>
            </a:r>
          </a:p>
        </p:txBody>
      </p:sp>
      <p:sp>
        <p:nvSpPr>
          <p:cNvPr id="79" name="TextBox 78">
            <a:extLst>
              <a:ext uri="{FF2B5EF4-FFF2-40B4-BE49-F238E27FC236}">
                <a16:creationId xmlns:a16="http://schemas.microsoft.com/office/drawing/2014/main" id="{ADF3D764-A5E8-271B-DA91-9685780F196D}"/>
              </a:ext>
            </a:extLst>
          </p:cNvPr>
          <p:cNvSpPr txBox="1"/>
          <p:nvPr/>
        </p:nvSpPr>
        <p:spPr>
          <a:xfrm>
            <a:off x="2047212" y="5483645"/>
            <a:ext cx="2710139" cy="1008196"/>
          </a:xfrm>
          <a:prstGeom prst="rect">
            <a:avLst/>
          </a:prstGeom>
          <a:noFill/>
        </p:spPr>
        <p:txBody>
          <a:bodyPr wrap="square" rtlCol="0" anchor="ctr">
            <a:noAutofit/>
          </a:bodyPr>
          <a:lstStyle/>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1: </a:t>
            </a:r>
            <a:r>
              <a:rPr lang="en-US" sz="1200" dirty="0">
                <a:solidFill>
                  <a:srgbClr val="002060"/>
                </a:solidFill>
                <a:latin typeface="Arial" panose="020B0604020202020204"/>
              </a:rPr>
              <a:t>Increase employer satisfaction</a:t>
            </a:r>
            <a:endPar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endParaRPr>
          </a:p>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2: Enhance employee skills</a:t>
            </a:r>
          </a:p>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3: Develop a mentorship Program</a:t>
            </a:r>
          </a:p>
        </p:txBody>
      </p:sp>
      <p:grpSp>
        <p:nvGrpSpPr>
          <p:cNvPr id="80" name="Group 79">
            <a:extLst>
              <a:ext uri="{FF2B5EF4-FFF2-40B4-BE49-F238E27FC236}">
                <a16:creationId xmlns:a16="http://schemas.microsoft.com/office/drawing/2014/main" id="{D1B28A4F-F17A-5A4D-7CE2-3F8B36A67606}"/>
              </a:ext>
            </a:extLst>
          </p:cNvPr>
          <p:cNvGrpSpPr/>
          <p:nvPr/>
        </p:nvGrpSpPr>
        <p:grpSpPr>
          <a:xfrm>
            <a:off x="4780159" y="1637364"/>
            <a:ext cx="2927948" cy="338554"/>
            <a:chOff x="533430" y="1686792"/>
            <a:chExt cx="5193013" cy="338554"/>
          </a:xfrm>
        </p:grpSpPr>
        <p:cxnSp>
          <p:nvCxnSpPr>
            <p:cNvPr id="81" name="Straight Connector 80">
              <a:extLst>
                <a:ext uri="{FF2B5EF4-FFF2-40B4-BE49-F238E27FC236}">
                  <a16:creationId xmlns:a16="http://schemas.microsoft.com/office/drawing/2014/main" id="{E976268A-0F71-E818-052E-1599B61D743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66F9FDD1-AB18-1AA2-64F0-A4F38BBB5CE4}"/>
                </a:ext>
              </a:extLst>
            </p:cNvPr>
            <p:cNvSpPr txBox="1"/>
            <p:nvPr/>
          </p:nvSpPr>
          <p:spPr>
            <a:xfrm>
              <a:off x="533430" y="1686792"/>
              <a:ext cx="5111999" cy="338554"/>
            </a:xfrm>
            <a:prstGeom prst="rect">
              <a:avLst/>
            </a:prstGeom>
            <a:noFill/>
          </p:spPr>
          <p:txBody>
            <a:bodyPr wrap="square" rtlCol="0">
              <a:spAutoFit/>
            </a:bodyPr>
            <a:lstStyle/>
            <a:p>
              <a:r>
                <a:rPr lang="en-US" sz="1600" b="1" dirty="0"/>
                <a:t>Key Performance Indicators</a:t>
              </a:r>
            </a:p>
          </p:txBody>
        </p:sp>
      </p:grpSp>
      <p:sp>
        <p:nvSpPr>
          <p:cNvPr id="83" name="TextBox 82">
            <a:extLst>
              <a:ext uri="{FF2B5EF4-FFF2-40B4-BE49-F238E27FC236}">
                <a16:creationId xmlns:a16="http://schemas.microsoft.com/office/drawing/2014/main" id="{8E7C67C6-E0A5-E3E5-0496-D4FCE3C58631}"/>
              </a:ext>
            </a:extLst>
          </p:cNvPr>
          <p:cNvSpPr txBox="1"/>
          <p:nvPr/>
        </p:nvSpPr>
        <p:spPr>
          <a:xfrm>
            <a:off x="4835598" y="2050770"/>
            <a:ext cx="2875010"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500"/>
              </a:spcBef>
              <a:spcAft>
                <a:spcPts val="500"/>
              </a:spcAft>
            </a:pPr>
            <a:r>
              <a:rPr lang="en-GB" dirty="0"/>
              <a:t>F1: Net income per share (vs. last year)</a:t>
            </a:r>
          </a:p>
          <a:p>
            <a:pPr>
              <a:spcBef>
                <a:spcPts val="500"/>
              </a:spcBef>
              <a:spcAft>
                <a:spcPts val="500"/>
              </a:spcAft>
            </a:pPr>
            <a:r>
              <a:rPr lang="en-GB" dirty="0"/>
              <a:t>F2: Revenue growth vs previous year</a:t>
            </a:r>
          </a:p>
          <a:p>
            <a:pPr>
              <a:spcBef>
                <a:spcPts val="500"/>
              </a:spcBef>
              <a:spcAft>
                <a:spcPts val="500"/>
              </a:spcAft>
            </a:pPr>
            <a:r>
              <a:rPr lang="en-GB" dirty="0"/>
              <a:t>F3: Profit margin</a:t>
            </a:r>
          </a:p>
        </p:txBody>
      </p:sp>
      <p:sp>
        <p:nvSpPr>
          <p:cNvPr id="87" name="TextBox 86">
            <a:extLst>
              <a:ext uri="{FF2B5EF4-FFF2-40B4-BE49-F238E27FC236}">
                <a16:creationId xmlns:a16="http://schemas.microsoft.com/office/drawing/2014/main" id="{7B87E772-F609-FE93-7DA7-35E475B36320}"/>
              </a:ext>
            </a:extLst>
          </p:cNvPr>
          <p:cNvSpPr txBox="1"/>
          <p:nvPr/>
        </p:nvSpPr>
        <p:spPr>
          <a:xfrm>
            <a:off x="10383510" y="2075484"/>
            <a:ext cx="1219692" cy="288000"/>
          </a:xfrm>
          <a:prstGeom prst="rect">
            <a:avLst/>
          </a:prstGeom>
          <a:solidFill>
            <a:schemeClr val="accent4">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F1: +$100M</a:t>
            </a:r>
          </a:p>
        </p:txBody>
      </p:sp>
      <p:sp>
        <p:nvSpPr>
          <p:cNvPr id="88" name="TextBox 87">
            <a:extLst>
              <a:ext uri="{FF2B5EF4-FFF2-40B4-BE49-F238E27FC236}">
                <a16:creationId xmlns:a16="http://schemas.microsoft.com/office/drawing/2014/main" id="{1A8C0AEC-B032-D217-D6D3-73C54D5E5C29}"/>
              </a:ext>
            </a:extLst>
          </p:cNvPr>
          <p:cNvSpPr txBox="1"/>
          <p:nvPr/>
        </p:nvSpPr>
        <p:spPr>
          <a:xfrm>
            <a:off x="4835598" y="3192997"/>
            <a:ext cx="2875010"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500"/>
              </a:spcBef>
              <a:spcAft>
                <a:spcPts val="500"/>
              </a:spcAft>
            </a:pPr>
            <a:r>
              <a:rPr lang="en-US" dirty="0"/>
              <a:t>C1: Net promoter score</a:t>
            </a:r>
          </a:p>
          <a:p>
            <a:pPr>
              <a:spcBef>
                <a:spcPts val="500"/>
              </a:spcBef>
              <a:spcAft>
                <a:spcPts val="500"/>
              </a:spcAft>
            </a:pPr>
            <a:r>
              <a:rPr lang="en-US" dirty="0"/>
              <a:t>C2: </a:t>
            </a:r>
            <a:r>
              <a:rPr lang="en-GB" dirty="0"/>
              <a:t>Revenue per customer</a:t>
            </a:r>
          </a:p>
          <a:p>
            <a:pPr>
              <a:spcBef>
                <a:spcPts val="500"/>
              </a:spcBef>
              <a:spcAft>
                <a:spcPts val="500"/>
              </a:spcAft>
            </a:pPr>
            <a:r>
              <a:rPr lang="en-US" dirty="0"/>
              <a:t>C3: </a:t>
            </a:r>
            <a:r>
              <a:rPr lang="en-GB" dirty="0"/>
              <a:t>Cost per customer</a:t>
            </a:r>
            <a:endParaRPr lang="en-US" dirty="0"/>
          </a:p>
        </p:txBody>
      </p:sp>
      <p:sp>
        <p:nvSpPr>
          <p:cNvPr id="90" name="TextBox 89">
            <a:extLst>
              <a:ext uri="{FF2B5EF4-FFF2-40B4-BE49-F238E27FC236}">
                <a16:creationId xmlns:a16="http://schemas.microsoft.com/office/drawing/2014/main" id="{C02C9831-1C1D-82E5-D971-5328A4EAA36D}"/>
              </a:ext>
            </a:extLst>
          </p:cNvPr>
          <p:cNvSpPr txBox="1"/>
          <p:nvPr/>
        </p:nvSpPr>
        <p:spPr>
          <a:xfrm>
            <a:off x="4835598" y="4335224"/>
            <a:ext cx="2875010" cy="1008196"/>
          </a:xfrm>
          <a:prstGeom prst="rect">
            <a:avLst/>
          </a:prstGeom>
          <a:noFill/>
        </p:spPr>
        <p:txBody>
          <a:bodyPr wrap="square" rtlCol="0" anchor="ctr">
            <a:noAutofit/>
          </a:bodyPr>
          <a:lstStyle/>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I1: % of products with a defect</a:t>
            </a:r>
          </a:p>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I2: Revenue per employee</a:t>
            </a:r>
          </a:p>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I3: Project success rate</a:t>
            </a:r>
          </a:p>
        </p:txBody>
      </p:sp>
      <p:sp>
        <p:nvSpPr>
          <p:cNvPr id="92" name="TextBox 91">
            <a:extLst>
              <a:ext uri="{FF2B5EF4-FFF2-40B4-BE49-F238E27FC236}">
                <a16:creationId xmlns:a16="http://schemas.microsoft.com/office/drawing/2014/main" id="{28290058-E9ED-9330-D329-A28A6166A410}"/>
              </a:ext>
            </a:extLst>
          </p:cNvPr>
          <p:cNvSpPr txBox="1"/>
          <p:nvPr/>
        </p:nvSpPr>
        <p:spPr>
          <a:xfrm>
            <a:off x="4835598" y="5477450"/>
            <a:ext cx="2875010"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kumimoji="0" sz="1200" i="0" u="none" strike="noStrike" cap="none" spc="0" normalizeH="0" baseline="0">
                <a:ln>
                  <a:noFill/>
                </a:ln>
                <a:solidFill>
                  <a:srgbClr val="002060"/>
                </a:solidFill>
                <a:effectLst/>
                <a:uLnTx/>
                <a:uFillTx/>
                <a:latin typeface="Arial" panose="020B0604020202020204"/>
              </a:defRPr>
            </a:lvl1pPr>
          </a:lstStyle>
          <a:p>
            <a:pPr>
              <a:spcBef>
                <a:spcPts val="500"/>
              </a:spcBef>
              <a:spcAft>
                <a:spcPts val="500"/>
              </a:spcAf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1: Employee n</a:t>
            </a:r>
            <a:r>
              <a:rPr lang="en-US" dirty="0"/>
              <a:t>et promoter score</a:t>
            </a:r>
            <a:endPar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endParaRPr>
          </a:p>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2: % of employees completing courses</a:t>
            </a:r>
          </a:p>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3: Number of mentor-mentee pairs</a:t>
            </a:r>
          </a:p>
        </p:txBody>
      </p:sp>
      <p:grpSp>
        <p:nvGrpSpPr>
          <p:cNvPr id="104" name="Group 103">
            <a:extLst>
              <a:ext uri="{FF2B5EF4-FFF2-40B4-BE49-F238E27FC236}">
                <a16:creationId xmlns:a16="http://schemas.microsoft.com/office/drawing/2014/main" id="{409DE9F7-9D17-0A24-8FD7-5ABB6812BE8A}"/>
              </a:ext>
            </a:extLst>
          </p:cNvPr>
          <p:cNvGrpSpPr/>
          <p:nvPr/>
        </p:nvGrpSpPr>
        <p:grpSpPr>
          <a:xfrm>
            <a:off x="9031095" y="1637364"/>
            <a:ext cx="1265310" cy="338554"/>
            <a:chOff x="444426" y="1686792"/>
            <a:chExt cx="5282017" cy="338554"/>
          </a:xfrm>
        </p:grpSpPr>
        <p:cxnSp>
          <p:nvCxnSpPr>
            <p:cNvPr id="105" name="Straight Connector 104">
              <a:extLst>
                <a:ext uri="{FF2B5EF4-FFF2-40B4-BE49-F238E27FC236}">
                  <a16:creationId xmlns:a16="http://schemas.microsoft.com/office/drawing/2014/main" id="{0AEBFB14-2D67-227F-F91C-644C6C8637B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3FDEE5FD-AA70-6B29-305F-4B76C7A466FD}"/>
                </a:ext>
              </a:extLst>
            </p:cNvPr>
            <p:cNvSpPr txBox="1"/>
            <p:nvPr/>
          </p:nvSpPr>
          <p:spPr>
            <a:xfrm>
              <a:off x="444426" y="1686792"/>
              <a:ext cx="5111999" cy="338554"/>
            </a:xfrm>
            <a:prstGeom prst="rect">
              <a:avLst/>
            </a:prstGeom>
            <a:noFill/>
          </p:spPr>
          <p:txBody>
            <a:bodyPr wrap="square" rtlCol="0">
              <a:spAutoFit/>
            </a:bodyPr>
            <a:lstStyle/>
            <a:p>
              <a:r>
                <a:rPr lang="en-US" sz="1600" b="1" dirty="0"/>
                <a:t>Target</a:t>
              </a:r>
            </a:p>
          </p:txBody>
        </p:sp>
      </p:grpSp>
      <p:sp>
        <p:nvSpPr>
          <p:cNvPr id="107" name="TextBox 106">
            <a:extLst>
              <a:ext uri="{FF2B5EF4-FFF2-40B4-BE49-F238E27FC236}">
                <a16:creationId xmlns:a16="http://schemas.microsoft.com/office/drawing/2014/main" id="{C70287FA-CC27-EE47-083C-5DC9988725D5}"/>
              </a:ext>
            </a:extLst>
          </p:cNvPr>
          <p:cNvSpPr txBox="1"/>
          <p:nvPr/>
        </p:nvSpPr>
        <p:spPr>
          <a:xfrm>
            <a:off x="9092679" y="2050770"/>
            <a:ext cx="1219692"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500"/>
              </a:spcBef>
              <a:spcAft>
                <a:spcPts val="500"/>
              </a:spcAft>
            </a:pPr>
            <a:r>
              <a:rPr lang="en-US" dirty="0"/>
              <a:t>F1: +$100M</a:t>
            </a:r>
          </a:p>
          <a:p>
            <a:pPr>
              <a:spcBef>
                <a:spcPts val="500"/>
              </a:spcBef>
              <a:spcAft>
                <a:spcPts val="500"/>
              </a:spcAft>
            </a:pPr>
            <a:r>
              <a:rPr lang="en-US" dirty="0"/>
              <a:t>F2: 12%</a:t>
            </a:r>
          </a:p>
          <a:p>
            <a:pPr>
              <a:spcBef>
                <a:spcPts val="500"/>
              </a:spcBef>
              <a:spcAft>
                <a:spcPts val="500"/>
              </a:spcAft>
            </a:pPr>
            <a:r>
              <a:rPr lang="en-US" dirty="0"/>
              <a:t>F3: 19%</a:t>
            </a:r>
          </a:p>
        </p:txBody>
      </p:sp>
      <p:sp>
        <p:nvSpPr>
          <p:cNvPr id="108" name="TextBox 107">
            <a:extLst>
              <a:ext uri="{FF2B5EF4-FFF2-40B4-BE49-F238E27FC236}">
                <a16:creationId xmlns:a16="http://schemas.microsoft.com/office/drawing/2014/main" id="{F5398340-C145-8467-9A65-45DAA7BEF48B}"/>
              </a:ext>
            </a:extLst>
          </p:cNvPr>
          <p:cNvSpPr txBox="1"/>
          <p:nvPr/>
        </p:nvSpPr>
        <p:spPr>
          <a:xfrm>
            <a:off x="9092679" y="3192997"/>
            <a:ext cx="1219692"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500"/>
              </a:spcBef>
              <a:spcAft>
                <a:spcPts val="500"/>
              </a:spcAft>
            </a:pPr>
            <a:r>
              <a:rPr lang="en-US" dirty="0"/>
              <a:t>C1: 55%</a:t>
            </a:r>
          </a:p>
          <a:p>
            <a:pPr>
              <a:spcBef>
                <a:spcPts val="500"/>
              </a:spcBef>
              <a:spcAft>
                <a:spcPts val="500"/>
              </a:spcAft>
            </a:pPr>
            <a:r>
              <a:rPr lang="en-US" dirty="0"/>
              <a:t>C2: $320</a:t>
            </a:r>
          </a:p>
          <a:p>
            <a:pPr>
              <a:spcBef>
                <a:spcPts val="500"/>
              </a:spcBef>
              <a:spcAft>
                <a:spcPts val="500"/>
              </a:spcAft>
            </a:pPr>
            <a:r>
              <a:rPr lang="en-US" dirty="0"/>
              <a:t>C3: $70</a:t>
            </a:r>
          </a:p>
        </p:txBody>
      </p:sp>
      <p:sp>
        <p:nvSpPr>
          <p:cNvPr id="109" name="TextBox 108">
            <a:extLst>
              <a:ext uri="{FF2B5EF4-FFF2-40B4-BE49-F238E27FC236}">
                <a16:creationId xmlns:a16="http://schemas.microsoft.com/office/drawing/2014/main" id="{84CDF61C-242A-1E2A-BB3B-4223E2A7D0AD}"/>
              </a:ext>
            </a:extLst>
          </p:cNvPr>
          <p:cNvSpPr txBox="1"/>
          <p:nvPr/>
        </p:nvSpPr>
        <p:spPr>
          <a:xfrm>
            <a:off x="9092679" y="4335224"/>
            <a:ext cx="1219692" cy="1008196"/>
          </a:xfrm>
          <a:prstGeom prst="rect">
            <a:avLst/>
          </a:prstGeom>
          <a:noFill/>
        </p:spPr>
        <p:txBody>
          <a:bodyPr wrap="square" rtlCol="0" anchor="ctr">
            <a:noAutofit/>
          </a:bodyPr>
          <a:lstStyle/>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I1: 0.42%</a:t>
            </a:r>
          </a:p>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I2: $275k</a:t>
            </a:r>
          </a:p>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I3: 70%</a:t>
            </a:r>
          </a:p>
        </p:txBody>
      </p:sp>
      <p:sp>
        <p:nvSpPr>
          <p:cNvPr id="110" name="TextBox 109">
            <a:extLst>
              <a:ext uri="{FF2B5EF4-FFF2-40B4-BE49-F238E27FC236}">
                <a16:creationId xmlns:a16="http://schemas.microsoft.com/office/drawing/2014/main" id="{703C9AFB-DCFD-CBD7-2B6B-91F97DFD6CE5}"/>
              </a:ext>
            </a:extLst>
          </p:cNvPr>
          <p:cNvSpPr txBox="1"/>
          <p:nvPr/>
        </p:nvSpPr>
        <p:spPr>
          <a:xfrm>
            <a:off x="9092679" y="5477450"/>
            <a:ext cx="1219692"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kumimoji="0" sz="1200" i="0" u="none" strike="noStrike" cap="none" spc="0" normalizeH="0" baseline="0">
                <a:ln>
                  <a:noFill/>
                </a:ln>
                <a:solidFill>
                  <a:srgbClr val="002060"/>
                </a:solidFill>
                <a:effectLst/>
                <a:uLnTx/>
                <a:uFillTx/>
                <a:latin typeface="Arial" panose="020B0604020202020204"/>
              </a:defRPr>
            </a:lvl1pPr>
          </a:lstStyle>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1: 70%</a:t>
            </a:r>
          </a:p>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2: </a:t>
            </a:r>
            <a:r>
              <a:rPr lang="en-US" dirty="0"/>
              <a:t>63%</a:t>
            </a:r>
            <a:endPar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endParaRPr>
          </a:p>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3: 300</a:t>
            </a:r>
          </a:p>
        </p:txBody>
      </p:sp>
      <p:grpSp>
        <p:nvGrpSpPr>
          <p:cNvPr id="111" name="Group 110">
            <a:extLst>
              <a:ext uri="{FF2B5EF4-FFF2-40B4-BE49-F238E27FC236}">
                <a16:creationId xmlns:a16="http://schemas.microsoft.com/office/drawing/2014/main" id="{B08CE6EC-6DB1-4201-ADFD-1180EDE5ED27}"/>
              </a:ext>
            </a:extLst>
          </p:cNvPr>
          <p:cNvGrpSpPr/>
          <p:nvPr/>
        </p:nvGrpSpPr>
        <p:grpSpPr>
          <a:xfrm>
            <a:off x="7736946" y="1637364"/>
            <a:ext cx="1265310" cy="338554"/>
            <a:chOff x="444426" y="1686792"/>
            <a:chExt cx="5282017" cy="338554"/>
          </a:xfrm>
        </p:grpSpPr>
        <p:cxnSp>
          <p:nvCxnSpPr>
            <p:cNvPr id="112" name="Straight Connector 111">
              <a:extLst>
                <a:ext uri="{FF2B5EF4-FFF2-40B4-BE49-F238E27FC236}">
                  <a16:creationId xmlns:a16="http://schemas.microsoft.com/office/drawing/2014/main" id="{80842849-5B3E-061F-CAE6-3231F93B069E}"/>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139849F2-DF3F-85DC-40B8-AC696366FB2F}"/>
                </a:ext>
              </a:extLst>
            </p:cNvPr>
            <p:cNvSpPr txBox="1"/>
            <p:nvPr/>
          </p:nvSpPr>
          <p:spPr>
            <a:xfrm>
              <a:off x="444426" y="1686792"/>
              <a:ext cx="5111999" cy="338554"/>
            </a:xfrm>
            <a:prstGeom prst="rect">
              <a:avLst/>
            </a:prstGeom>
            <a:noFill/>
          </p:spPr>
          <p:txBody>
            <a:bodyPr wrap="square" rtlCol="0">
              <a:spAutoFit/>
            </a:bodyPr>
            <a:lstStyle/>
            <a:p>
              <a:r>
                <a:rPr lang="en-US" sz="1600" b="1" dirty="0"/>
                <a:t>Last Year</a:t>
              </a:r>
            </a:p>
          </p:txBody>
        </p:sp>
      </p:grpSp>
      <p:sp>
        <p:nvSpPr>
          <p:cNvPr id="114" name="TextBox 113">
            <a:extLst>
              <a:ext uri="{FF2B5EF4-FFF2-40B4-BE49-F238E27FC236}">
                <a16:creationId xmlns:a16="http://schemas.microsoft.com/office/drawing/2014/main" id="{09F84468-2CBA-86C6-C944-626F1E103316}"/>
              </a:ext>
            </a:extLst>
          </p:cNvPr>
          <p:cNvSpPr txBox="1"/>
          <p:nvPr/>
        </p:nvSpPr>
        <p:spPr>
          <a:xfrm>
            <a:off x="7802332" y="2050770"/>
            <a:ext cx="1219692"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500"/>
              </a:spcBef>
              <a:spcAft>
                <a:spcPts val="500"/>
              </a:spcAft>
            </a:pPr>
            <a:r>
              <a:rPr lang="en-US" dirty="0"/>
              <a:t>F1: +$100M</a:t>
            </a:r>
          </a:p>
          <a:p>
            <a:pPr>
              <a:spcBef>
                <a:spcPts val="500"/>
              </a:spcBef>
              <a:spcAft>
                <a:spcPts val="500"/>
              </a:spcAft>
            </a:pPr>
            <a:r>
              <a:rPr lang="en-US" dirty="0"/>
              <a:t>F2: 10%</a:t>
            </a:r>
          </a:p>
          <a:p>
            <a:pPr>
              <a:spcBef>
                <a:spcPts val="500"/>
              </a:spcBef>
              <a:spcAft>
                <a:spcPts val="500"/>
              </a:spcAft>
            </a:pPr>
            <a:r>
              <a:rPr lang="en-US" dirty="0"/>
              <a:t>F3: 18%</a:t>
            </a:r>
          </a:p>
        </p:txBody>
      </p:sp>
      <p:sp>
        <p:nvSpPr>
          <p:cNvPr id="115" name="TextBox 114">
            <a:extLst>
              <a:ext uri="{FF2B5EF4-FFF2-40B4-BE49-F238E27FC236}">
                <a16:creationId xmlns:a16="http://schemas.microsoft.com/office/drawing/2014/main" id="{0BC4557B-C2C6-976B-E7E3-02219D08A062}"/>
              </a:ext>
            </a:extLst>
          </p:cNvPr>
          <p:cNvSpPr txBox="1"/>
          <p:nvPr/>
        </p:nvSpPr>
        <p:spPr>
          <a:xfrm>
            <a:off x="7802332" y="3192997"/>
            <a:ext cx="1219692"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500"/>
              </a:spcBef>
              <a:spcAft>
                <a:spcPts val="500"/>
              </a:spcAft>
            </a:pPr>
            <a:r>
              <a:rPr lang="en-US" dirty="0"/>
              <a:t>C1: 50%</a:t>
            </a:r>
          </a:p>
          <a:p>
            <a:pPr>
              <a:spcBef>
                <a:spcPts val="500"/>
              </a:spcBef>
              <a:spcAft>
                <a:spcPts val="500"/>
              </a:spcAft>
            </a:pPr>
            <a:r>
              <a:rPr lang="en-US" dirty="0"/>
              <a:t>C2: $300</a:t>
            </a:r>
          </a:p>
          <a:p>
            <a:pPr>
              <a:spcBef>
                <a:spcPts val="500"/>
              </a:spcBef>
              <a:spcAft>
                <a:spcPts val="500"/>
              </a:spcAft>
            </a:pPr>
            <a:r>
              <a:rPr lang="en-US" dirty="0"/>
              <a:t>C3: $75</a:t>
            </a:r>
          </a:p>
        </p:txBody>
      </p:sp>
      <p:sp>
        <p:nvSpPr>
          <p:cNvPr id="116" name="TextBox 115">
            <a:extLst>
              <a:ext uri="{FF2B5EF4-FFF2-40B4-BE49-F238E27FC236}">
                <a16:creationId xmlns:a16="http://schemas.microsoft.com/office/drawing/2014/main" id="{0C65F42C-F0E4-60AA-79EA-0A8397C7C8C2}"/>
              </a:ext>
            </a:extLst>
          </p:cNvPr>
          <p:cNvSpPr txBox="1"/>
          <p:nvPr/>
        </p:nvSpPr>
        <p:spPr>
          <a:xfrm>
            <a:off x="7802332" y="4335224"/>
            <a:ext cx="1219692" cy="1008196"/>
          </a:xfrm>
          <a:prstGeom prst="rect">
            <a:avLst/>
          </a:prstGeom>
          <a:noFill/>
        </p:spPr>
        <p:txBody>
          <a:bodyPr wrap="square" rtlCol="0" anchor="ctr">
            <a:noAutofit/>
          </a:bodyPr>
          <a:lstStyle/>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I1: 0.52%</a:t>
            </a:r>
          </a:p>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I2: $250k</a:t>
            </a:r>
          </a:p>
          <a:p>
            <a:pPr marL="0" marR="0" lvl="0" indent="0" defTabSz="914400" rtl="0" eaLnBrk="1" fontAlgn="auto" latinLnBrk="0" hangingPunct="1">
              <a:lnSpc>
                <a:spcPct val="100000"/>
              </a:lnSpc>
              <a:spcBef>
                <a:spcPts val="500"/>
              </a:spcBef>
              <a:spcAft>
                <a:spcPts val="500"/>
              </a:spcAft>
              <a:buClrTx/>
              <a:buSzTx/>
              <a:buFontTx/>
              <a:buNone/>
              <a:tabLst/>
              <a:defRPr/>
            </a:pP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I3: 60%</a:t>
            </a:r>
          </a:p>
        </p:txBody>
      </p:sp>
      <p:sp>
        <p:nvSpPr>
          <p:cNvPr id="117" name="TextBox 116">
            <a:extLst>
              <a:ext uri="{FF2B5EF4-FFF2-40B4-BE49-F238E27FC236}">
                <a16:creationId xmlns:a16="http://schemas.microsoft.com/office/drawing/2014/main" id="{4DFB2657-D11B-1429-D83B-3B1AC94A55AE}"/>
              </a:ext>
            </a:extLst>
          </p:cNvPr>
          <p:cNvSpPr txBox="1"/>
          <p:nvPr/>
        </p:nvSpPr>
        <p:spPr>
          <a:xfrm>
            <a:off x="7802332" y="5477450"/>
            <a:ext cx="1219692" cy="1008196"/>
          </a:xfrm>
          <a:prstGeom prst="rect">
            <a:avLst/>
          </a:prstGeom>
          <a:no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kumimoji="0" sz="1200" i="0" u="none" strike="noStrike" cap="none" spc="0" normalizeH="0" baseline="0">
                <a:ln>
                  <a:noFill/>
                </a:ln>
                <a:solidFill>
                  <a:srgbClr val="002060"/>
                </a:solidFill>
                <a:effectLst/>
                <a:uLnTx/>
                <a:uFillTx/>
                <a:latin typeface="Arial" panose="020B0604020202020204"/>
              </a:defRPr>
            </a:lvl1pPr>
          </a:lstStyle>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1: 60%</a:t>
            </a:r>
          </a:p>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2: 62%</a:t>
            </a:r>
          </a:p>
          <a:p>
            <a:pPr marL="0" marR="0" lvl="0" indent="0" defTabSz="914400" rtl="0" eaLnBrk="1" fontAlgn="auto" latinLnBrk="0" hangingPunct="1">
              <a:lnSpc>
                <a:spcPct val="100000"/>
              </a:lnSpc>
              <a:spcBef>
                <a:spcPts val="500"/>
              </a:spcBef>
              <a:spcAft>
                <a:spcPts val="500"/>
              </a:spcAft>
              <a:buClrTx/>
              <a:buSzTx/>
              <a:buFontTx/>
              <a:buNone/>
              <a:tabLst/>
              <a:defRPr/>
            </a:pPr>
            <a:r>
              <a:rPr lang="en-US" sz="1200" dirty="0">
                <a:solidFill>
                  <a:srgbClr val="002060"/>
                </a:solidFill>
                <a:latin typeface="Arial" panose="020B0604020202020204"/>
              </a:rPr>
              <a:t>L</a:t>
            </a:r>
            <a:r>
              <a:rPr kumimoji="0" lang="en-US" sz="1200" i="0" u="none" strike="noStrike" kern="1200" cap="none" spc="0" normalizeH="0" baseline="0" noProof="0" dirty="0">
                <a:ln>
                  <a:noFill/>
                </a:ln>
                <a:solidFill>
                  <a:srgbClr val="002060"/>
                </a:solidFill>
                <a:effectLst/>
                <a:uLnTx/>
                <a:uFillTx/>
                <a:latin typeface="Arial" panose="020B0604020202020204"/>
                <a:ea typeface="+mn-ea"/>
                <a:cs typeface="+mn-cs"/>
              </a:rPr>
              <a:t>3: 200</a:t>
            </a:r>
          </a:p>
        </p:txBody>
      </p:sp>
      <p:sp>
        <p:nvSpPr>
          <p:cNvPr id="119" name="TextBox 118">
            <a:extLst>
              <a:ext uri="{FF2B5EF4-FFF2-40B4-BE49-F238E27FC236}">
                <a16:creationId xmlns:a16="http://schemas.microsoft.com/office/drawing/2014/main" id="{F9E481D9-6055-15DD-5570-EC5995A45A12}"/>
              </a:ext>
            </a:extLst>
          </p:cNvPr>
          <p:cNvSpPr txBox="1"/>
          <p:nvPr/>
        </p:nvSpPr>
        <p:spPr>
          <a:xfrm>
            <a:off x="10383510" y="2390170"/>
            <a:ext cx="1219692" cy="288000"/>
          </a:xfrm>
          <a:prstGeom prst="rect">
            <a:avLst/>
          </a:prstGeom>
          <a:solidFill>
            <a:schemeClr val="accent5">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F2: 11%</a:t>
            </a:r>
          </a:p>
        </p:txBody>
      </p:sp>
      <p:sp>
        <p:nvSpPr>
          <p:cNvPr id="120" name="TextBox 119">
            <a:extLst>
              <a:ext uri="{FF2B5EF4-FFF2-40B4-BE49-F238E27FC236}">
                <a16:creationId xmlns:a16="http://schemas.microsoft.com/office/drawing/2014/main" id="{58E0941A-BCE5-8E7E-B282-3260E1279E14}"/>
              </a:ext>
            </a:extLst>
          </p:cNvPr>
          <p:cNvSpPr txBox="1"/>
          <p:nvPr/>
        </p:nvSpPr>
        <p:spPr>
          <a:xfrm>
            <a:off x="10383510" y="2704857"/>
            <a:ext cx="1219692" cy="288000"/>
          </a:xfrm>
          <a:prstGeom prst="rect">
            <a:avLst/>
          </a:prstGeom>
          <a:solidFill>
            <a:schemeClr val="accent4">
              <a:lumMod val="20000"/>
              <a:lumOff val="80000"/>
            </a:schemeClr>
          </a:solidFill>
        </p:spPr>
        <p:txBody>
          <a:bodyPr wrap="square" rtlCol="0" anchor="ctr">
            <a:noAutofit/>
          </a:bodyPr>
          <a:lstStyle>
            <a:defPPr>
              <a:defRPr lang="en-US"/>
            </a:defPPr>
            <a:lvl1pPr marR="0" lvl="0" indent="0" fontAlgn="auto">
              <a:lnSpc>
                <a:spcPct val="100000"/>
              </a:lnSpc>
              <a:spcBef>
                <a:spcPts val="400"/>
              </a:spcBef>
              <a:spcAft>
                <a:spcPts val="400"/>
              </a:spcAft>
              <a:buClrTx/>
              <a:buSzTx/>
              <a:buFontTx/>
              <a:buNone/>
              <a:tabLst/>
              <a:defRPr sz="1200">
                <a:latin typeface="Arial" panose="020B0604020202020204"/>
              </a:defRPr>
            </a:lvl1pPr>
          </a:lstStyle>
          <a:p>
            <a:r>
              <a:rPr lang="en-US" dirty="0"/>
              <a:t>F3: 20%</a:t>
            </a:r>
          </a:p>
        </p:txBody>
      </p:sp>
      <p:sp>
        <p:nvSpPr>
          <p:cNvPr id="121" name="TextBox 120">
            <a:extLst>
              <a:ext uri="{FF2B5EF4-FFF2-40B4-BE49-F238E27FC236}">
                <a16:creationId xmlns:a16="http://schemas.microsoft.com/office/drawing/2014/main" id="{E6B3D946-9CAB-9630-9DFD-41F20E971566}"/>
              </a:ext>
            </a:extLst>
          </p:cNvPr>
          <p:cNvSpPr txBox="1"/>
          <p:nvPr/>
        </p:nvSpPr>
        <p:spPr>
          <a:xfrm>
            <a:off x="10383510" y="3249119"/>
            <a:ext cx="1219692" cy="288000"/>
          </a:xfrm>
          <a:prstGeom prst="rect">
            <a:avLst/>
          </a:prstGeom>
          <a:solidFill>
            <a:schemeClr val="accent4">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C1: 60%</a:t>
            </a:r>
          </a:p>
        </p:txBody>
      </p:sp>
      <p:sp>
        <p:nvSpPr>
          <p:cNvPr id="122" name="TextBox 121">
            <a:extLst>
              <a:ext uri="{FF2B5EF4-FFF2-40B4-BE49-F238E27FC236}">
                <a16:creationId xmlns:a16="http://schemas.microsoft.com/office/drawing/2014/main" id="{9E9B25B5-6787-3980-77CB-CF7C7DA4C0AD}"/>
              </a:ext>
            </a:extLst>
          </p:cNvPr>
          <p:cNvSpPr txBox="1"/>
          <p:nvPr/>
        </p:nvSpPr>
        <p:spPr>
          <a:xfrm>
            <a:off x="10383510" y="3563805"/>
            <a:ext cx="1219692" cy="288000"/>
          </a:xfrm>
          <a:prstGeom prst="rect">
            <a:avLst/>
          </a:prstGeom>
          <a:solidFill>
            <a:schemeClr val="accent5">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C2: $315</a:t>
            </a:r>
          </a:p>
        </p:txBody>
      </p:sp>
      <p:sp>
        <p:nvSpPr>
          <p:cNvPr id="123" name="TextBox 122">
            <a:extLst>
              <a:ext uri="{FF2B5EF4-FFF2-40B4-BE49-F238E27FC236}">
                <a16:creationId xmlns:a16="http://schemas.microsoft.com/office/drawing/2014/main" id="{D0994960-56BD-62E4-4E1A-CF201B2F204D}"/>
              </a:ext>
            </a:extLst>
          </p:cNvPr>
          <p:cNvSpPr txBox="1"/>
          <p:nvPr/>
        </p:nvSpPr>
        <p:spPr>
          <a:xfrm>
            <a:off x="10383510" y="3878492"/>
            <a:ext cx="1219692" cy="288000"/>
          </a:xfrm>
          <a:prstGeom prst="rect">
            <a:avLst/>
          </a:prstGeom>
          <a:solidFill>
            <a:schemeClr val="accent6">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C3: $76</a:t>
            </a:r>
          </a:p>
        </p:txBody>
      </p:sp>
      <p:sp>
        <p:nvSpPr>
          <p:cNvPr id="127" name="TextBox 126">
            <a:extLst>
              <a:ext uri="{FF2B5EF4-FFF2-40B4-BE49-F238E27FC236}">
                <a16:creationId xmlns:a16="http://schemas.microsoft.com/office/drawing/2014/main" id="{E4B3A108-02CF-3283-624E-0F346F86C677}"/>
              </a:ext>
            </a:extLst>
          </p:cNvPr>
          <p:cNvSpPr txBox="1"/>
          <p:nvPr/>
        </p:nvSpPr>
        <p:spPr>
          <a:xfrm>
            <a:off x="10383510" y="4410143"/>
            <a:ext cx="1219692" cy="288000"/>
          </a:xfrm>
          <a:prstGeom prst="rect">
            <a:avLst/>
          </a:prstGeom>
          <a:solidFill>
            <a:schemeClr val="accent4">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I1: 0.42%</a:t>
            </a:r>
          </a:p>
        </p:txBody>
      </p:sp>
      <p:sp>
        <p:nvSpPr>
          <p:cNvPr id="128" name="TextBox 127">
            <a:extLst>
              <a:ext uri="{FF2B5EF4-FFF2-40B4-BE49-F238E27FC236}">
                <a16:creationId xmlns:a16="http://schemas.microsoft.com/office/drawing/2014/main" id="{DA090268-C9D6-C66E-7447-C3BB1E7F4F28}"/>
              </a:ext>
            </a:extLst>
          </p:cNvPr>
          <p:cNvSpPr txBox="1"/>
          <p:nvPr/>
        </p:nvSpPr>
        <p:spPr>
          <a:xfrm>
            <a:off x="10383510" y="4724829"/>
            <a:ext cx="1219692" cy="288000"/>
          </a:xfrm>
          <a:prstGeom prst="rect">
            <a:avLst/>
          </a:prstGeom>
          <a:solidFill>
            <a:schemeClr val="accent5">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I2: $270k</a:t>
            </a:r>
          </a:p>
        </p:txBody>
      </p:sp>
      <p:sp>
        <p:nvSpPr>
          <p:cNvPr id="129" name="TextBox 128">
            <a:extLst>
              <a:ext uri="{FF2B5EF4-FFF2-40B4-BE49-F238E27FC236}">
                <a16:creationId xmlns:a16="http://schemas.microsoft.com/office/drawing/2014/main" id="{937BB35C-4FA6-23D4-5C14-E17509FC1B2D}"/>
              </a:ext>
            </a:extLst>
          </p:cNvPr>
          <p:cNvSpPr txBox="1"/>
          <p:nvPr/>
        </p:nvSpPr>
        <p:spPr>
          <a:xfrm>
            <a:off x="10383510" y="5039516"/>
            <a:ext cx="1219692" cy="288000"/>
          </a:xfrm>
          <a:prstGeom prst="rect">
            <a:avLst/>
          </a:prstGeom>
          <a:solidFill>
            <a:schemeClr val="accent4">
              <a:lumMod val="20000"/>
              <a:lumOff val="80000"/>
            </a:schemeClr>
          </a:solidFill>
        </p:spPr>
        <p:txBody>
          <a:bodyPr wrap="square" rtlCol="0" anchor="ctr">
            <a:noAutofit/>
          </a:bodyPr>
          <a:lstStyle>
            <a:defPPr>
              <a:defRPr lang="en-US"/>
            </a:defPPr>
            <a:lvl1pPr marR="0" lvl="0" indent="0" fontAlgn="auto">
              <a:lnSpc>
                <a:spcPct val="100000"/>
              </a:lnSpc>
              <a:spcBef>
                <a:spcPts val="400"/>
              </a:spcBef>
              <a:spcAft>
                <a:spcPts val="400"/>
              </a:spcAft>
              <a:buClrTx/>
              <a:buSzTx/>
              <a:buFontTx/>
              <a:buNone/>
              <a:tabLst/>
              <a:defRPr sz="1200">
                <a:latin typeface="Arial" panose="020B0604020202020204"/>
              </a:defRPr>
            </a:lvl1pPr>
          </a:lstStyle>
          <a:p>
            <a:r>
              <a:rPr lang="en-US" dirty="0"/>
              <a:t>I3: 71%</a:t>
            </a:r>
          </a:p>
        </p:txBody>
      </p:sp>
      <p:sp>
        <p:nvSpPr>
          <p:cNvPr id="130" name="TextBox 129">
            <a:extLst>
              <a:ext uri="{FF2B5EF4-FFF2-40B4-BE49-F238E27FC236}">
                <a16:creationId xmlns:a16="http://schemas.microsoft.com/office/drawing/2014/main" id="{5E051C7C-F36E-88CF-0942-4B0A76509CF3}"/>
              </a:ext>
            </a:extLst>
          </p:cNvPr>
          <p:cNvSpPr txBox="1"/>
          <p:nvPr/>
        </p:nvSpPr>
        <p:spPr>
          <a:xfrm>
            <a:off x="10383510" y="5534610"/>
            <a:ext cx="1219692" cy="288000"/>
          </a:xfrm>
          <a:prstGeom prst="rect">
            <a:avLst/>
          </a:prstGeom>
          <a:solidFill>
            <a:schemeClr val="accent4">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I1: 72%</a:t>
            </a:r>
          </a:p>
        </p:txBody>
      </p:sp>
      <p:sp>
        <p:nvSpPr>
          <p:cNvPr id="131" name="TextBox 130">
            <a:extLst>
              <a:ext uri="{FF2B5EF4-FFF2-40B4-BE49-F238E27FC236}">
                <a16:creationId xmlns:a16="http://schemas.microsoft.com/office/drawing/2014/main" id="{B5297742-DEDD-12DF-78A2-A5C93297F99B}"/>
              </a:ext>
            </a:extLst>
          </p:cNvPr>
          <p:cNvSpPr txBox="1"/>
          <p:nvPr/>
        </p:nvSpPr>
        <p:spPr>
          <a:xfrm>
            <a:off x="10383510" y="5849296"/>
            <a:ext cx="1219692" cy="288000"/>
          </a:xfrm>
          <a:prstGeom prst="rect">
            <a:avLst/>
          </a:prstGeom>
          <a:solidFill>
            <a:schemeClr val="accent4">
              <a:lumMod val="20000"/>
              <a:lumOff val="80000"/>
            </a:schemeClr>
          </a:solidFill>
        </p:spPr>
        <p:txBody>
          <a:bodyPr wrap="square" rtlCol="0" anchor="ctr">
            <a:noAutofit/>
          </a:bodyPr>
          <a:lstStyle>
            <a:defPPr>
              <a:defRPr lang="en-US"/>
            </a:defPPr>
            <a:lvl1pPr marR="0" lvl="0" indent="0" fontAlgn="auto">
              <a:lnSpc>
                <a:spcPct val="100000"/>
              </a:lnSpc>
              <a:spcBef>
                <a:spcPts val="400"/>
              </a:spcBef>
              <a:spcAft>
                <a:spcPts val="400"/>
              </a:spcAft>
              <a:buClrTx/>
              <a:buSzTx/>
              <a:buFontTx/>
              <a:buNone/>
              <a:tabLst/>
              <a:defRPr sz="1200">
                <a:latin typeface="Arial" panose="020B0604020202020204"/>
              </a:defRPr>
            </a:lvl1pPr>
          </a:lstStyle>
          <a:p>
            <a:r>
              <a:rPr lang="en-US" dirty="0"/>
              <a:t>I2: 64%</a:t>
            </a:r>
          </a:p>
        </p:txBody>
      </p:sp>
      <p:sp>
        <p:nvSpPr>
          <p:cNvPr id="132" name="TextBox 131">
            <a:extLst>
              <a:ext uri="{FF2B5EF4-FFF2-40B4-BE49-F238E27FC236}">
                <a16:creationId xmlns:a16="http://schemas.microsoft.com/office/drawing/2014/main" id="{7FFC2A36-87BB-F9EF-343F-3FC9B707952A}"/>
              </a:ext>
            </a:extLst>
          </p:cNvPr>
          <p:cNvSpPr txBox="1"/>
          <p:nvPr/>
        </p:nvSpPr>
        <p:spPr>
          <a:xfrm>
            <a:off x="10383510" y="6163983"/>
            <a:ext cx="1219692" cy="288000"/>
          </a:xfrm>
          <a:prstGeom prst="rect">
            <a:avLst/>
          </a:prstGeom>
          <a:solidFill>
            <a:schemeClr val="accent6">
              <a:lumMod val="20000"/>
              <a:lumOff val="80000"/>
            </a:schemeClr>
          </a:solidFill>
        </p:spPr>
        <p:txBody>
          <a:bodyPr wrap="square" rtlCol="0" anchor="ctr">
            <a:noAutofit/>
          </a:bodyPr>
          <a:lstStyle>
            <a:defPPr>
              <a:defRPr lang="en-US"/>
            </a:defPPr>
            <a:lvl1pPr marR="0" lvl="0" indent="0" fontAlgn="auto">
              <a:lnSpc>
                <a:spcPct val="100000"/>
              </a:lnSpc>
              <a:spcBef>
                <a:spcPts val="200"/>
              </a:spcBef>
              <a:spcAft>
                <a:spcPts val="200"/>
              </a:spcAft>
              <a:buClrTx/>
              <a:buSzTx/>
              <a:buFontTx/>
              <a:buNone/>
              <a:tabLst/>
              <a:defRPr sz="1200">
                <a:solidFill>
                  <a:srgbClr val="002060"/>
                </a:solidFill>
                <a:latin typeface="Arial" panose="020B0604020202020204"/>
              </a:defRPr>
            </a:lvl1pPr>
          </a:lstStyle>
          <a:p>
            <a:pPr>
              <a:spcBef>
                <a:spcPts val="400"/>
              </a:spcBef>
              <a:spcAft>
                <a:spcPts val="400"/>
              </a:spcAft>
            </a:pPr>
            <a:r>
              <a:rPr lang="en-US" dirty="0">
                <a:solidFill>
                  <a:schemeClr val="tx1"/>
                </a:solidFill>
              </a:rPr>
              <a:t>I3: 250</a:t>
            </a:r>
          </a:p>
        </p:txBody>
      </p:sp>
      <p:pic>
        <p:nvPicPr>
          <p:cNvPr id="8" name="Graphic 7" descr="Money outline">
            <a:extLst>
              <a:ext uri="{FF2B5EF4-FFF2-40B4-BE49-F238E27FC236}">
                <a16:creationId xmlns:a16="http://schemas.microsoft.com/office/drawing/2014/main" id="{7EE9B681-7BB8-3143-8D58-81544A07D74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8290" y="2449315"/>
            <a:ext cx="565701" cy="565701"/>
          </a:xfrm>
          <a:prstGeom prst="rect">
            <a:avLst/>
          </a:prstGeom>
        </p:spPr>
      </p:pic>
      <p:pic>
        <p:nvPicPr>
          <p:cNvPr id="12" name="Graphic 11" descr="Books outline">
            <a:extLst>
              <a:ext uri="{FF2B5EF4-FFF2-40B4-BE49-F238E27FC236}">
                <a16:creationId xmlns:a16="http://schemas.microsoft.com/office/drawing/2014/main" id="{831C3104-50BC-ECC9-8F90-0F4C98C69D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6757" y="6027007"/>
            <a:ext cx="484877" cy="484877"/>
          </a:xfrm>
          <a:prstGeom prst="rect">
            <a:avLst/>
          </a:prstGeom>
        </p:spPr>
      </p:pic>
      <p:pic>
        <p:nvPicPr>
          <p:cNvPr id="15" name="Graphic 14" descr="Customer review outline">
            <a:extLst>
              <a:ext uri="{FF2B5EF4-FFF2-40B4-BE49-F238E27FC236}">
                <a16:creationId xmlns:a16="http://schemas.microsoft.com/office/drawing/2014/main" id="{E2DEF22F-F50F-AF81-D9EF-40665E39449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8290" y="3537119"/>
            <a:ext cx="612529" cy="612529"/>
          </a:xfrm>
          <a:prstGeom prst="rect">
            <a:avLst/>
          </a:prstGeom>
        </p:spPr>
      </p:pic>
      <p:pic>
        <p:nvPicPr>
          <p:cNvPr id="18" name="Graphic 17" descr="Workflow outline">
            <a:extLst>
              <a:ext uri="{FF2B5EF4-FFF2-40B4-BE49-F238E27FC236}">
                <a16:creationId xmlns:a16="http://schemas.microsoft.com/office/drawing/2014/main" id="{33613BE3-F312-3624-892D-C74395065B5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26714" y="4871279"/>
            <a:ext cx="523081" cy="523081"/>
          </a:xfrm>
          <a:prstGeom prst="rect">
            <a:avLst/>
          </a:prstGeom>
        </p:spPr>
      </p:pic>
      <p:sp>
        <p:nvSpPr>
          <p:cNvPr id="21" name="Rounded Rectangle 131">
            <a:extLst>
              <a:ext uri="{FF2B5EF4-FFF2-40B4-BE49-F238E27FC236}">
                <a16:creationId xmlns:a16="http://schemas.microsoft.com/office/drawing/2014/main" id="{0764D88D-5D5E-B8F7-02EF-ACFB078445BB}"/>
              </a:ext>
            </a:extLst>
          </p:cNvPr>
          <p:cNvSpPr/>
          <p:nvPr/>
        </p:nvSpPr>
        <p:spPr bwMode="auto">
          <a:xfrm>
            <a:off x="7652592" y="1279833"/>
            <a:ext cx="1296000" cy="180000"/>
          </a:xfrm>
          <a:prstGeom prst="roundRect">
            <a:avLst>
              <a:gd name="adj" fmla="val 3792"/>
            </a:avLst>
          </a:prstGeom>
          <a:solidFill>
            <a:schemeClr val="accent4">
              <a:lumMod val="20000"/>
              <a:lumOff val="80000"/>
            </a:schemeClr>
          </a:solidFill>
        </p:spPr>
        <p:txBody>
          <a:bodyPr wrap="square" lIns="36000" rIns="36000" rtlCol="0" anchor="ctr">
            <a:noAutofit/>
          </a:bodyPr>
          <a:lstStyle/>
          <a:p>
            <a:pPr>
              <a:spcBef>
                <a:spcPts val="400"/>
              </a:spcBef>
              <a:spcAft>
                <a:spcPts val="400"/>
              </a:spcAft>
            </a:pPr>
            <a:r>
              <a:rPr lang="en-US" sz="1050" dirty="0">
                <a:latin typeface="Arial" panose="020B0604020202020204"/>
              </a:rPr>
              <a:t>Meeting target</a:t>
            </a:r>
          </a:p>
        </p:txBody>
      </p:sp>
      <p:sp>
        <p:nvSpPr>
          <p:cNvPr id="22" name="Rounded Rectangle 117">
            <a:extLst>
              <a:ext uri="{FF2B5EF4-FFF2-40B4-BE49-F238E27FC236}">
                <a16:creationId xmlns:a16="http://schemas.microsoft.com/office/drawing/2014/main" id="{00C0884F-0A5F-69A8-48F2-3DCDB84C173D}"/>
              </a:ext>
            </a:extLst>
          </p:cNvPr>
          <p:cNvSpPr/>
          <p:nvPr/>
        </p:nvSpPr>
        <p:spPr bwMode="auto">
          <a:xfrm>
            <a:off x="8975380" y="1279833"/>
            <a:ext cx="1296000" cy="180000"/>
          </a:xfrm>
          <a:prstGeom prst="roundRect">
            <a:avLst>
              <a:gd name="adj" fmla="val 3792"/>
            </a:avLst>
          </a:prstGeom>
          <a:solidFill>
            <a:schemeClr val="accent5">
              <a:lumMod val="20000"/>
              <a:lumOff val="80000"/>
            </a:schemeClr>
          </a:solidFill>
        </p:spPr>
        <p:txBody>
          <a:bodyPr wrap="square" lIns="36000" rIns="36000" rtlCol="0" anchor="ctr">
            <a:noAutofit/>
          </a:bodyPr>
          <a:lstStyle/>
          <a:p>
            <a:pPr>
              <a:spcBef>
                <a:spcPts val="400"/>
              </a:spcBef>
              <a:spcAft>
                <a:spcPts val="400"/>
              </a:spcAft>
            </a:pPr>
            <a:r>
              <a:rPr lang="en-US" sz="1050" dirty="0">
                <a:latin typeface="Arial" panose="020B0604020202020204"/>
              </a:rPr>
              <a:t>Slightly below target</a:t>
            </a:r>
          </a:p>
        </p:txBody>
      </p:sp>
      <p:sp>
        <p:nvSpPr>
          <p:cNvPr id="23" name="Rounded Rectangle 115">
            <a:extLst>
              <a:ext uri="{FF2B5EF4-FFF2-40B4-BE49-F238E27FC236}">
                <a16:creationId xmlns:a16="http://schemas.microsoft.com/office/drawing/2014/main" id="{F8012E79-4108-08AA-636B-8C0E75D1DFCC}"/>
              </a:ext>
            </a:extLst>
          </p:cNvPr>
          <p:cNvSpPr/>
          <p:nvPr/>
        </p:nvSpPr>
        <p:spPr bwMode="auto">
          <a:xfrm>
            <a:off x="10298168" y="1279833"/>
            <a:ext cx="1296000" cy="180000"/>
          </a:xfrm>
          <a:prstGeom prst="roundRect">
            <a:avLst>
              <a:gd name="adj" fmla="val 3792"/>
            </a:avLst>
          </a:prstGeom>
          <a:solidFill>
            <a:schemeClr val="accent6">
              <a:lumMod val="20000"/>
              <a:lumOff val="80000"/>
            </a:schemeClr>
          </a:solidFill>
        </p:spPr>
        <p:txBody>
          <a:bodyPr wrap="square" lIns="36000" rIns="36000" rtlCol="0" anchor="ctr">
            <a:noAutofit/>
          </a:bodyPr>
          <a:lstStyle/>
          <a:p>
            <a:pPr>
              <a:spcBef>
                <a:spcPts val="400"/>
              </a:spcBef>
              <a:spcAft>
                <a:spcPts val="400"/>
              </a:spcAft>
            </a:pPr>
            <a:r>
              <a:rPr lang="en-US" sz="1050" dirty="0">
                <a:latin typeface="Arial" panose="020B0604020202020204"/>
              </a:rPr>
              <a:t>Below target</a:t>
            </a:r>
          </a:p>
        </p:txBody>
      </p:sp>
      <p:sp>
        <p:nvSpPr>
          <p:cNvPr id="3" name="TextBox 2">
            <a:extLst>
              <a:ext uri="{FF2B5EF4-FFF2-40B4-BE49-F238E27FC236}">
                <a16:creationId xmlns:a16="http://schemas.microsoft.com/office/drawing/2014/main" id="{8FD1D6D6-C334-B7BB-B106-E2652DAF9A8A}"/>
              </a:ext>
            </a:extLst>
          </p:cNvPr>
          <p:cNvSpPr txBox="1"/>
          <p:nvPr/>
        </p:nvSpPr>
        <p:spPr>
          <a:xfrm>
            <a:off x="518055" y="6571943"/>
            <a:ext cx="7200000" cy="246221"/>
          </a:xfrm>
          <a:prstGeom prst="rect">
            <a:avLst/>
          </a:prstGeom>
          <a:noFill/>
        </p:spPr>
        <p:txBody>
          <a:bodyPr wrap="square" rtlCol="0" anchor="ctr">
            <a:spAutoFit/>
          </a:bodyPr>
          <a:lstStyle/>
          <a:p>
            <a:pPr>
              <a:spcBef>
                <a:spcPts val="400"/>
              </a:spcBef>
              <a:spcAft>
                <a:spcPts val="400"/>
              </a:spcAft>
            </a:pPr>
            <a:r>
              <a:rPr lang="en-US" sz="1000" dirty="0">
                <a:solidFill>
                  <a:schemeClr val="bg1">
                    <a:lumMod val="65000"/>
                  </a:schemeClr>
                </a:solidFill>
              </a:rPr>
              <a:t>Source: Company’s [insert name] software</a:t>
            </a:r>
          </a:p>
        </p:txBody>
      </p:sp>
    </p:spTree>
    <p:extLst>
      <p:ext uri="{BB962C8B-B14F-4D97-AF65-F5344CB8AC3E}">
        <p14:creationId xmlns:p14="http://schemas.microsoft.com/office/powerpoint/2010/main" val="1795654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9877CA-60E6-9F16-39F4-71704ED312C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think-cell data - do not delete" hidden="1">
                        <a:extLst>
                          <a:ext uri="{FF2B5EF4-FFF2-40B4-BE49-F238E27FC236}">
                            <a16:creationId xmlns:a16="http://schemas.microsoft.com/office/drawing/2014/main" id="{7C9877CA-60E6-9F16-39F4-71704ED312CF}"/>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457D5C2-ECFC-B2ED-9F89-C60AA898C68B}"/>
              </a:ext>
            </a:extLst>
          </p:cNvPr>
          <p:cNvSpPr>
            <a:spLocks noGrp="1"/>
          </p:cNvSpPr>
          <p:nvPr>
            <p:ph type="title"/>
          </p:nvPr>
        </p:nvSpPr>
        <p:spPr/>
        <p:txBody>
          <a:bodyPr vert="horz"/>
          <a:lstStyle/>
          <a:p>
            <a:r>
              <a:rPr lang="en-US" dirty="0"/>
              <a:t>The profit across all BUs has been increasing over the past 5 years [insert your own text]</a:t>
            </a:r>
          </a:p>
        </p:txBody>
      </p:sp>
      <p:graphicFrame>
        <p:nvGraphicFramePr>
          <p:cNvPr id="7" name="Chart 6">
            <a:extLst>
              <a:ext uri="{FF2B5EF4-FFF2-40B4-BE49-F238E27FC236}">
                <a16:creationId xmlns:a16="http://schemas.microsoft.com/office/drawing/2014/main" id="{38F45995-B431-BC92-AEFD-8AE44EB5B74E}"/>
              </a:ext>
            </a:extLst>
          </p:cNvPr>
          <p:cNvGraphicFramePr/>
          <p:nvPr>
            <p:custDataLst>
              <p:tags r:id="rId2"/>
            </p:custDataLst>
          </p:nvPr>
        </p:nvGraphicFramePr>
        <p:xfrm>
          <a:off x="471488" y="1873250"/>
          <a:ext cx="5614987" cy="2260600"/>
        </p:xfrm>
        <a:graphic>
          <a:graphicData uri="http://schemas.openxmlformats.org/drawingml/2006/chart">
            <c:chart xmlns:c="http://schemas.openxmlformats.org/drawingml/2006/chart" xmlns:r="http://schemas.openxmlformats.org/officeDocument/2006/relationships" r:id="rId9"/>
          </a:graphicData>
        </a:graphic>
      </p:graphicFrame>
      <p:grpSp>
        <p:nvGrpSpPr>
          <p:cNvPr id="76" name="Group 75">
            <a:extLst>
              <a:ext uri="{FF2B5EF4-FFF2-40B4-BE49-F238E27FC236}">
                <a16:creationId xmlns:a16="http://schemas.microsoft.com/office/drawing/2014/main" id="{E2950EDA-0C27-0725-D3C3-0722B39E4352}"/>
              </a:ext>
            </a:extLst>
          </p:cNvPr>
          <p:cNvGrpSpPr/>
          <p:nvPr/>
        </p:nvGrpSpPr>
        <p:grpSpPr>
          <a:xfrm>
            <a:off x="599178" y="1620838"/>
            <a:ext cx="5127265" cy="338138"/>
            <a:chOff x="599178" y="1686792"/>
            <a:chExt cx="5127265" cy="338554"/>
          </a:xfrm>
        </p:grpSpPr>
        <p:cxnSp>
          <p:nvCxnSpPr>
            <p:cNvPr id="77" name="Straight Connector 76">
              <a:extLst>
                <a:ext uri="{FF2B5EF4-FFF2-40B4-BE49-F238E27FC236}">
                  <a16:creationId xmlns:a16="http://schemas.microsoft.com/office/drawing/2014/main" id="{E221CB47-9E62-48E1-E5CB-88552EEA858C}"/>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D219129-D56C-8DE0-5BA2-6014233ACF79}"/>
                </a:ext>
              </a:extLst>
            </p:cNvPr>
            <p:cNvSpPr txBox="1"/>
            <p:nvPr/>
          </p:nvSpPr>
          <p:spPr>
            <a:xfrm>
              <a:off x="599178" y="1686792"/>
              <a:ext cx="5112000" cy="338554"/>
            </a:xfrm>
            <a:prstGeom prst="rect">
              <a:avLst/>
            </a:prstGeom>
            <a:noFill/>
          </p:spPr>
          <p:txBody>
            <a:bodyPr wrap="square" rtlCol="0">
              <a:spAutoFit/>
            </a:bodyPr>
            <a:lstStyle/>
            <a:p>
              <a:r>
                <a:rPr lang="en-US" sz="1600" b="1" dirty="0"/>
                <a:t>BU 1 Profit ($M)</a:t>
              </a:r>
            </a:p>
          </p:txBody>
        </p:sp>
      </p:grpSp>
      <p:grpSp>
        <p:nvGrpSpPr>
          <p:cNvPr id="79" name="Group 78">
            <a:extLst>
              <a:ext uri="{FF2B5EF4-FFF2-40B4-BE49-F238E27FC236}">
                <a16:creationId xmlns:a16="http://schemas.microsoft.com/office/drawing/2014/main" id="{C8F96E19-C758-8545-E770-83C35080B556}"/>
              </a:ext>
            </a:extLst>
          </p:cNvPr>
          <p:cNvGrpSpPr/>
          <p:nvPr/>
        </p:nvGrpSpPr>
        <p:grpSpPr>
          <a:xfrm>
            <a:off x="6403975" y="1620838"/>
            <a:ext cx="5127625" cy="338138"/>
            <a:chOff x="599178" y="1686792"/>
            <a:chExt cx="5127265" cy="338554"/>
          </a:xfrm>
        </p:grpSpPr>
        <p:cxnSp>
          <p:nvCxnSpPr>
            <p:cNvPr id="80" name="Straight Connector 79">
              <a:extLst>
                <a:ext uri="{FF2B5EF4-FFF2-40B4-BE49-F238E27FC236}">
                  <a16:creationId xmlns:a16="http://schemas.microsoft.com/office/drawing/2014/main" id="{84DDCF6E-BB30-533A-4DA8-78CEB3AD0C4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D4913B5B-D56A-AE9A-BB4B-84BD2754B757}"/>
                </a:ext>
              </a:extLst>
            </p:cNvPr>
            <p:cNvSpPr txBox="1"/>
            <p:nvPr/>
          </p:nvSpPr>
          <p:spPr>
            <a:xfrm>
              <a:off x="599178" y="1686792"/>
              <a:ext cx="5112000" cy="338554"/>
            </a:xfrm>
            <a:prstGeom prst="rect">
              <a:avLst/>
            </a:prstGeom>
            <a:noFill/>
          </p:spPr>
          <p:txBody>
            <a:bodyPr wrap="square" rtlCol="0">
              <a:spAutoFit/>
            </a:bodyPr>
            <a:lstStyle/>
            <a:p>
              <a:r>
                <a:rPr lang="en-US" sz="1600" b="1" dirty="0"/>
                <a:t>BU 2 Profit ($M)</a:t>
              </a:r>
            </a:p>
          </p:txBody>
        </p:sp>
      </p:grpSp>
      <p:graphicFrame>
        <p:nvGraphicFramePr>
          <p:cNvPr id="8" name="Chart 7">
            <a:extLst>
              <a:ext uri="{FF2B5EF4-FFF2-40B4-BE49-F238E27FC236}">
                <a16:creationId xmlns:a16="http://schemas.microsoft.com/office/drawing/2014/main" id="{F37C352C-DA9E-B2C1-43E4-E6398EB27841}"/>
              </a:ext>
            </a:extLst>
          </p:cNvPr>
          <p:cNvGraphicFramePr/>
          <p:nvPr>
            <p:custDataLst>
              <p:tags r:id="rId3"/>
            </p:custDataLst>
          </p:nvPr>
        </p:nvGraphicFramePr>
        <p:xfrm>
          <a:off x="6319838" y="1873250"/>
          <a:ext cx="5614987" cy="226060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9" name="Chart 8">
            <a:extLst>
              <a:ext uri="{FF2B5EF4-FFF2-40B4-BE49-F238E27FC236}">
                <a16:creationId xmlns:a16="http://schemas.microsoft.com/office/drawing/2014/main" id="{64D13E5E-0432-6083-5157-AD6C2B5A0488}"/>
              </a:ext>
            </a:extLst>
          </p:cNvPr>
          <p:cNvGraphicFramePr/>
          <p:nvPr>
            <p:custDataLst>
              <p:tags r:id="rId4"/>
            </p:custDataLst>
          </p:nvPr>
        </p:nvGraphicFramePr>
        <p:xfrm>
          <a:off x="471488" y="4364038"/>
          <a:ext cx="5614987" cy="2260600"/>
        </p:xfrm>
        <a:graphic>
          <a:graphicData uri="http://schemas.openxmlformats.org/drawingml/2006/chart">
            <c:chart xmlns:c="http://schemas.openxmlformats.org/drawingml/2006/chart" xmlns:r="http://schemas.openxmlformats.org/officeDocument/2006/relationships" r:id="rId11"/>
          </a:graphicData>
        </a:graphic>
      </p:graphicFrame>
      <p:grpSp>
        <p:nvGrpSpPr>
          <p:cNvPr id="157" name="Group 156">
            <a:extLst>
              <a:ext uri="{FF2B5EF4-FFF2-40B4-BE49-F238E27FC236}">
                <a16:creationId xmlns:a16="http://schemas.microsoft.com/office/drawing/2014/main" id="{37BBF11B-AD09-81C4-907B-D293E30498CE}"/>
              </a:ext>
            </a:extLst>
          </p:cNvPr>
          <p:cNvGrpSpPr/>
          <p:nvPr/>
        </p:nvGrpSpPr>
        <p:grpSpPr>
          <a:xfrm>
            <a:off x="598488" y="4111625"/>
            <a:ext cx="5127625" cy="338138"/>
            <a:chOff x="599178" y="1686792"/>
            <a:chExt cx="5127265" cy="338554"/>
          </a:xfrm>
        </p:grpSpPr>
        <p:cxnSp>
          <p:nvCxnSpPr>
            <p:cNvPr id="158" name="Straight Connector 157">
              <a:extLst>
                <a:ext uri="{FF2B5EF4-FFF2-40B4-BE49-F238E27FC236}">
                  <a16:creationId xmlns:a16="http://schemas.microsoft.com/office/drawing/2014/main" id="{63F6108D-B240-7F38-82F6-87E54E5A2B8C}"/>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880D23F1-A0CB-9B63-8119-2E19818022F6}"/>
                </a:ext>
              </a:extLst>
            </p:cNvPr>
            <p:cNvSpPr txBox="1"/>
            <p:nvPr/>
          </p:nvSpPr>
          <p:spPr>
            <a:xfrm>
              <a:off x="599178" y="1686792"/>
              <a:ext cx="5112000" cy="338554"/>
            </a:xfrm>
            <a:prstGeom prst="rect">
              <a:avLst/>
            </a:prstGeom>
            <a:noFill/>
          </p:spPr>
          <p:txBody>
            <a:bodyPr wrap="square" rtlCol="0">
              <a:spAutoFit/>
            </a:bodyPr>
            <a:lstStyle/>
            <a:p>
              <a:r>
                <a:rPr lang="en-US" sz="1600" b="1" dirty="0"/>
                <a:t>BU 3 Profit ($M)</a:t>
              </a:r>
            </a:p>
          </p:txBody>
        </p:sp>
      </p:grpSp>
      <p:grpSp>
        <p:nvGrpSpPr>
          <p:cNvPr id="160" name="Group 159">
            <a:extLst>
              <a:ext uri="{FF2B5EF4-FFF2-40B4-BE49-F238E27FC236}">
                <a16:creationId xmlns:a16="http://schemas.microsoft.com/office/drawing/2014/main" id="{E31D84AE-DE06-BAC0-3B44-D5E7679902A1}"/>
              </a:ext>
            </a:extLst>
          </p:cNvPr>
          <p:cNvGrpSpPr/>
          <p:nvPr/>
        </p:nvGrpSpPr>
        <p:grpSpPr>
          <a:xfrm>
            <a:off x="6403975" y="4111625"/>
            <a:ext cx="5127625" cy="338138"/>
            <a:chOff x="599178" y="1686792"/>
            <a:chExt cx="5127265" cy="338554"/>
          </a:xfrm>
        </p:grpSpPr>
        <p:cxnSp>
          <p:nvCxnSpPr>
            <p:cNvPr id="161" name="Straight Connector 160">
              <a:extLst>
                <a:ext uri="{FF2B5EF4-FFF2-40B4-BE49-F238E27FC236}">
                  <a16:creationId xmlns:a16="http://schemas.microsoft.com/office/drawing/2014/main" id="{7CD713E9-D702-0A1D-7FB1-722700F5B371}"/>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C2605638-C88A-A447-E685-D6AFEF8F3643}"/>
                </a:ext>
              </a:extLst>
            </p:cNvPr>
            <p:cNvSpPr txBox="1"/>
            <p:nvPr/>
          </p:nvSpPr>
          <p:spPr>
            <a:xfrm>
              <a:off x="599178" y="1686792"/>
              <a:ext cx="5112000" cy="338554"/>
            </a:xfrm>
            <a:prstGeom prst="rect">
              <a:avLst/>
            </a:prstGeom>
            <a:noFill/>
          </p:spPr>
          <p:txBody>
            <a:bodyPr wrap="square" rtlCol="0">
              <a:spAutoFit/>
            </a:bodyPr>
            <a:lstStyle/>
            <a:p>
              <a:r>
                <a:rPr lang="en-US" sz="1600" b="1" dirty="0"/>
                <a:t>BU 4 Profit ($M)</a:t>
              </a:r>
            </a:p>
          </p:txBody>
        </p:sp>
      </p:grpSp>
      <p:graphicFrame>
        <p:nvGraphicFramePr>
          <p:cNvPr id="10" name="Chart 9">
            <a:extLst>
              <a:ext uri="{FF2B5EF4-FFF2-40B4-BE49-F238E27FC236}">
                <a16:creationId xmlns:a16="http://schemas.microsoft.com/office/drawing/2014/main" id="{59A9612F-1598-E4F1-CE97-F150140EA184}"/>
              </a:ext>
            </a:extLst>
          </p:cNvPr>
          <p:cNvGraphicFramePr/>
          <p:nvPr>
            <p:custDataLst>
              <p:tags r:id="rId5"/>
            </p:custDataLst>
          </p:nvPr>
        </p:nvGraphicFramePr>
        <p:xfrm>
          <a:off x="6319838" y="4364038"/>
          <a:ext cx="5614987" cy="2260600"/>
        </p:xfrm>
        <a:graphic>
          <a:graphicData uri="http://schemas.openxmlformats.org/drawingml/2006/chart">
            <c:chart xmlns:c="http://schemas.openxmlformats.org/drawingml/2006/chart" xmlns:r="http://schemas.openxmlformats.org/officeDocument/2006/relationships" r:id="rId12"/>
          </a:graphicData>
        </a:graphic>
      </p:graphicFrame>
      <p:sp>
        <p:nvSpPr>
          <p:cNvPr id="4" name="Footer Placeholder 3">
            <a:extLst>
              <a:ext uri="{FF2B5EF4-FFF2-40B4-BE49-F238E27FC236}">
                <a16:creationId xmlns:a16="http://schemas.microsoft.com/office/drawing/2014/main" id="{D7CB99AF-7215-BA42-C9ED-2D0EA2E5C82D}"/>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59987901-9E5B-097A-63F3-2597AA5E18BD}"/>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3033696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28EFA89-FEEC-BE48-572A-F6A19D2B8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2" name="think-cell data - do not delete" hidden="1">
                        <a:extLst>
                          <a:ext uri="{FF2B5EF4-FFF2-40B4-BE49-F238E27FC236}">
                            <a16:creationId xmlns:a16="http://schemas.microsoft.com/office/drawing/2014/main" id="{328EFA89-FEEC-BE48-572A-F6A19D2B82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65590E-539F-014F-8D58-462B0C89CF48}"/>
              </a:ext>
            </a:extLst>
          </p:cNvPr>
          <p:cNvSpPr>
            <a:spLocks noGrp="1"/>
          </p:cNvSpPr>
          <p:nvPr>
            <p:ph type="title"/>
          </p:nvPr>
        </p:nvSpPr>
        <p:spPr/>
        <p:txBody>
          <a:bodyPr vert="horz"/>
          <a:lstStyle/>
          <a:p>
            <a:r>
              <a:rPr lang="en-US" dirty="0"/>
              <a:t>We decided to use the BCG matrix to help us better understand our current BU [if needed, replace BU by product] portfolio (1/2)</a:t>
            </a:r>
          </a:p>
        </p:txBody>
      </p:sp>
      <p:sp>
        <p:nvSpPr>
          <p:cNvPr id="21" name="TextBox 20">
            <a:extLst>
              <a:ext uri="{FF2B5EF4-FFF2-40B4-BE49-F238E27FC236}">
                <a16:creationId xmlns:a16="http://schemas.microsoft.com/office/drawing/2014/main" id="{DE56CD83-E3F9-F20A-6FE2-81FA7A3CFABD}"/>
              </a:ext>
            </a:extLst>
          </p:cNvPr>
          <p:cNvSpPr txBox="1"/>
          <p:nvPr/>
        </p:nvSpPr>
        <p:spPr>
          <a:xfrm>
            <a:off x="514350" y="1556115"/>
            <a:ext cx="11072812" cy="5070619"/>
          </a:xfrm>
          <a:prstGeom prst="rect">
            <a:avLst/>
          </a:prstGeom>
          <a:noFill/>
        </p:spPr>
        <p:txBody>
          <a:bodyPr wrap="square" rtlCol="0">
            <a:spAutoFit/>
          </a:bodyPr>
          <a:lstStyle/>
          <a:p>
            <a:pPr>
              <a:spcBef>
                <a:spcPts val="200"/>
              </a:spcBef>
              <a:spcAft>
                <a:spcPts val="200"/>
              </a:spcAft>
            </a:pPr>
            <a:r>
              <a:rPr lang="en-US" sz="1350" dirty="0"/>
              <a:t>The </a:t>
            </a:r>
            <a:r>
              <a:rPr lang="en-US" sz="1350" b="1" dirty="0"/>
              <a:t>BCG Growth-Share Matrix</a:t>
            </a:r>
            <a:r>
              <a:rPr lang="en-US" sz="1350" dirty="0"/>
              <a:t>, also known as the Boston Consulting Group Matrix, is a portfolio management tool that helps companies decide how to </a:t>
            </a:r>
            <a:r>
              <a:rPr lang="en-US" sz="1350" b="1" dirty="0"/>
              <a:t>prioritize their different businesses</a:t>
            </a:r>
            <a:r>
              <a:rPr lang="en-US" sz="1350" dirty="0"/>
              <a:t>. The matrix is split into four quadrants, each with its own unique symbol that represents a certain degree of profitability: question marks, stars, pets (often represented by a dog), and cash cows. By assigning each business to one of these four categories, executives could then decide where to focus their resources and capital to generate the most value, as well as where to cut their losses.</a:t>
            </a:r>
          </a:p>
          <a:p>
            <a:pPr>
              <a:spcBef>
                <a:spcPts val="200"/>
              </a:spcBef>
              <a:spcAft>
                <a:spcPts val="200"/>
              </a:spcAft>
            </a:pPr>
            <a:endParaRPr lang="en-US" sz="1350" dirty="0"/>
          </a:p>
          <a:p>
            <a:pPr>
              <a:spcBef>
                <a:spcPts val="200"/>
              </a:spcBef>
              <a:spcAft>
                <a:spcPts val="200"/>
              </a:spcAft>
            </a:pPr>
            <a:r>
              <a:rPr lang="en-US" sz="1350" dirty="0"/>
              <a:t>The matrix was created in 1968 by Bruce Henderson, the founder of BCG. It was built on the logic that market leadership results in sustainable superior returns. Ultimately, the market leader obtains a self-reinforcing cost advantage that competitors find difficult to replicate. These high growth rates then signal which markets have the most growth potential.</a:t>
            </a:r>
          </a:p>
          <a:p>
            <a:pPr>
              <a:spcBef>
                <a:spcPts val="200"/>
              </a:spcBef>
              <a:spcAft>
                <a:spcPts val="200"/>
              </a:spcAft>
            </a:pPr>
            <a:endParaRPr lang="en-US" sz="1350" dirty="0"/>
          </a:p>
          <a:p>
            <a:pPr>
              <a:spcBef>
                <a:spcPts val="200"/>
              </a:spcBef>
              <a:spcAft>
                <a:spcPts val="200"/>
              </a:spcAft>
            </a:pPr>
            <a:r>
              <a:rPr lang="en-US" sz="1350" b="1" dirty="0"/>
              <a:t>Each of the four quadrants represents a specific combination of relative market share and market growth rate: </a:t>
            </a:r>
          </a:p>
          <a:p>
            <a:pPr marL="354013" indent="-261938">
              <a:spcBef>
                <a:spcPts val="200"/>
              </a:spcBef>
              <a:spcAft>
                <a:spcPts val="200"/>
              </a:spcAft>
              <a:buFont typeface="+mj-lt"/>
              <a:buAutoNum type="arabicPeriod"/>
            </a:pPr>
            <a:r>
              <a:rPr lang="en-US" sz="1350" b="1" dirty="0"/>
              <a:t>Low Growth, High Share: </a:t>
            </a:r>
            <a:r>
              <a:rPr lang="en-US" sz="1350" dirty="0"/>
              <a:t>Companies should milk these “cash cows” for cash to reinvest.</a:t>
            </a:r>
          </a:p>
          <a:p>
            <a:pPr marL="354013" indent="-261938">
              <a:spcBef>
                <a:spcPts val="200"/>
              </a:spcBef>
              <a:spcAft>
                <a:spcPts val="200"/>
              </a:spcAft>
              <a:buFont typeface="+mj-lt"/>
              <a:buAutoNum type="arabicPeriod"/>
            </a:pPr>
            <a:r>
              <a:rPr lang="en-US" sz="1350" b="1" dirty="0"/>
              <a:t>High Growth, High Share: </a:t>
            </a:r>
            <a:r>
              <a:rPr lang="en-US" sz="1350" dirty="0"/>
              <a:t>Companies should significantly invest in these “stars” as they have high future potential.</a:t>
            </a:r>
          </a:p>
          <a:p>
            <a:pPr marL="354013" indent="-261938">
              <a:spcBef>
                <a:spcPts val="200"/>
              </a:spcBef>
              <a:spcAft>
                <a:spcPts val="200"/>
              </a:spcAft>
              <a:buFont typeface="+mj-lt"/>
              <a:buAutoNum type="arabicPeriod"/>
            </a:pPr>
            <a:r>
              <a:rPr lang="en-US" sz="1350" b="1" dirty="0"/>
              <a:t>High Growth, Low Share: </a:t>
            </a:r>
            <a:r>
              <a:rPr lang="en-US" sz="1350" dirty="0"/>
              <a:t>Companies should invest in or discard these “question marks,” depending on their chances of becoming stars.</a:t>
            </a:r>
          </a:p>
          <a:p>
            <a:pPr marL="354013" indent="-261938">
              <a:spcBef>
                <a:spcPts val="200"/>
              </a:spcBef>
              <a:spcAft>
                <a:spcPts val="200"/>
              </a:spcAft>
              <a:buFont typeface="+mj-lt"/>
              <a:buAutoNum type="arabicPeriod"/>
            </a:pPr>
            <a:r>
              <a:rPr lang="en-US" sz="1350" b="1" dirty="0"/>
              <a:t>Low Share, Low Growth: </a:t>
            </a:r>
            <a:r>
              <a:rPr lang="en-US" sz="1350" dirty="0"/>
              <a:t>Companies should liquidate, divest, or reposition these “pets.”</a:t>
            </a:r>
          </a:p>
          <a:p>
            <a:pPr>
              <a:spcBef>
                <a:spcPts val="200"/>
              </a:spcBef>
              <a:spcAft>
                <a:spcPts val="200"/>
              </a:spcAft>
            </a:pPr>
            <a:endParaRPr lang="en-US" sz="1350" dirty="0"/>
          </a:p>
          <a:p>
            <a:pPr>
              <a:spcBef>
                <a:spcPts val="200"/>
              </a:spcBef>
              <a:spcAft>
                <a:spcPts val="200"/>
              </a:spcAft>
            </a:pPr>
            <a:r>
              <a:rPr lang="en-US" sz="1350" dirty="0"/>
              <a:t>The matrix reveals two factors that companies should consider when deciding where to invest: company competitiveness and market attractiveness, with relative market share and growth rate as the underlying drivers of these factors.</a:t>
            </a:r>
          </a:p>
          <a:p>
            <a:pPr>
              <a:spcBef>
                <a:spcPts val="200"/>
              </a:spcBef>
              <a:spcAft>
                <a:spcPts val="200"/>
              </a:spcAft>
            </a:pPr>
            <a:endParaRPr lang="en-US" sz="1350" dirty="0"/>
          </a:p>
          <a:p>
            <a:pPr>
              <a:spcBef>
                <a:spcPts val="200"/>
              </a:spcBef>
              <a:spcAft>
                <a:spcPts val="200"/>
              </a:spcAft>
            </a:pPr>
            <a:r>
              <a:rPr lang="en-US" sz="1350" dirty="0"/>
              <a:t>The BCG Growth-Share Matrix is still central in business school teachings on business strategy and has been used by about half of all Fortune 500 companies.</a:t>
            </a:r>
          </a:p>
        </p:txBody>
      </p:sp>
      <p:sp>
        <p:nvSpPr>
          <p:cNvPr id="4" name="Footer Placeholder 3">
            <a:extLst>
              <a:ext uri="{FF2B5EF4-FFF2-40B4-BE49-F238E27FC236}">
                <a16:creationId xmlns:a16="http://schemas.microsoft.com/office/drawing/2014/main" id="{F683C9F9-9477-DE87-FCB0-244847E536DB}"/>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22D0EB2F-167B-85A3-5381-6EF00C07A279}"/>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2313835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28EFA89-FEEC-BE48-572A-F6A19D2B8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2" name="think-cell data - do not delete" hidden="1">
                        <a:extLst>
                          <a:ext uri="{FF2B5EF4-FFF2-40B4-BE49-F238E27FC236}">
                            <a16:creationId xmlns:a16="http://schemas.microsoft.com/office/drawing/2014/main" id="{328EFA89-FEEC-BE48-572A-F6A19D2B82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65590E-539F-014F-8D58-462B0C89CF48}"/>
              </a:ext>
            </a:extLst>
          </p:cNvPr>
          <p:cNvSpPr>
            <a:spLocks noGrp="1"/>
          </p:cNvSpPr>
          <p:nvPr>
            <p:ph type="title"/>
          </p:nvPr>
        </p:nvSpPr>
        <p:spPr/>
        <p:txBody>
          <a:bodyPr vert="horz"/>
          <a:lstStyle/>
          <a:p>
            <a:r>
              <a:rPr lang="en-US" dirty="0"/>
              <a:t>We decided to use the BCG matrix to help us better understand our current BU [if needed, replace BU by product] portfolio (2/2)</a:t>
            </a:r>
          </a:p>
        </p:txBody>
      </p:sp>
      <p:sp>
        <p:nvSpPr>
          <p:cNvPr id="24" name="Rectangle 23">
            <a:extLst>
              <a:ext uri="{FF2B5EF4-FFF2-40B4-BE49-F238E27FC236}">
                <a16:creationId xmlns:a16="http://schemas.microsoft.com/office/drawing/2014/main" id="{C193B854-8FB8-8608-6894-18B63C43BB5C}"/>
              </a:ext>
            </a:extLst>
          </p:cNvPr>
          <p:cNvSpPr/>
          <p:nvPr/>
        </p:nvSpPr>
        <p:spPr>
          <a:xfrm>
            <a:off x="2043947" y="4255746"/>
            <a:ext cx="4254993" cy="1795510"/>
          </a:xfrm>
          <a:prstGeom prst="rect">
            <a:avLst/>
          </a:prstGeom>
          <a:solidFill>
            <a:srgbClr val="C00000"/>
          </a:solidFill>
          <a:ln w="12700">
            <a:noFill/>
            <a:miter lim="800000"/>
            <a:headEnd/>
            <a:tailEnd/>
          </a:ln>
          <a:effectLst>
            <a:outerShdw blurRad="44450" dist="27940" dir="5400000" algn="ctr">
              <a:srgbClr val="000000">
                <a:alpha val="32000"/>
              </a:srgbClr>
            </a:outerShdw>
          </a:effectLst>
        </p:spPr>
        <p:txBody>
          <a:bodyPr anchor="ctr"/>
          <a:lstStyle/>
          <a:p>
            <a:pPr algn="ctr"/>
            <a:r>
              <a:rPr lang="en-US" sz="1500" b="1" kern="0" dirty="0">
                <a:solidFill>
                  <a:schemeClr val="bg1"/>
                </a:solidFill>
              </a:rPr>
              <a:t>Dog</a:t>
            </a:r>
          </a:p>
          <a:p>
            <a:pPr algn="ctr"/>
            <a:endParaRPr lang="en-US" sz="1500" b="1" kern="0" dirty="0">
              <a:solidFill>
                <a:schemeClr val="bg1"/>
              </a:solidFill>
            </a:endParaRPr>
          </a:p>
          <a:p>
            <a:pPr>
              <a:spcBef>
                <a:spcPts val="200"/>
              </a:spcBef>
              <a:spcAft>
                <a:spcPts val="200"/>
              </a:spcAft>
            </a:pPr>
            <a:r>
              <a:rPr lang="en-US" sz="1500" b="1" kern="0" dirty="0">
                <a:solidFill>
                  <a:schemeClr val="bg1"/>
                </a:solidFill>
              </a:rPr>
              <a:t>Description: </a:t>
            </a:r>
            <a:r>
              <a:rPr lang="en-US" sz="1500" kern="0" dirty="0">
                <a:solidFill>
                  <a:schemeClr val="bg1"/>
                </a:solidFill>
              </a:rPr>
              <a:t>Small market share in low growth market, requires much capital to continue</a:t>
            </a:r>
          </a:p>
          <a:p>
            <a:pPr>
              <a:spcBef>
                <a:spcPts val="200"/>
              </a:spcBef>
              <a:spcAft>
                <a:spcPts val="200"/>
              </a:spcAft>
            </a:pPr>
            <a:r>
              <a:rPr lang="en-US" sz="1500" b="1" kern="0" dirty="0">
                <a:solidFill>
                  <a:schemeClr val="bg1"/>
                </a:solidFill>
              </a:rPr>
              <a:t>Strategy: </a:t>
            </a:r>
            <a:r>
              <a:rPr lang="en-US" sz="1500" kern="0" dirty="0">
                <a:solidFill>
                  <a:schemeClr val="bg1"/>
                </a:solidFill>
              </a:rPr>
              <a:t>Divest or close</a:t>
            </a:r>
          </a:p>
        </p:txBody>
      </p:sp>
      <p:sp>
        <p:nvSpPr>
          <p:cNvPr id="25" name="Rectangle 24">
            <a:extLst>
              <a:ext uri="{FF2B5EF4-FFF2-40B4-BE49-F238E27FC236}">
                <a16:creationId xmlns:a16="http://schemas.microsoft.com/office/drawing/2014/main" id="{20B53F0C-4161-3C33-B12E-2F7964E9A100}"/>
              </a:ext>
            </a:extLst>
          </p:cNvPr>
          <p:cNvSpPr/>
          <p:nvPr/>
        </p:nvSpPr>
        <p:spPr>
          <a:xfrm>
            <a:off x="2043947" y="2321543"/>
            <a:ext cx="4254993" cy="1795510"/>
          </a:xfrm>
          <a:prstGeom prst="rect">
            <a:avLst/>
          </a:prstGeom>
          <a:solidFill>
            <a:srgbClr val="FFC000"/>
          </a:solidFill>
          <a:ln w="12700">
            <a:noFill/>
            <a:miter lim="800000"/>
            <a:headEnd/>
            <a:tailEnd/>
          </a:ln>
          <a:effectLst>
            <a:outerShdw blurRad="44450" dist="27940" dir="5400000" algn="ctr">
              <a:srgbClr val="000000">
                <a:alpha val="32000"/>
              </a:srgbClr>
            </a:outerShdw>
          </a:effectLst>
        </p:spPr>
        <p:txBody>
          <a:bodyPr anchor="ctr"/>
          <a:lstStyle/>
          <a:p>
            <a:pPr algn="ctr"/>
            <a:r>
              <a:rPr lang="en-US" sz="1500" b="1" kern="0" dirty="0">
                <a:solidFill>
                  <a:schemeClr val="bg1"/>
                </a:solidFill>
              </a:rPr>
              <a:t>Question mark</a:t>
            </a:r>
          </a:p>
          <a:p>
            <a:pPr algn="ctr"/>
            <a:endParaRPr lang="en-US" sz="1500" b="1" kern="0" dirty="0">
              <a:solidFill>
                <a:schemeClr val="bg1"/>
              </a:solidFill>
            </a:endParaRPr>
          </a:p>
          <a:p>
            <a:pPr>
              <a:spcBef>
                <a:spcPts val="200"/>
              </a:spcBef>
              <a:spcAft>
                <a:spcPts val="200"/>
              </a:spcAft>
            </a:pPr>
            <a:r>
              <a:rPr lang="en-US" sz="1500" b="1" kern="0" dirty="0">
                <a:solidFill>
                  <a:schemeClr val="bg1"/>
                </a:solidFill>
              </a:rPr>
              <a:t>Description: </a:t>
            </a:r>
            <a:r>
              <a:rPr lang="en-US" sz="1500" kern="0" dirty="0">
                <a:solidFill>
                  <a:schemeClr val="bg1"/>
                </a:solidFill>
              </a:rPr>
              <a:t>High growth but neutral or negative cash flow (expensive growth)</a:t>
            </a:r>
          </a:p>
          <a:p>
            <a:pPr>
              <a:spcBef>
                <a:spcPts val="200"/>
              </a:spcBef>
              <a:spcAft>
                <a:spcPts val="200"/>
              </a:spcAft>
            </a:pPr>
            <a:r>
              <a:rPr lang="en-US" sz="1500" b="1" kern="0" dirty="0">
                <a:solidFill>
                  <a:schemeClr val="bg1"/>
                </a:solidFill>
              </a:rPr>
              <a:t>Strategy: </a:t>
            </a:r>
            <a:r>
              <a:rPr lang="en-US" sz="1500" kern="0" dirty="0">
                <a:solidFill>
                  <a:schemeClr val="bg1"/>
                </a:solidFill>
              </a:rPr>
              <a:t>See if ROI can be improved</a:t>
            </a:r>
          </a:p>
        </p:txBody>
      </p:sp>
      <p:sp>
        <p:nvSpPr>
          <p:cNvPr id="26" name="Rectangle 25">
            <a:extLst>
              <a:ext uri="{FF2B5EF4-FFF2-40B4-BE49-F238E27FC236}">
                <a16:creationId xmlns:a16="http://schemas.microsoft.com/office/drawing/2014/main" id="{2688C38B-C7D7-158E-C3D6-B193BA0D5589}"/>
              </a:ext>
            </a:extLst>
          </p:cNvPr>
          <p:cNvSpPr/>
          <p:nvPr/>
        </p:nvSpPr>
        <p:spPr>
          <a:xfrm>
            <a:off x="6436670" y="4255746"/>
            <a:ext cx="4254993" cy="1795510"/>
          </a:xfrm>
          <a:prstGeom prst="rect">
            <a:avLst/>
          </a:prstGeom>
          <a:solidFill>
            <a:srgbClr val="E5F4D4"/>
          </a:solidFill>
          <a:ln w="12700">
            <a:noFill/>
            <a:miter lim="800000"/>
            <a:headEnd/>
            <a:tailEnd/>
          </a:ln>
          <a:effectLst>
            <a:outerShdw blurRad="44450" dist="27940" dir="5400000" algn="ctr">
              <a:srgbClr val="000000">
                <a:alpha val="32000"/>
              </a:srgbClr>
            </a:outerShdw>
          </a:effectLst>
        </p:spPr>
        <p:txBody>
          <a:bodyPr anchor="ctr"/>
          <a:lstStyle/>
          <a:p>
            <a:pPr algn="ctr"/>
            <a:r>
              <a:rPr lang="en-US" sz="1500" b="1" kern="0" dirty="0">
                <a:solidFill>
                  <a:schemeClr val="tx1"/>
                </a:solidFill>
              </a:rPr>
              <a:t>Cash cow</a:t>
            </a:r>
          </a:p>
          <a:p>
            <a:pPr algn="ctr"/>
            <a:endParaRPr lang="en-US" sz="1500" b="1" kern="0" dirty="0">
              <a:solidFill>
                <a:schemeClr val="tx1"/>
              </a:solidFill>
            </a:endParaRPr>
          </a:p>
          <a:p>
            <a:pPr>
              <a:spcBef>
                <a:spcPts val="200"/>
              </a:spcBef>
              <a:spcAft>
                <a:spcPts val="200"/>
              </a:spcAft>
            </a:pPr>
            <a:r>
              <a:rPr lang="en-US" sz="1500" b="1" kern="0" dirty="0">
                <a:solidFill>
                  <a:schemeClr val="tx1"/>
                </a:solidFill>
              </a:rPr>
              <a:t>Description: </a:t>
            </a:r>
            <a:r>
              <a:rPr lang="en-US" sz="1500" kern="0" dirty="0">
                <a:solidFill>
                  <a:schemeClr val="tx1"/>
                </a:solidFill>
              </a:rPr>
              <a:t>Stable earnings and solid cash flow, low growth business</a:t>
            </a:r>
          </a:p>
          <a:p>
            <a:pPr>
              <a:spcBef>
                <a:spcPts val="200"/>
              </a:spcBef>
              <a:spcAft>
                <a:spcPts val="200"/>
              </a:spcAft>
            </a:pPr>
            <a:r>
              <a:rPr lang="en-US" sz="1500" b="1" kern="0" dirty="0">
                <a:solidFill>
                  <a:schemeClr val="tx1"/>
                </a:solidFill>
              </a:rPr>
              <a:t>Strategy: </a:t>
            </a:r>
            <a:r>
              <a:rPr lang="en-US" sz="1500" kern="0" dirty="0">
                <a:solidFill>
                  <a:schemeClr val="tx1"/>
                </a:solidFill>
              </a:rPr>
              <a:t>Milk for remaining value</a:t>
            </a:r>
          </a:p>
        </p:txBody>
      </p:sp>
      <p:sp>
        <p:nvSpPr>
          <p:cNvPr id="27" name="Rectangle 26">
            <a:extLst>
              <a:ext uri="{FF2B5EF4-FFF2-40B4-BE49-F238E27FC236}">
                <a16:creationId xmlns:a16="http://schemas.microsoft.com/office/drawing/2014/main" id="{9671F4BF-79E7-B97B-6AB4-BB3C95E1BB90}"/>
              </a:ext>
            </a:extLst>
          </p:cNvPr>
          <p:cNvSpPr/>
          <p:nvPr/>
        </p:nvSpPr>
        <p:spPr>
          <a:xfrm>
            <a:off x="6436670" y="2321543"/>
            <a:ext cx="4254993" cy="1795510"/>
          </a:xfrm>
          <a:prstGeom prst="rect">
            <a:avLst/>
          </a:prstGeom>
          <a:solidFill>
            <a:schemeClr val="accent3"/>
          </a:solidFill>
          <a:ln w="12700">
            <a:noFill/>
            <a:miter lim="800000"/>
            <a:headEnd/>
            <a:tailEnd/>
          </a:ln>
          <a:effectLst>
            <a:outerShdw blurRad="44450" dist="27940" dir="5400000" algn="ctr">
              <a:srgbClr val="000000">
                <a:alpha val="32000"/>
              </a:srgbClr>
            </a:outerShdw>
          </a:effectLst>
        </p:spPr>
        <p:txBody>
          <a:bodyPr anchor="ctr"/>
          <a:lstStyle/>
          <a:p>
            <a:pPr algn="ctr"/>
            <a:r>
              <a:rPr lang="en-US" sz="1500" b="1" kern="0" dirty="0">
                <a:solidFill>
                  <a:schemeClr val="bg1"/>
                </a:solidFill>
              </a:rPr>
              <a:t>Star</a:t>
            </a:r>
          </a:p>
          <a:p>
            <a:pPr algn="ctr"/>
            <a:endParaRPr lang="en-US" sz="1500" b="1" kern="0" dirty="0">
              <a:solidFill>
                <a:schemeClr val="bg1"/>
              </a:solidFill>
            </a:endParaRPr>
          </a:p>
          <a:p>
            <a:pPr>
              <a:spcBef>
                <a:spcPts val="200"/>
              </a:spcBef>
              <a:spcAft>
                <a:spcPts val="200"/>
              </a:spcAft>
            </a:pPr>
            <a:r>
              <a:rPr lang="en-US" sz="1500" b="1" kern="0" dirty="0">
                <a:solidFill>
                  <a:schemeClr val="bg1"/>
                </a:solidFill>
              </a:rPr>
              <a:t>Description: </a:t>
            </a:r>
            <a:r>
              <a:rPr lang="en-US" sz="1500" kern="0" dirty="0">
                <a:solidFill>
                  <a:schemeClr val="bg1"/>
                </a:solidFill>
              </a:rPr>
              <a:t>Growing earnings, positive or neutral cash flow</a:t>
            </a:r>
          </a:p>
          <a:p>
            <a:pPr>
              <a:spcBef>
                <a:spcPts val="200"/>
              </a:spcBef>
              <a:spcAft>
                <a:spcPts val="200"/>
              </a:spcAft>
            </a:pPr>
            <a:r>
              <a:rPr lang="en-US" sz="1500" b="1" kern="0" dirty="0">
                <a:solidFill>
                  <a:schemeClr val="bg1"/>
                </a:solidFill>
              </a:rPr>
              <a:t>Strategy: </a:t>
            </a:r>
            <a:r>
              <a:rPr lang="en-US" sz="1500" kern="0" dirty="0">
                <a:solidFill>
                  <a:schemeClr val="bg1"/>
                </a:solidFill>
              </a:rPr>
              <a:t>Invest in growth</a:t>
            </a:r>
          </a:p>
        </p:txBody>
      </p:sp>
      <p:sp>
        <p:nvSpPr>
          <p:cNvPr id="28" name="TextBox 27">
            <a:extLst>
              <a:ext uri="{FF2B5EF4-FFF2-40B4-BE49-F238E27FC236}">
                <a16:creationId xmlns:a16="http://schemas.microsoft.com/office/drawing/2014/main" id="{E6FD07AA-E732-2824-06FE-FDB482365FCD}"/>
              </a:ext>
            </a:extLst>
          </p:cNvPr>
          <p:cNvSpPr txBox="1"/>
          <p:nvPr/>
        </p:nvSpPr>
        <p:spPr>
          <a:xfrm>
            <a:off x="4132730" y="6185097"/>
            <a:ext cx="4470149" cy="307777"/>
          </a:xfrm>
          <a:prstGeom prst="rect">
            <a:avLst/>
          </a:prstGeom>
          <a:noFill/>
        </p:spPr>
        <p:txBody>
          <a:bodyPr wrap="square" rtlCol="0">
            <a:spAutoFit/>
          </a:bodyPr>
          <a:lstStyle/>
          <a:p>
            <a:pPr algn="ctr"/>
            <a:r>
              <a:rPr lang="en-US" b="1" dirty="0"/>
              <a:t>Market share</a:t>
            </a:r>
          </a:p>
        </p:txBody>
      </p:sp>
      <p:sp>
        <p:nvSpPr>
          <p:cNvPr id="29" name="TextBox 28">
            <a:extLst>
              <a:ext uri="{FF2B5EF4-FFF2-40B4-BE49-F238E27FC236}">
                <a16:creationId xmlns:a16="http://schemas.microsoft.com/office/drawing/2014/main" id="{C03CAF04-0684-5A43-B5FD-52D666CCCE4D}"/>
              </a:ext>
            </a:extLst>
          </p:cNvPr>
          <p:cNvSpPr txBox="1"/>
          <p:nvPr/>
        </p:nvSpPr>
        <p:spPr>
          <a:xfrm>
            <a:off x="754230" y="3924789"/>
            <a:ext cx="1180943" cy="523220"/>
          </a:xfrm>
          <a:prstGeom prst="rect">
            <a:avLst/>
          </a:prstGeom>
          <a:noFill/>
        </p:spPr>
        <p:txBody>
          <a:bodyPr wrap="square" rtlCol="0">
            <a:spAutoFit/>
          </a:bodyPr>
          <a:lstStyle/>
          <a:p>
            <a:pPr algn="r"/>
            <a:r>
              <a:rPr lang="en-US" b="1" dirty="0"/>
              <a:t>Growth</a:t>
            </a:r>
            <a:br>
              <a:rPr lang="en-US" b="1" dirty="0"/>
            </a:br>
            <a:r>
              <a:rPr lang="en-US" b="1" dirty="0"/>
              <a:t> rate</a:t>
            </a:r>
          </a:p>
        </p:txBody>
      </p:sp>
      <p:cxnSp>
        <p:nvCxnSpPr>
          <p:cNvPr id="30" name="Straight Connector 29">
            <a:extLst>
              <a:ext uri="{FF2B5EF4-FFF2-40B4-BE49-F238E27FC236}">
                <a16:creationId xmlns:a16="http://schemas.microsoft.com/office/drawing/2014/main" id="{AD708FBA-7D3D-DE70-114C-D74CCE707CC9}"/>
              </a:ext>
            </a:extLst>
          </p:cNvPr>
          <p:cNvCxnSpPr>
            <a:cxnSpLocks/>
          </p:cNvCxnSpPr>
          <p:nvPr/>
        </p:nvCxnSpPr>
        <p:spPr>
          <a:xfrm>
            <a:off x="6424955" y="2435843"/>
            <a:ext cx="0" cy="36154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DA27783-E58A-4668-A343-269BC51370D9}"/>
              </a:ext>
            </a:extLst>
          </p:cNvPr>
          <p:cNvSpPr txBox="1"/>
          <p:nvPr/>
        </p:nvSpPr>
        <p:spPr>
          <a:xfrm>
            <a:off x="2043947" y="6185097"/>
            <a:ext cx="1249265" cy="307777"/>
          </a:xfrm>
          <a:prstGeom prst="rect">
            <a:avLst/>
          </a:prstGeom>
          <a:noFill/>
        </p:spPr>
        <p:txBody>
          <a:bodyPr wrap="square" rtlCol="0">
            <a:spAutoFit/>
          </a:bodyPr>
          <a:lstStyle/>
          <a:p>
            <a:r>
              <a:rPr lang="en-US" dirty="0"/>
              <a:t>Low</a:t>
            </a:r>
          </a:p>
        </p:txBody>
      </p:sp>
      <p:sp>
        <p:nvSpPr>
          <p:cNvPr id="32" name="TextBox 31">
            <a:extLst>
              <a:ext uri="{FF2B5EF4-FFF2-40B4-BE49-F238E27FC236}">
                <a16:creationId xmlns:a16="http://schemas.microsoft.com/office/drawing/2014/main" id="{5C25C444-AC4A-BB24-80C8-5B0BF9DBCC7E}"/>
              </a:ext>
            </a:extLst>
          </p:cNvPr>
          <p:cNvSpPr txBox="1"/>
          <p:nvPr/>
        </p:nvSpPr>
        <p:spPr>
          <a:xfrm>
            <a:off x="9442398" y="6185097"/>
            <a:ext cx="1249265" cy="307777"/>
          </a:xfrm>
          <a:prstGeom prst="rect">
            <a:avLst/>
          </a:prstGeom>
          <a:noFill/>
        </p:spPr>
        <p:txBody>
          <a:bodyPr wrap="square" rtlCol="0">
            <a:spAutoFit/>
          </a:bodyPr>
          <a:lstStyle/>
          <a:p>
            <a:pPr algn="r"/>
            <a:r>
              <a:rPr lang="en-US" dirty="0"/>
              <a:t>High</a:t>
            </a:r>
          </a:p>
        </p:txBody>
      </p:sp>
      <p:sp>
        <p:nvSpPr>
          <p:cNvPr id="33" name="TextBox 32">
            <a:extLst>
              <a:ext uri="{FF2B5EF4-FFF2-40B4-BE49-F238E27FC236}">
                <a16:creationId xmlns:a16="http://schemas.microsoft.com/office/drawing/2014/main" id="{99328BC0-9DBC-CF50-C041-5828CEBFD59C}"/>
              </a:ext>
            </a:extLst>
          </p:cNvPr>
          <p:cNvSpPr txBox="1"/>
          <p:nvPr/>
        </p:nvSpPr>
        <p:spPr>
          <a:xfrm>
            <a:off x="754230" y="5743479"/>
            <a:ext cx="1180943" cy="307777"/>
          </a:xfrm>
          <a:prstGeom prst="rect">
            <a:avLst/>
          </a:prstGeom>
          <a:noFill/>
        </p:spPr>
        <p:txBody>
          <a:bodyPr wrap="square" rtlCol="0">
            <a:spAutoFit/>
          </a:bodyPr>
          <a:lstStyle/>
          <a:p>
            <a:pPr algn="r"/>
            <a:r>
              <a:rPr lang="en-US" dirty="0"/>
              <a:t>Low</a:t>
            </a:r>
          </a:p>
        </p:txBody>
      </p:sp>
      <p:sp>
        <p:nvSpPr>
          <p:cNvPr id="34" name="TextBox 33">
            <a:extLst>
              <a:ext uri="{FF2B5EF4-FFF2-40B4-BE49-F238E27FC236}">
                <a16:creationId xmlns:a16="http://schemas.microsoft.com/office/drawing/2014/main" id="{C346B773-2576-B159-372C-1F2906971263}"/>
              </a:ext>
            </a:extLst>
          </p:cNvPr>
          <p:cNvSpPr txBox="1"/>
          <p:nvPr/>
        </p:nvSpPr>
        <p:spPr>
          <a:xfrm>
            <a:off x="754230" y="2321543"/>
            <a:ext cx="1180943" cy="307777"/>
          </a:xfrm>
          <a:prstGeom prst="rect">
            <a:avLst/>
          </a:prstGeom>
          <a:noFill/>
        </p:spPr>
        <p:txBody>
          <a:bodyPr wrap="square" rtlCol="0">
            <a:spAutoFit/>
          </a:bodyPr>
          <a:lstStyle/>
          <a:p>
            <a:pPr algn="r"/>
            <a:r>
              <a:rPr lang="en-US" dirty="0"/>
              <a:t>High</a:t>
            </a:r>
          </a:p>
        </p:txBody>
      </p:sp>
      <p:sp>
        <p:nvSpPr>
          <p:cNvPr id="35" name="Rectangle 34">
            <a:extLst>
              <a:ext uri="{FF2B5EF4-FFF2-40B4-BE49-F238E27FC236}">
                <a16:creationId xmlns:a16="http://schemas.microsoft.com/office/drawing/2014/main" id="{CA2F7181-E807-832E-8E78-FCB4B0DA08AA}"/>
              </a:ext>
            </a:extLst>
          </p:cNvPr>
          <p:cNvSpPr>
            <a:spLocks noChangeArrowheads="1"/>
          </p:cNvSpPr>
          <p:nvPr/>
        </p:nvSpPr>
        <p:spPr bwMode="auto">
          <a:xfrm>
            <a:off x="9424230" y="1798262"/>
            <a:ext cx="381000" cy="382657"/>
          </a:xfrm>
          <a:prstGeom prst="rect">
            <a:avLst/>
          </a:prstGeom>
          <a:solidFill>
            <a:schemeClr val="accent6">
              <a:lumMod val="75000"/>
            </a:schemeClr>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36" name="TextBox 35">
            <a:extLst>
              <a:ext uri="{FF2B5EF4-FFF2-40B4-BE49-F238E27FC236}">
                <a16:creationId xmlns:a16="http://schemas.microsoft.com/office/drawing/2014/main" id="{4A408E50-FD83-FC32-1680-5CFD033ACCC6}"/>
              </a:ext>
            </a:extLst>
          </p:cNvPr>
          <p:cNvSpPr txBox="1"/>
          <p:nvPr/>
        </p:nvSpPr>
        <p:spPr>
          <a:xfrm>
            <a:off x="8469308" y="1871313"/>
            <a:ext cx="973090" cy="276999"/>
          </a:xfrm>
          <a:prstGeom prst="rect">
            <a:avLst/>
          </a:prstGeom>
          <a:noFill/>
        </p:spPr>
        <p:txBody>
          <a:bodyPr wrap="square" rtlCol="0">
            <a:spAutoFit/>
          </a:bodyPr>
          <a:lstStyle/>
          <a:p>
            <a:pPr algn="r"/>
            <a:r>
              <a:rPr lang="en-US" sz="1200" dirty="0"/>
              <a:t>Caption:</a:t>
            </a:r>
          </a:p>
        </p:txBody>
      </p:sp>
      <p:sp>
        <p:nvSpPr>
          <p:cNvPr id="37" name="Rectangle 36">
            <a:extLst>
              <a:ext uri="{FF2B5EF4-FFF2-40B4-BE49-F238E27FC236}">
                <a16:creationId xmlns:a16="http://schemas.microsoft.com/office/drawing/2014/main" id="{61CFB1B2-87B0-AC8B-F353-A7C56767CE48}"/>
              </a:ext>
            </a:extLst>
          </p:cNvPr>
          <p:cNvSpPr>
            <a:spLocks noChangeArrowheads="1"/>
          </p:cNvSpPr>
          <p:nvPr/>
        </p:nvSpPr>
        <p:spPr bwMode="auto">
          <a:xfrm>
            <a:off x="9932230" y="1798262"/>
            <a:ext cx="381000" cy="382657"/>
          </a:xfrm>
          <a:prstGeom prst="rect">
            <a:avLst/>
          </a:prstGeom>
          <a:solidFill>
            <a:schemeClr val="accent5"/>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38" name="Rectangle 37">
            <a:extLst>
              <a:ext uri="{FF2B5EF4-FFF2-40B4-BE49-F238E27FC236}">
                <a16:creationId xmlns:a16="http://schemas.microsoft.com/office/drawing/2014/main" id="{2512387D-B8B0-C0FD-BF84-128A64DDBBFC}"/>
              </a:ext>
            </a:extLst>
          </p:cNvPr>
          <p:cNvSpPr>
            <a:spLocks noChangeArrowheads="1"/>
          </p:cNvSpPr>
          <p:nvPr/>
        </p:nvSpPr>
        <p:spPr bwMode="auto">
          <a:xfrm>
            <a:off x="10440230" y="1798262"/>
            <a:ext cx="381000" cy="382657"/>
          </a:xfrm>
          <a:prstGeom prst="rect">
            <a:avLst/>
          </a:prstGeom>
          <a:solidFill>
            <a:schemeClr val="accent4">
              <a:lumMod val="20000"/>
              <a:lumOff val="80000"/>
            </a:schemeClr>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39" name="Rectangle 38">
            <a:extLst>
              <a:ext uri="{FF2B5EF4-FFF2-40B4-BE49-F238E27FC236}">
                <a16:creationId xmlns:a16="http://schemas.microsoft.com/office/drawing/2014/main" id="{723F5DA0-E219-A64A-5523-61C442291975}"/>
              </a:ext>
            </a:extLst>
          </p:cNvPr>
          <p:cNvSpPr>
            <a:spLocks noChangeArrowheads="1"/>
          </p:cNvSpPr>
          <p:nvPr/>
        </p:nvSpPr>
        <p:spPr bwMode="auto">
          <a:xfrm>
            <a:off x="10948230" y="1798262"/>
            <a:ext cx="381000" cy="382657"/>
          </a:xfrm>
          <a:prstGeom prst="rect">
            <a:avLst/>
          </a:prstGeom>
          <a:solidFill>
            <a:schemeClr val="accent3"/>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40" name="TextBox 39">
            <a:extLst>
              <a:ext uri="{FF2B5EF4-FFF2-40B4-BE49-F238E27FC236}">
                <a16:creationId xmlns:a16="http://schemas.microsoft.com/office/drawing/2014/main" id="{FBEAE9D5-54B2-B72A-A4C9-322D84E20A57}"/>
              </a:ext>
            </a:extLst>
          </p:cNvPr>
          <p:cNvSpPr txBox="1"/>
          <p:nvPr/>
        </p:nvSpPr>
        <p:spPr>
          <a:xfrm>
            <a:off x="9043230" y="1563692"/>
            <a:ext cx="1129270" cy="261610"/>
          </a:xfrm>
          <a:prstGeom prst="rect">
            <a:avLst/>
          </a:prstGeom>
          <a:noFill/>
        </p:spPr>
        <p:txBody>
          <a:bodyPr wrap="square" rtlCol="0">
            <a:spAutoFit/>
          </a:bodyPr>
          <a:lstStyle/>
          <a:p>
            <a:pPr algn="ctr"/>
            <a:r>
              <a:rPr lang="en-US" sz="1100" i="1" dirty="0"/>
              <a:t>No Investment</a:t>
            </a:r>
          </a:p>
        </p:txBody>
      </p:sp>
      <p:sp>
        <p:nvSpPr>
          <p:cNvPr id="41" name="TextBox 40">
            <a:extLst>
              <a:ext uri="{FF2B5EF4-FFF2-40B4-BE49-F238E27FC236}">
                <a16:creationId xmlns:a16="http://schemas.microsoft.com/office/drawing/2014/main" id="{E73C9961-5413-4571-0DBA-27BEEC32734C}"/>
              </a:ext>
            </a:extLst>
          </p:cNvPr>
          <p:cNvSpPr txBox="1"/>
          <p:nvPr/>
        </p:nvSpPr>
        <p:spPr>
          <a:xfrm>
            <a:off x="10463849" y="1563692"/>
            <a:ext cx="1398857" cy="261610"/>
          </a:xfrm>
          <a:prstGeom prst="rect">
            <a:avLst/>
          </a:prstGeom>
          <a:noFill/>
        </p:spPr>
        <p:txBody>
          <a:bodyPr wrap="square" rtlCol="0">
            <a:spAutoFit/>
          </a:bodyPr>
          <a:lstStyle/>
          <a:p>
            <a:pPr algn="ctr"/>
            <a:r>
              <a:rPr lang="en-US" sz="1100" i="1" dirty="0"/>
              <a:t>More investment</a:t>
            </a:r>
          </a:p>
        </p:txBody>
      </p:sp>
      <p:sp>
        <p:nvSpPr>
          <p:cNvPr id="42" name="Arrow: Right 41">
            <a:extLst>
              <a:ext uri="{FF2B5EF4-FFF2-40B4-BE49-F238E27FC236}">
                <a16:creationId xmlns:a16="http://schemas.microsoft.com/office/drawing/2014/main" id="{E8131F32-44B3-A635-10A0-81EE33985306}"/>
              </a:ext>
            </a:extLst>
          </p:cNvPr>
          <p:cNvSpPr/>
          <p:nvPr/>
        </p:nvSpPr>
        <p:spPr bwMode="auto">
          <a:xfrm>
            <a:off x="9442398" y="1871313"/>
            <a:ext cx="1886832" cy="261610"/>
          </a:xfrm>
          <a:prstGeom prst="rightArrow">
            <a:avLst/>
          </a:prstGeom>
          <a:noFill/>
          <a:ln w="28575">
            <a:solidFill>
              <a:schemeClr val="tx2"/>
            </a:solid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ea typeface="+mn-ea"/>
              <a:cs typeface="Times New Roman" pitchFamily="18" charset="0"/>
            </a:endParaRPr>
          </a:p>
        </p:txBody>
      </p:sp>
      <p:pic>
        <p:nvPicPr>
          <p:cNvPr id="43" name="Graphic 42" descr="Dog with solid fill">
            <a:extLst>
              <a:ext uri="{FF2B5EF4-FFF2-40B4-BE49-F238E27FC236}">
                <a16:creationId xmlns:a16="http://schemas.microsoft.com/office/drawing/2014/main" id="{4E2DD7FC-E800-E990-33F7-09A3AB1A4B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6114" y="4249512"/>
            <a:ext cx="601042" cy="601042"/>
          </a:xfrm>
          <a:prstGeom prst="rect">
            <a:avLst/>
          </a:prstGeom>
        </p:spPr>
      </p:pic>
      <p:pic>
        <p:nvPicPr>
          <p:cNvPr id="44" name="Graphic 43" descr="Cow with solid fill">
            <a:extLst>
              <a:ext uri="{FF2B5EF4-FFF2-40B4-BE49-F238E27FC236}">
                <a16:creationId xmlns:a16="http://schemas.microsoft.com/office/drawing/2014/main" id="{56B2A904-F320-0477-553E-CB97314FD46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88605" y="4249512"/>
            <a:ext cx="568137" cy="568137"/>
          </a:xfrm>
          <a:prstGeom prst="rect">
            <a:avLst/>
          </a:prstGeom>
        </p:spPr>
      </p:pic>
      <p:sp>
        <p:nvSpPr>
          <p:cNvPr id="45" name="Star: 5 Points 44">
            <a:extLst>
              <a:ext uri="{FF2B5EF4-FFF2-40B4-BE49-F238E27FC236}">
                <a16:creationId xmlns:a16="http://schemas.microsoft.com/office/drawing/2014/main" id="{E54E7BB2-D425-830C-0FDE-56D81F619B53}"/>
              </a:ext>
            </a:extLst>
          </p:cNvPr>
          <p:cNvSpPr/>
          <p:nvPr/>
        </p:nvSpPr>
        <p:spPr>
          <a:xfrm>
            <a:off x="10196742" y="2429549"/>
            <a:ext cx="360000" cy="360000"/>
          </a:xfrm>
          <a:prstGeom prst="star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Graphic 45" descr="Question Mark with solid fill">
            <a:extLst>
              <a:ext uri="{FF2B5EF4-FFF2-40B4-BE49-F238E27FC236}">
                <a16:creationId xmlns:a16="http://schemas.microsoft.com/office/drawing/2014/main" id="{86247D28-ECE2-6D75-6F6F-941C64E1AE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05232" y="2412150"/>
            <a:ext cx="460750" cy="460750"/>
          </a:xfrm>
          <a:prstGeom prst="rect">
            <a:avLst/>
          </a:prstGeom>
        </p:spPr>
      </p:pic>
      <p:sp>
        <p:nvSpPr>
          <p:cNvPr id="4" name="Footer Placeholder 3">
            <a:extLst>
              <a:ext uri="{FF2B5EF4-FFF2-40B4-BE49-F238E27FC236}">
                <a16:creationId xmlns:a16="http://schemas.microsoft.com/office/drawing/2014/main" id="{2FFDB3E1-BABF-CF35-1231-C4B733960EB9}"/>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4830D896-1810-C8AD-5484-32D955DC379F}"/>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4217109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28EFA89-FEEC-BE48-572A-F6A19D2B8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395" imgH="394" progId="TCLayout.ActiveDocument.1">
                  <p:embed/>
                </p:oleObj>
              </mc:Choice>
              <mc:Fallback>
                <p:oleObj name="think-cell Slide" r:id="rId20" imgW="395" imgH="394" progId="TCLayout.ActiveDocument.1">
                  <p:embed/>
                  <p:pic>
                    <p:nvPicPr>
                      <p:cNvPr id="12" name="think-cell data - do not delete" hidden="1">
                        <a:extLst>
                          <a:ext uri="{FF2B5EF4-FFF2-40B4-BE49-F238E27FC236}">
                            <a16:creationId xmlns:a16="http://schemas.microsoft.com/office/drawing/2014/main" id="{328EFA89-FEEC-BE48-572A-F6A19D2B820C}"/>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65590E-539F-014F-8D58-462B0C89CF48}"/>
              </a:ext>
            </a:extLst>
          </p:cNvPr>
          <p:cNvSpPr>
            <a:spLocks noGrp="1"/>
          </p:cNvSpPr>
          <p:nvPr>
            <p:ph type="title"/>
          </p:nvPr>
        </p:nvSpPr>
        <p:spPr/>
        <p:txBody>
          <a:bodyPr vert="horz"/>
          <a:lstStyle/>
          <a:p>
            <a:r>
              <a:rPr lang="en-US" dirty="0"/>
              <a:t>Our BU [insert BU or Product] portfolio is currently balanced [insert your own description]</a:t>
            </a:r>
          </a:p>
        </p:txBody>
      </p:sp>
      <p:sp>
        <p:nvSpPr>
          <p:cNvPr id="16" name="Freeform: Shape 15">
            <a:extLst>
              <a:ext uri="{FF2B5EF4-FFF2-40B4-BE49-F238E27FC236}">
                <a16:creationId xmlns:a16="http://schemas.microsoft.com/office/drawing/2014/main" id="{BBEDD540-5C00-5D8A-5084-DD21DCF99F33}"/>
              </a:ext>
            </a:extLst>
          </p:cNvPr>
          <p:cNvSpPr/>
          <p:nvPr>
            <p:custDataLst>
              <p:tags r:id="rId2"/>
            </p:custDataLst>
          </p:nvPr>
        </p:nvSpPr>
        <p:spPr bwMode="auto">
          <a:xfrm>
            <a:off x="1692275" y="4068763"/>
            <a:ext cx="4875214" cy="1693863"/>
          </a:xfrm>
          <a:custGeom>
            <a:avLst/>
            <a:gdLst/>
            <a:ahLst/>
            <a:cxnLst/>
            <a:rect l="0" t="0" r="0" b="0"/>
            <a:pathLst>
              <a:path w="4875214" h="1693863">
                <a:moveTo>
                  <a:pt x="4875213" y="1693862"/>
                </a:moveTo>
                <a:lnTo>
                  <a:pt x="0" y="1693862"/>
                </a:lnTo>
                <a:lnTo>
                  <a:pt x="0" y="0"/>
                </a:lnTo>
                <a:lnTo>
                  <a:pt x="4875213" y="0"/>
                </a:lnTo>
                <a:close/>
              </a:path>
            </a:pathLst>
          </a:custGeom>
          <a:solidFill>
            <a:srgbClr val="FF8E8D"/>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Freeform: Shape 16">
            <a:extLst>
              <a:ext uri="{FF2B5EF4-FFF2-40B4-BE49-F238E27FC236}">
                <a16:creationId xmlns:a16="http://schemas.microsoft.com/office/drawing/2014/main" id="{D59838BD-77AB-57E2-D424-161B6A4B034E}"/>
              </a:ext>
            </a:extLst>
          </p:cNvPr>
          <p:cNvSpPr/>
          <p:nvPr>
            <p:custDataLst>
              <p:tags r:id="rId3"/>
            </p:custDataLst>
          </p:nvPr>
        </p:nvSpPr>
        <p:spPr bwMode="auto">
          <a:xfrm>
            <a:off x="6567488" y="4068763"/>
            <a:ext cx="4873626" cy="1693863"/>
          </a:xfrm>
          <a:custGeom>
            <a:avLst/>
            <a:gdLst/>
            <a:ahLst/>
            <a:cxnLst/>
            <a:rect l="0" t="0" r="0" b="0"/>
            <a:pathLst>
              <a:path w="4873626" h="1693863">
                <a:moveTo>
                  <a:pt x="4873625" y="1693862"/>
                </a:moveTo>
                <a:lnTo>
                  <a:pt x="0" y="1693862"/>
                </a:lnTo>
                <a:lnTo>
                  <a:pt x="0" y="0"/>
                </a:lnTo>
                <a:lnTo>
                  <a:pt x="4873625" y="0"/>
                </a:lnTo>
                <a:close/>
              </a:path>
            </a:pathLst>
          </a:custGeom>
          <a:solidFill>
            <a:srgbClr val="B5EDA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Freeform: Shape 17">
            <a:extLst>
              <a:ext uri="{FF2B5EF4-FFF2-40B4-BE49-F238E27FC236}">
                <a16:creationId xmlns:a16="http://schemas.microsoft.com/office/drawing/2014/main" id="{F90F7F9F-5804-A37C-6B40-571BCE46A50E}"/>
              </a:ext>
            </a:extLst>
          </p:cNvPr>
          <p:cNvSpPr/>
          <p:nvPr>
            <p:custDataLst>
              <p:tags r:id="rId4"/>
            </p:custDataLst>
          </p:nvPr>
        </p:nvSpPr>
        <p:spPr bwMode="auto">
          <a:xfrm>
            <a:off x="1692275" y="2401888"/>
            <a:ext cx="4875214" cy="1666876"/>
          </a:xfrm>
          <a:custGeom>
            <a:avLst/>
            <a:gdLst/>
            <a:ahLst/>
            <a:cxnLst/>
            <a:rect l="0" t="0" r="0" b="0"/>
            <a:pathLst>
              <a:path w="4875214" h="1666876">
                <a:moveTo>
                  <a:pt x="4875213" y="1666875"/>
                </a:moveTo>
                <a:lnTo>
                  <a:pt x="0" y="1666875"/>
                </a:lnTo>
                <a:lnTo>
                  <a:pt x="0" y="0"/>
                </a:lnTo>
                <a:lnTo>
                  <a:pt x="4875213" y="0"/>
                </a:lnTo>
                <a:close/>
              </a:path>
            </a:pathLst>
          </a:custGeom>
          <a:solidFill>
            <a:schemeClr val="accent5"/>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Freeform: Shape 18">
            <a:extLst>
              <a:ext uri="{FF2B5EF4-FFF2-40B4-BE49-F238E27FC236}">
                <a16:creationId xmlns:a16="http://schemas.microsoft.com/office/drawing/2014/main" id="{02E733BC-84C7-E440-48D3-FEBB83323FC7}"/>
              </a:ext>
            </a:extLst>
          </p:cNvPr>
          <p:cNvSpPr/>
          <p:nvPr>
            <p:custDataLst>
              <p:tags r:id="rId5"/>
            </p:custDataLst>
          </p:nvPr>
        </p:nvSpPr>
        <p:spPr bwMode="auto">
          <a:xfrm>
            <a:off x="6567488" y="2401888"/>
            <a:ext cx="4873626" cy="1666876"/>
          </a:xfrm>
          <a:custGeom>
            <a:avLst/>
            <a:gdLst/>
            <a:ahLst/>
            <a:cxnLst/>
            <a:rect l="0" t="0" r="0" b="0"/>
            <a:pathLst>
              <a:path w="4873626" h="1666876">
                <a:moveTo>
                  <a:pt x="4873625" y="1666875"/>
                </a:moveTo>
                <a:lnTo>
                  <a:pt x="0" y="1666875"/>
                </a:lnTo>
                <a:lnTo>
                  <a:pt x="0" y="0"/>
                </a:lnTo>
                <a:lnTo>
                  <a:pt x="4873625" y="0"/>
                </a:lnTo>
                <a:close/>
              </a:path>
            </a:pathLst>
          </a:custGeom>
          <a:solidFill>
            <a:schemeClr val="accent3"/>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311" name="Straight Connector 310">
            <a:extLst>
              <a:ext uri="{FF2B5EF4-FFF2-40B4-BE49-F238E27FC236}">
                <a16:creationId xmlns:a16="http://schemas.microsoft.com/office/drawing/2014/main" id="{58B54A0C-9C40-2A19-CD16-059632793ECA}"/>
              </a:ext>
            </a:extLst>
          </p:cNvPr>
          <p:cNvCxnSpPr/>
          <p:nvPr>
            <p:custDataLst>
              <p:tags r:id="rId6"/>
            </p:custDataLst>
          </p:nvPr>
        </p:nvCxnSpPr>
        <p:spPr bwMode="auto">
          <a:xfrm>
            <a:off x="6567488" y="2401888"/>
            <a:ext cx="0" cy="3360738"/>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6" name="Straight Connector 305">
            <a:extLst>
              <a:ext uri="{FF2B5EF4-FFF2-40B4-BE49-F238E27FC236}">
                <a16:creationId xmlns:a16="http://schemas.microsoft.com/office/drawing/2014/main" id="{7346F709-F690-B405-CA79-A75755B64FD4}"/>
              </a:ext>
            </a:extLst>
          </p:cNvPr>
          <p:cNvCxnSpPr/>
          <p:nvPr>
            <p:custDataLst>
              <p:tags r:id="rId7"/>
            </p:custDataLst>
          </p:nvPr>
        </p:nvCxnSpPr>
        <p:spPr bwMode="auto">
          <a:xfrm>
            <a:off x="1692275" y="4068763"/>
            <a:ext cx="9748838"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3" name="Chart 22">
            <a:extLst>
              <a:ext uri="{FF2B5EF4-FFF2-40B4-BE49-F238E27FC236}">
                <a16:creationId xmlns:a16="http://schemas.microsoft.com/office/drawing/2014/main" id="{467E30D9-7B6C-90C9-8D3C-DB8C6DBF1B84}"/>
              </a:ext>
            </a:extLst>
          </p:cNvPr>
          <p:cNvGraphicFramePr/>
          <p:nvPr>
            <p:custDataLst>
              <p:tags r:id="rId8"/>
            </p:custDataLst>
          </p:nvPr>
        </p:nvGraphicFramePr>
        <p:xfrm>
          <a:off x="1036638" y="2195513"/>
          <a:ext cx="10833100" cy="4100512"/>
        </p:xfrm>
        <a:graphic>
          <a:graphicData uri="http://schemas.openxmlformats.org/drawingml/2006/chart">
            <c:chart xmlns:c="http://schemas.openxmlformats.org/drawingml/2006/chart" xmlns:r="http://schemas.openxmlformats.org/officeDocument/2006/relationships" r:id="rId22"/>
          </a:graphicData>
        </a:graphic>
      </p:graphicFrame>
      <p:sp>
        <p:nvSpPr>
          <p:cNvPr id="6" name="Rectangle 5">
            <a:extLst>
              <a:ext uri="{FF2B5EF4-FFF2-40B4-BE49-F238E27FC236}">
                <a16:creationId xmlns:a16="http://schemas.microsoft.com/office/drawing/2014/main" id="{24B98948-5D24-5BAF-8E38-7C65E9FC0119}"/>
              </a:ext>
            </a:extLst>
          </p:cNvPr>
          <p:cNvSpPr/>
          <p:nvPr>
            <p:custDataLst>
              <p:tags r:id="rId9"/>
            </p:custDataLst>
          </p:nvPr>
        </p:nvSpPr>
        <p:spPr bwMode="auto">
          <a:xfrm>
            <a:off x="5738813" y="6230938"/>
            <a:ext cx="16541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B4C8AAFE-C940-49D6-A9D9-3DD2B2E99F77}" type="datetime'''''Ma''rk''''et'''''''' s''''ha''r''''e'' (''202''''x'')'''''">
              <a:rPr lang="en-US" altLang="en-US" sz="1400" b="1" smtClean="0">
                <a:solidFill>
                  <a:schemeClr val="tx1"/>
                </a:solidFill>
              </a:rPr>
              <a:pPr/>
              <a:t>Market share (202x)</a:t>
            </a:fld>
            <a:endParaRPr lang="en-US" sz="1400" b="1" dirty="0">
              <a:solidFill>
                <a:schemeClr val="tx1"/>
              </a:solidFill>
            </a:endParaRPr>
          </a:p>
        </p:txBody>
      </p:sp>
      <p:sp>
        <p:nvSpPr>
          <p:cNvPr id="7" name="Rectangle 6">
            <a:extLst>
              <a:ext uri="{FF2B5EF4-FFF2-40B4-BE49-F238E27FC236}">
                <a16:creationId xmlns:a16="http://schemas.microsoft.com/office/drawing/2014/main" id="{1F01017B-9FA0-6381-F261-D7C1F2FE7E24}"/>
              </a:ext>
            </a:extLst>
          </p:cNvPr>
          <p:cNvSpPr/>
          <p:nvPr>
            <p:custDataLst>
              <p:tags r:id="rId10"/>
            </p:custDataLst>
          </p:nvPr>
        </p:nvSpPr>
        <p:spPr bwMode="auto">
          <a:xfrm>
            <a:off x="688975" y="1955800"/>
            <a:ext cx="20081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b"/>
          <a:lstStyle/>
          <a:p>
            <a:pPr algn="ctr">
              <a:spcBef>
                <a:spcPct val="0"/>
              </a:spcBef>
              <a:spcAft>
                <a:spcPct val="0"/>
              </a:spcAft>
            </a:pPr>
            <a:fld id="{B75AC570-A086-4509-B474-84B7FDCD5436}" type="datetime'G''''rowth rate (''2''''''''01x-''2''''02''''''x'''''''''')'">
              <a:rPr lang="en-US" altLang="en-US" sz="1400" b="1" smtClean="0">
                <a:solidFill>
                  <a:schemeClr val="tx1"/>
                </a:solidFill>
              </a:rPr>
              <a:pPr/>
              <a:t>Growth rate (201x-202x)</a:t>
            </a:fld>
            <a:endParaRPr lang="en-US" sz="1400" b="1" dirty="0">
              <a:solidFill>
                <a:schemeClr val="tx1"/>
              </a:solidFill>
            </a:endParaRPr>
          </a:p>
        </p:txBody>
      </p:sp>
      <p:sp>
        <p:nvSpPr>
          <p:cNvPr id="8" name="Rectangle 7">
            <a:extLst>
              <a:ext uri="{FF2B5EF4-FFF2-40B4-BE49-F238E27FC236}">
                <a16:creationId xmlns:a16="http://schemas.microsoft.com/office/drawing/2014/main" id="{5D462C02-6A23-1244-481A-63DA5CB9626F}"/>
              </a:ext>
            </a:extLst>
          </p:cNvPr>
          <p:cNvSpPr/>
          <p:nvPr>
            <p:custDataLst>
              <p:tags r:id="rId11"/>
            </p:custDataLst>
          </p:nvPr>
        </p:nvSpPr>
        <p:spPr bwMode="gray">
          <a:xfrm>
            <a:off x="8318500" y="3146425"/>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gn="ctr">
              <a:lnSpc>
                <a:spcPct val="90000"/>
              </a:lnSpc>
              <a:spcBef>
                <a:spcPct val="0"/>
              </a:spcBef>
              <a:spcAft>
                <a:spcPct val="0"/>
              </a:spcAft>
            </a:pPr>
            <a:fld id="{069260C0-B3A5-45B3-82C3-6DE772663A4B}" type="datetime'''''''B''''''''''''''''''''U1'''''''''''''''''''''''''''''">
              <a:rPr lang="en-US" altLang="en-US" sz="1400" smtClean="0">
                <a:solidFill>
                  <a:schemeClr val="bg1"/>
                </a:solidFill>
              </a:rPr>
              <a:pPr algn="ctr">
                <a:lnSpc>
                  <a:spcPct val="90000"/>
                </a:lnSpc>
                <a:spcBef>
                  <a:spcPct val="0"/>
                </a:spcBef>
                <a:spcAft>
                  <a:spcPct val="0"/>
                </a:spcAft>
              </a:pPr>
              <a:t>BU1</a:t>
            </a:fld>
            <a:endParaRPr lang="en-US" sz="1400" dirty="0">
              <a:solidFill>
                <a:schemeClr val="bg1"/>
              </a:solidFill>
            </a:endParaRPr>
          </a:p>
        </p:txBody>
      </p:sp>
      <p:sp>
        <p:nvSpPr>
          <p:cNvPr id="9" name="Rectangle 8">
            <a:extLst>
              <a:ext uri="{FF2B5EF4-FFF2-40B4-BE49-F238E27FC236}">
                <a16:creationId xmlns:a16="http://schemas.microsoft.com/office/drawing/2014/main" id="{15E79E27-3C25-8EAD-4231-DB67B9FE8C81}"/>
              </a:ext>
            </a:extLst>
          </p:cNvPr>
          <p:cNvSpPr/>
          <p:nvPr>
            <p:custDataLst>
              <p:tags r:id="rId12"/>
            </p:custDataLst>
          </p:nvPr>
        </p:nvSpPr>
        <p:spPr bwMode="gray">
          <a:xfrm>
            <a:off x="4418013" y="3146425"/>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gn="ctr">
              <a:lnSpc>
                <a:spcPct val="90000"/>
              </a:lnSpc>
              <a:spcBef>
                <a:spcPct val="0"/>
              </a:spcBef>
              <a:spcAft>
                <a:spcPct val="0"/>
              </a:spcAft>
            </a:pPr>
            <a:fld id="{3A105390-837F-4229-A1BD-CD84DAAC0734}" type="datetime'''''B''''''''''''''''''''''''U''2'''''''''''''''''''''">
              <a:rPr lang="en-US" altLang="en-US" sz="1400" smtClean="0">
                <a:solidFill>
                  <a:schemeClr val="bg1"/>
                </a:solidFill>
              </a:rPr>
              <a:pPr algn="ctr">
                <a:lnSpc>
                  <a:spcPct val="90000"/>
                </a:lnSpc>
                <a:spcBef>
                  <a:spcPct val="0"/>
                </a:spcBef>
                <a:spcAft>
                  <a:spcPct val="0"/>
                </a:spcAft>
              </a:pPr>
              <a:t>BU2</a:t>
            </a:fld>
            <a:endParaRPr lang="en-US" sz="1400" dirty="0">
              <a:solidFill>
                <a:schemeClr val="bg1"/>
              </a:solidFill>
            </a:endParaRPr>
          </a:p>
        </p:txBody>
      </p:sp>
      <p:sp>
        <p:nvSpPr>
          <p:cNvPr id="10" name="Rectangle 9">
            <a:extLst>
              <a:ext uri="{FF2B5EF4-FFF2-40B4-BE49-F238E27FC236}">
                <a16:creationId xmlns:a16="http://schemas.microsoft.com/office/drawing/2014/main" id="{F8039439-96A3-BC9D-5F5C-BB2D12DE8F65}"/>
              </a:ext>
            </a:extLst>
          </p:cNvPr>
          <p:cNvSpPr/>
          <p:nvPr>
            <p:custDataLst>
              <p:tags r:id="rId13"/>
            </p:custDataLst>
          </p:nvPr>
        </p:nvSpPr>
        <p:spPr bwMode="gray">
          <a:xfrm>
            <a:off x="7702550" y="4827588"/>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nSpc>
                <a:spcPct val="90000"/>
              </a:lnSpc>
              <a:spcBef>
                <a:spcPct val="0"/>
              </a:spcBef>
              <a:spcAft>
                <a:spcPct val="0"/>
              </a:spcAft>
            </a:pPr>
            <a:fld id="{037F0023-AA94-49C0-B155-715675B5F865}" type="datetime'''''''''BU''''''''''''''''''3'''''''''''''''">
              <a:rPr lang="en-US" altLang="en-US" sz="1400" smtClean="0">
                <a:solidFill>
                  <a:schemeClr val="tx1"/>
                </a:solidFill>
              </a:rPr>
              <a:pPr>
                <a:lnSpc>
                  <a:spcPct val="90000"/>
                </a:lnSpc>
                <a:spcBef>
                  <a:spcPct val="0"/>
                </a:spcBef>
                <a:spcAft>
                  <a:spcPct val="0"/>
                </a:spcAft>
              </a:pPr>
              <a:t>BU3</a:t>
            </a:fld>
            <a:endParaRPr lang="en-US" sz="1400" dirty="0">
              <a:solidFill>
                <a:schemeClr val="tx1"/>
              </a:solidFill>
            </a:endParaRPr>
          </a:p>
        </p:txBody>
      </p:sp>
      <p:sp>
        <p:nvSpPr>
          <p:cNvPr id="142" name="Rectangle 141">
            <a:extLst>
              <a:ext uri="{FF2B5EF4-FFF2-40B4-BE49-F238E27FC236}">
                <a16:creationId xmlns:a16="http://schemas.microsoft.com/office/drawing/2014/main" id="{3615FB31-2089-7A44-5F94-D1F6C49DA36C}"/>
              </a:ext>
            </a:extLst>
          </p:cNvPr>
          <p:cNvSpPr/>
          <p:nvPr>
            <p:custDataLst>
              <p:tags r:id="rId14"/>
            </p:custDataLst>
          </p:nvPr>
        </p:nvSpPr>
        <p:spPr bwMode="gray">
          <a:xfrm>
            <a:off x="8677275" y="4827588"/>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nSpc>
                <a:spcPct val="90000"/>
              </a:lnSpc>
              <a:spcBef>
                <a:spcPct val="0"/>
              </a:spcBef>
              <a:spcAft>
                <a:spcPct val="0"/>
              </a:spcAft>
            </a:pPr>
            <a:fld id="{B1884C79-97D0-44B3-89BE-190688983A90}" type="datetime'''''''''''B''''''''''''''''''''''''''''''''U''''''''4'''">
              <a:rPr lang="en-US" altLang="en-US" sz="1400" smtClean="0">
                <a:solidFill>
                  <a:schemeClr val="tx1"/>
                </a:solidFill>
              </a:rPr>
              <a:pPr>
                <a:lnSpc>
                  <a:spcPct val="90000"/>
                </a:lnSpc>
                <a:spcBef>
                  <a:spcPct val="0"/>
                </a:spcBef>
                <a:spcAft>
                  <a:spcPct val="0"/>
                </a:spcAft>
              </a:pPr>
              <a:t>BU4</a:t>
            </a:fld>
            <a:endParaRPr lang="en-US" sz="1400" dirty="0">
              <a:solidFill>
                <a:schemeClr val="tx1"/>
              </a:solidFill>
            </a:endParaRPr>
          </a:p>
        </p:txBody>
      </p:sp>
      <p:sp>
        <p:nvSpPr>
          <p:cNvPr id="147" name="Rectangle 146">
            <a:extLst>
              <a:ext uri="{FF2B5EF4-FFF2-40B4-BE49-F238E27FC236}">
                <a16:creationId xmlns:a16="http://schemas.microsoft.com/office/drawing/2014/main" id="{DAE404D9-50C4-6249-7F22-4AC2DECE6FAB}"/>
              </a:ext>
            </a:extLst>
          </p:cNvPr>
          <p:cNvSpPr/>
          <p:nvPr>
            <p:custDataLst>
              <p:tags r:id="rId15"/>
            </p:custDataLst>
          </p:nvPr>
        </p:nvSpPr>
        <p:spPr bwMode="gray">
          <a:xfrm>
            <a:off x="3802063" y="5246688"/>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nSpc>
                <a:spcPct val="90000"/>
              </a:lnSpc>
              <a:spcBef>
                <a:spcPct val="0"/>
              </a:spcBef>
              <a:spcAft>
                <a:spcPct val="0"/>
              </a:spcAft>
            </a:pPr>
            <a:fld id="{0A352814-31B4-4E15-BCF4-CDE21465E685}" type="datetime'''''''''''''''''''''''''B''''''''U''''''''''''5'">
              <a:rPr lang="en-US" altLang="en-US" sz="1400" smtClean="0">
                <a:solidFill>
                  <a:schemeClr val="tx1"/>
                </a:solidFill>
              </a:rPr>
              <a:pPr>
                <a:lnSpc>
                  <a:spcPct val="90000"/>
                </a:lnSpc>
                <a:spcBef>
                  <a:spcPct val="0"/>
                </a:spcBef>
                <a:spcAft>
                  <a:spcPct val="0"/>
                </a:spcAft>
              </a:pPr>
              <a:t>BU5</a:t>
            </a:fld>
            <a:endParaRPr lang="en-US" sz="1400" dirty="0">
              <a:solidFill>
                <a:schemeClr val="tx1"/>
              </a:solidFill>
            </a:endParaRPr>
          </a:p>
        </p:txBody>
      </p:sp>
      <p:sp>
        <p:nvSpPr>
          <p:cNvPr id="152" name="Rectangle 151">
            <a:extLst>
              <a:ext uri="{FF2B5EF4-FFF2-40B4-BE49-F238E27FC236}">
                <a16:creationId xmlns:a16="http://schemas.microsoft.com/office/drawing/2014/main" id="{4F03B609-3C14-E488-6444-1FFF45929772}"/>
              </a:ext>
            </a:extLst>
          </p:cNvPr>
          <p:cNvSpPr/>
          <p:nvPr>
            <p:custDataLst>
              <p:tags r:id="rId16"/>
            </p:custDataLst>
          </p:nvPr>
        </p:nvSpPr>
        <p:spPr bwMode="gray">
          <a:xfrm>
            <a:off x="2827338" y="5246688"/>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nSpc>
                <a:spcPct val="90000"/>
              </a:lnSpc>
              <a:spcBef>
                <a:spcPct val="0"/>
              </a:spcBef>
              <a:spcAft>
                <a:spcPct val="0"/>
              </a:spcAft>
            </a:pPr>
            <a:fld id="{7072893E-815F-48E0-951D-8D8CEE3C7A25}" type="datetime'''''''''B''''''''''''''U''6'''">
              <a:rPr lang="en-US" altLang="en-US" sz="1400" smtClean="0">
                <a:solidFill>
                  <a:schemeClr val="tx1"/>
                </a:solidFill>
              </a:rPr>
              <a:pPr>
                <a:lnSpc>
                  <a:spcPct val="90000"/>
                </a:lnSpc>
                <a:spcBef>
                  <a:spcPct val="0"/>
                </a:spcBef>
                <a:spcAft>
                  <a:spcPct val="0"/>
                </a:spcAft>
              </a:pPr>
              <a:t>BU6</a:t>
            </a:fld>
            <a:endParaRPr lang="en-US" sz="1400" dirty="0">
              <a:solidFill>
                <a:schemeClr val="tx1"/>
              </a:solidFill>
            </a:endParaRPr>
          </a:p>
        </p:txBody>
      </p:sp>
      <p:sp>
        <p:nvSpPr>
          <p:cNvPr id="442" name="Oval 441">
            <a:extLst>
              <a:ext uri="{FF2B5EF4-FFF2-40B4-BE49-F238E27FC236}">
                <a16:creationId xmlns:a16="http://schemas.microsoft.com/office/drawing/2014/main" id="{F5BE1E1B-9C84-1743-0F6E-4EBE6DBBE193}"/>
              </a:ext>
            </a:extLst>
          </p:cNvPr>
          <p:cNvSpPr/>
          <p:nvPr>
            <p:custDataLst>
              <p:tags r:id="rId17"/>
            </p:custDataLst>
          </p:nvPr>
        </p:nvSpPr>
        <p:spPr bwMode="auto">
          <a:xfrm>
            <a:off x="8026400" y="1851025"/>
            <a:ext cx="479425" cy="479425"/>
          </a:xfrm>
          <a:prstGeom prst="ellipse">
            <a:avLst/>
          </a:prstGeom>
          <a:solidFill>
            <a:schemeClr val="accent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40" name="Rectangle 439">
            <a:extLst>
              <a:ext uri="{FF2B5EF4-FFF2-40B4-BE49-F238E27FC236}">
                <a16:creationId xmlns:a16="http://schemas.microsoft.com/office/drawing/2014/main" id="{21360253-C034-EA3F-F156-1015B3398F73}"/>
              </a:ext>
            </a:extLst>
          </p:cNvPr>
          <p:cNvSpPr/>
          <p:nvPr>
            <p:custDataLst>
              <p:tags r:id="rId18"/>
            </p:custDataLst>
          </p:nvPr>
        </p:nvSpPr>
        <p:spPr bwMode="auto">
          <a:xfrm>
            <a:off x="8556625" y="1992313"/>
            <a:ext cx="28130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r>
              <a:rPr lang="en-US" altLang="en-US" sz="1400" dirty="0">
                <a:solidFill>
                  <a:schemeClr val="tx1"/>
                </a:solidFill>
              </a:rPr>
              <a:t>Size = Annual revenue ($M) in 202x</a:t>
            </a:r>
            <a:endParaRPr lang="en-US" sz="1400" dirty="0">
              <a:solidFill>
                <a:schemeClr val="tx1"/>
              </a:solidFill>
            </a:endParaRPr>
          </a:p>
        </p:txBody>
      </p:sp>
      <p:sp>
        <p:nvSpPr>
          <p:cNvPr id="521" name="Rectangle 520">
            <a:extLst>
              <a:ext uri="{FF2B5EF4-FFF2-40B4-BE49-F238E27FC236}">
                <a16:creationId xmlns:a16="http://schemas.microsoft.com/office/drawing/2014/main" id="{14EE3188-976A-6282-90A1-7D6534A70E65}"/>
              </a:ext>
            </a:extLst>
          </p:cNvPr>
          <p:cNvSpPr/>
          <p:nvPr/>
        </p:nvSpPr>
        <p:spPr>
          <a:xfrm>
            <a:off x="9780000" y="1"/>
            <a:ext cx="2412000"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Version 1 - Automated chart</a:t>
            </a:r>
          </a:p>
        </p:txBody>
      </p:sp>
      <p:sp>
        <p:nvSpPr>
          <p:cNvPr id="4" name="Footer Placeholder 3">
            <a:extLst>
              <a:ext uri="{FF2B5EF4-FFF2-40B4-BE49-F238E27FC236}">
                <a16:creationId xmlns:a16="http://schemas.microsoft.com/office/drawing/2014/main" id="{86A043BB-765E-3299-6DF2-4A51119CA99E}"/>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60B9D596-EB81-B3EA-4439-92339C7A7054}"/>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263786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28EFA89-FEEC-BE48-572A-F6A19D2B8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2" name="think-cell data - do not delete" hidden="1">
                        <a:extLst>
                          <a:ext uri="{FF2B5EF4-FFF2-40B4-BE49-F238E27FC236}">
                            <a16:creationId xmlns:a16="http://schemas.microsoft.com/office/drawing/2014/main" id="{328EFA89-FEEC-BE48-572A-F6A19D2B82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65590E-539F-014F-8D58-462B0C89CF48}"/>
              </a:ext>
            </a:extLst>
          </p:cNvPr>
          <p:cNvSpPr>
            <a:spLocks noGrp="1"/>
          </p:cNvSpPr>
          <p:nvPr>
            <p:ph type="title"/>
          </p:nvPr>
        </p:nvSpPr>
        <p:spPr/>
        <p:txBody>
          <a:bodyPr vert="horz"/>
          <a:lstStyle/>
          <a:p>
            <a:r>
              <a:rPr lang="en-US" dirty="0"/>
              <a:t>Our BU [insert BU or Product] portfolio is currently balanced [insert your own description]</a:t>
            </a:r>
          </a:p>
        </p:txBody>
      </p:sp>
      <p:sp>
        <p:nvSpPr>
          <p:cNvPr id="521" name="Rectangle 520">
            <a:extLst>
              <a:ext uri="{FF2B5EF4-FFF2-40B4-BE49-F238E27FC236}">
                <a16:creationId xmlns:a16="http://schemas.microsoft.com/office/drawing/2014/main" id="{14EE3188-976A-6282-90A1-7D6534A70E65}"/>
              </a:ext>
            </a:extLst>
          </p:cNvPr>
          <p:cNvSpPr/>
          <p:nvPr/>
        </p:nvSpPr>
        <p:spPr>
          <a:xfrm>
            <a:off x="9780000" y="1"/>
            <a:ext cx="2412000"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Version 2 - Manual chart</a:t>
            </a:r>
          </a:p>
        </p:txBody>
      </p:sp>
      <p:sp>
        <p:nvSpPr>
          <p:cNvPr id="11" name="Rectangle 10">
            <a:extLst>
              <a:ext uri="{FF2B5EF4-FFF2-40B4-BE49-F238E27FC236}">
                <a16:creationId xmlns:a16="http://schemas.microsoft.com/office/drawing/2014/main" id="{BDCA7D22-2781-18D7-45BD-9F30CFE2407A}"/>
              </a:ext>
            </a:extLst>
          </p:cNvPr>
          <p:cNvSpPr/>
          <p:nvPr/>
        </p:nvSpPr>
        <p:spPr>
          <a:xfrm>
            <a:off x="1883679" y="4232014"/>
            <a:ext cx="4254993" cy="1795510"/>
          </a:xfrm>
          <a:prstGeom prst="rect">
            <a:avLst/>
          </a:prstGeom>
          <a:solidFill>
            <a:srgbClr val="C00000"/>
          </a:solidFill>
          <a:ln w="12700">
            <a:noFill/>
            <a:miter lim="800000"/>
            <a:headEnd/>
            <a:tailEnd/>
          </a:ln>
          <a:effectLst>
            <a:outerShdw blurRad="44450" dist="27940" dir="5400000" algn="ctr">
              <a:srgbClr val="000000">
                <a:alpha val="32000"/>
              </a:srgbClr>
            </a:outerShdw>
          </a:effectLst>
        </p:spPr>
        <p:txBody>
          <a:bodyPr tIns="108000" anchor="t"/>
          <a:lstStyle/>
          <a:p>
            <a:pPr algn="ctr"/>
            <a:r>
              <a:rPr lang="en-US" sz="1500" b="1" kern="0" dirty="0">
                <a:solidFill>
                  <a:schemeClr val="bg1"/>
                </a:solidFill>
              </a:rPr>
              <a:t>Dog</a:t>
            </a:r>
          </a:p>
        </p:txBody>
      </p:sp>
      <p:sp>
        <p:nvSpPr>
          <p:cNvPr id="13" name="Rectangle 12">
            <a:extLst>
              <a:ext uri="{FF2B5EF4-FFF2-40B4-BE49-F238E27FC236}">
                <a16:creationId xmlns:a16="http://schemas.microsoft.com/office/drawing/2014/main" id="{5BAA0C2F-FBD2-6E82-3673-0EAC1DC628CD}"/>
              </a:ext>
            </a:extLst>
          </p:cNvPr>
          <p:cNvSpPr/>
          <p:nvPr/>
        </p:nvSpPr>
        <p:spPr>
          <a:xfrm>
            <a:off x="1883679" y="2297811"/>
            <a:ext cx="4254993" cy="1795510"/>
          </a:xfrm>
          <a:prstGeom prst="rect">
            <a:avLst/>
          </a:prstGeom>
          <a:solidFill>
            <a:srgbClr val="FFC000"/>
          </a:solidFill>
          <a:ln w="12700">
            <a:noFill/>
            <a:miter lim="800000"/>
            <a:headEnd/>
            <a:tailEnd/>
          </a:ln>
          <a:effectLst>
            <a:outerShdw blurRad="44450" dist="27940" dir="5400000" algn="ctr">
              <a:srgbClr val="000000">
                <a:alpha val="32000"/>
              </a:srgbClr>
            </a:outerShdw>
          </a:effectLst>
        </p:spPr>
        <p:txBody>
          <a:bodyPr tIns="108000" anchor="t"/>
          <a:lstStyle/>
          <a:p>
            <a:pPr algn="ctr"/>
            <a:r>
              <a:rPr lang="en-US" sz="1500" b="1" kern="0" dirty="0">
                <a:solidFill>
                  <a:schemeClr val="bg1"/>
                </a:solidFill>
              </a:rPr>
              <a:t>Question mark</a:t>
            </a:r>
          </a:p>
        </p:txBody>
      </p:sp>
      <p:sp>
        <p:nvSpPr>
          <p:cNvPr id="14" name="Rectangle 13">
            <a:extLst>
              <a:ext uri="{FF2B5EF4-FFF2-40B4-BE49-F238E27FC236}">
                <a16:creationId xmlns:a16="http://schemas.microsoft.com/office/drawing/2014/main" id="{C11513D5-9FCF-094E-FCFC-67894D725304}"/>
              </a:ext>
            </a:extLst>
          </p:cNvPr>
          <p:cNvSpPr/>
          <p:nvPr/>
        </p:nvSpPr>
        <p:spPr>
          <a:xfrm>
            <a:off x="6276402" y="4232014"/>
            <a:ext cx="4254993" cy="1795510"/>
          </a:xfrm>
          <a:prstGeom prst="rect">
            <a:avLst/>
          </a:prstGeom>
          <a:solidFill>
            <a:srgbClr val="E5F4D4"/>
          </a:solidFill>
          <a:ln w="12700">
            <a:noFill/>
            <a:miter lim="800000"/>
            <a:headEnd/>
            <a:tailEnd/>
          </a:ln>
          <a:effectLst>
            <a:outerShdw blurRad="44450" dist="27940" dir="5400000" algn="ctr">
              <a:srgbClr val="000000">
                <a:alpha val="32000"/>
              </a:srgbClr>
            </a:outerShdw>
          </a:effectLst>
        </p:spPr>
        <p:txBody>
          <a:bodyPr tIns="108000" anchor="t"/>
          <a:lstStyle/>
          <a:p>
            <a:pPr algn="ctr"/>
            <a:r>
              <a:rPr lang="en-US" sz="1500" b="1" kern="0" dirty="0">
                <a:solidFill>
                  <a:schemeClr val="tx1"/>
                </a:solidFill>
              </a:rPr>
              <a:t>Cash cow</a:t>
            </a:r>
          </a:p>
        </p:txBody>
      </p:sp>
      <p:sp>
        <p:nvSpPr>
          <p:cNvPr id="15" name="Rectangle 14">
            <a:extLst>
              <a:ext uri="{FF2B5EF4-FFF2-40B4-BE49-F238E27FC236}">
                <a16:creationId xmlns:a16="http://schemas.microsoft.com/office/drawing/2014/main" id="{D001528A-49DA-0016-882F-F10CBB31061B}"/>
              </a:ext>
            </a:extLst>
          </p:cNvPr>
          <p:cNvSpPr/>
          <p:nvPr/>
        </p:nvSpPr>
        <p:spPr>
          <a:xfrm>
            <a:off x="6276402" y="2297811"/>
            <a:ext cx="4254993" cy="1795510"/>
          </a:xfrm>
          <a:prstGeom prst="rect">
            <a:avLst/>
          </a:prstGeom>
          <a:solidFill>
            <a:schemeClr val="accent3"/>
          </a:solidFill>
          <a:ln w="12700">
            <a:noFill/>
            <a:miter lim="800000"/>
            <a:headEnd/>
            <a:tailEnd/>
          </a:ln>
          <a:effectLst>
            <a:outerShdw blurRad="44450" dist="27940" dir="5400000" algn="ctr">
              <a:srgbClr val="000000">
                <a:alpha val="32000"/>
              </a:srgbClr>
            </a:outerShdw>
          </a:effectLst>
        </p:spPr>
        <p:txBody>
          <a:bodyPr tIns="108000" anchor="t"/>
          <a:lstStyle/>
          <a:p>
            <a:pPr algn="ctr"/>
            <a:r>
              <a:rPr lang="en-US" sz="1500" b="1" kern="0" dirty="0">
                <a:solidFill>
                  <a:schemeClr val="bg1"/>
                </a:solidFill>
              </a:rPr>
              <a:t>Star</a:t>
            </a:r>
          </a:p>
        </p:txBody>
      </p:sp>
      <p:sp>
        <p:nvSpPr>
          <p:cNvPr id="16" name="TextBox 15">
            <a:extLst>
              <a:ext uri="{FF2B5EF4-FFF2-40B4-BE49-F238E27FC236}">
                <a16:creationId xmlns:a16="http://schemas.microsoft.com/office/drawing/2014/main" id="{165FA7EE-3141-E353-7CFD-C04E411F2255}"/>
              </a:ext>
            </a:extLst>
          </p:cNvPr>
          <p:cNvSpPr txBox="1"/>
          <p:nvPr/>
        </p:nvSpPr>
        <p:spPr>
          <a:xfrm>
            <a:off x="3972462" y="6161365"/>
            <a:ext cx="4470149" cy="307777"/>
          </a:xfrm>
          <a:prstGeom prst="rect">
            <a:avLst/>
          </a:prstGeom>
          <a:noFill/>
        </p:spPr>
        <p:txBody>
          <a:bodyPr wrap="square" rtlCol="0">
            <a:spAutoFit/>
          </a:bodyPr>
          <a:lstStyle/>
          <a:p>
            <a:pPr algn="ctr"/>
            <a:r>
              <a:rPr lang="en-US" b="1" dirty="0"/>
              <a:t>Market share</a:t>
            </a:r>
          </a:p>
        </p:txBody>
      </p:sp>
      <p:sp>
        <p:nvSpPr>
          <p:cNvPr id="17" name="TextBox 16">
            <a:extLst>
              <a:ext uri="{FF2B5EF4-FFF2-40B4-BE49-F238E27FC236}">
                <a16:creationId xmlns:a16="http://schemas.microsoft.com/office/drawing/2014/main" id="{F91EF9C4-5148-57D6-C581-2EE99223CFA2}"/>
              </a:ext>
            </a:extLst>
          </p:cNvPr>
          <p:cNvSpPr txBox="1"/>
          <p:nvPr/>
        </p:nvSpPr>
        <p:spPr>
          <a:xfrm>
            <a:off x="593962" y="3901057"/>
            <a:ext cx="1180943" cy="523220"/>
          </a:xfrm>
          <a:prstGeom prst="rect">
            <a:avLst/>
          </a:prstGeom>
          <a:noFill/>
        </p:spPr>
        <p:txBody>
          <a:bodyPr wrap="square" rtlCol="0">
            <a:spAutoFit/>
          </a:bodyPr>
          <a:lstStyle/>
          <a:p>
            <a:pPr algn="r"/>
            <a:r>
              <a:rPr lang="en-US" b="1" dirty="0"/>
              <a:t>Growth</a:t>
            </a:r>
            <a:br>
              <a:rPr lang="en-US" b="1" dirty="0"/>
            </a:br>
            <a:r>
              <a:rPr lang="en-US" b="1" dirty="0"/>
              <a:t> rate</a:t>
            </a:r>
          </a:p>
        </p:txBody>
      </p:sp>
      <p:cxnSp>
        <p:nvCxnSpPr>
          <p:cNvPr id="18" name="Straight Connector 17">
            <a:extLst>
              <a:ext uri="{FF2B5EF4-FFF2-40B4-BE49-F238E27FC236}">
                <a16:creationId xmlns:a16="http://schemas.microsoft.com/office/drawing/2014/main" id="{FB71FB09-763B-C37E-5E6C-575D6EF6F777}"/>
              </a:ext>
            </a:extLst>
          </p:cNvPr>
          <p:cNvCxnSpPr>
            <a:cxnSpLocks/>
          </p:cNvCxnSpPr>
          <p:nvPr/>
        </p:nvCxnSpPr>
        <p:spPr>
          <a:xfrm>
            <a:off x="6264687" y="2412111"/>
            <a:ext cx="0" cy="36154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790A5CD-5364-EB8D-1FF0-AB64B62E0AF0}"/>
              </a:ext>
            </a:extLst>
          </p:cNvPr>
          <p:cNvSpPr txBox="1"/>
          <p:nvPr/>
        </p:nvSpPr>
        <p:spPr>
          <a:xfrm>
            <a:off x="1883679" y="6161365"/>
            <a:ext cx="1249265" cy="307777"/>
          </a:xfrm>
          <a:prstGeom prst="rect">
            <a:avLst/>
          </a:prstGeom>
          <a:noFill/>
        </p:spPr>
        <p:txBody>
          <a:bodyPr wrap="square" rtlCol="0">
            <a:spAutoFit/>
          </a:bodyPr>
          <a:lstStyle/>
          <a:p>
            <a:r>
              <a:rPr lang="en-US" dirty="0"/>
              <a:t>Low</a:t>
            </a:r>
          </a:p>
        </p:txBody>
      </p:sp>
      <p:sp>
        <p:nvSpPr>
          <p:cNvPr id="20" name="TextBox 19">
            <a:extLst>
              <a:ext uri="{FF2B5EF4-FFF2-40B4-BE49-F238E27FC236}">
                <a16:creationId xmlns:a16="http://schemas.microsoft.com/office/drawing/2014/main" id="{3B01EF79-29AF-7D52-64CD-45DCB12867A5}"/>
              </a:ext>
            </a:extLst>
          </p:cNvPr>
          <p:cNvSpPr txBox="1"/>
          <p:nvPr/>
        </p:nvSpPr>
        <p:spPr>
          <a:xfrm>
            <a:off x="9282130" y="6161365"/>
            <a:ext cx="1249265" cy="307777"/>
          </a:xfrm>
          <a:prstGeom prst="rect">
            <a:avLst/>
          </a:prstGeom>
          <a:noFill/>
        </p:spPr>
        <p:txBody>
          <a:bodyPr wrap="square" rtlCol="0">
            <a:spAutoFit/>
          </a:bodyPr>
          <a:lstStyle/>
          <a:p>
            <a:pPr algn="r"/>
            <a:r>
              <a:rPr lang="en-US" dirty="0"/>
              <a:t>High</a:t>
            </a:r>
          </a:p>
        </p:txBody>
      </p:sp>
      <p:sp>
        <p:nvSpPr>
          <p:cNvPr id="21" name="TextBox 20">
            <a:extLst>
              <a:ext uri="{FF2B5EF4-FFF2-40B4-BE49-F238E27FC236}">
                <a16:creationId xmlns:a16="http://schemas.microsoft.com/office/drawing/2014/main" id="{3CB6DE20-0078-A190-4899-BF6B4973C0B9}"/>
              </a:ext>
            </a:extLst>
          </p:cNvPr>
          <p:cNvSpPr txBox="1"/>
          <p:nvPr/>
        </p:nvSpPr>
        <p:spPr>
          <a:xfrm>
            <a:off x="593962" y="5719747"/>
            <a:ext cx="1180943" cy="307777"/>
          </a:xfrm>
          <a:prstGeom prst="rect">
            <a:avLst/>
          </a:prstGeom>
          <a:noFill/>
        </p:spPr>
        <p:txBody>
          <a:bodyPr wrap="square" rtlCol="0">
            <a:spAutoFit/>
          </a:bodyPr>
          <a:lstStyle/>
          <a:p>
            <a:pPr algn="r"/>
            <a:r>
              <a:rPr lang="en-US" dirty="0"/>
              <a:t>Low</a:t>
            </a:r>
          </a:p>
        </p:txBody>
      </p:sp>
      <p:sp>
        <p:nvSpPr>
          <p:cNvPr id="22" name="TextBox 21">
            <a:extLst>
              <a:ext uri="{FF2B5EF4-FFF2-40B4-BE49-F238E27FC236}">
                <a16:creationId xmlns:a16="http://schemas.microsoft.com/office/drawing/2014/main" id="{A6E4ECE0-6F22-F4E4-11C5-7D45B1659967}"/>
              </a:ext>
            </a:extLst>
          </p:cNvPr>
          <p:cNvSpPr txBox="1"/>
          <p:nvPr/>
        </p:nvSpPr>
        <p:spPr>
          <a:xfrm>
            <a:off x="593962" y="2297811"/>
            <a:ext cx="1180943" cy="307777"/>
          </a:xfrm>
          <a:prstGeom prst="rect">
            <a:avLst/>
          </a:prstGeom>
          <a:noFill/>
        </p:spPr>
        <p:txBody>
          <a:bodyPr wrap="square" rtlCol="0">
            <a:spAutoFit/>
          </a:bodyPr>
          <a:lstStyle/>
          <a:p>
            <a:pPr algn="r"/>
            <a:r>
              <a:rPr lang="en-US" dirty="0"/>
              <a:t>High</a:t>
            </a:r>
          </a:p>
        </p:txBody>
      </p:sp>
      <p:pic>
        <p:nvPicPr>
          <p:cNvPr id="23" name="Graphic 22" descr="Dog with solid fill">
            <a:extLst>
              <a:ext uri="{FF2B5EF4-FFF2-40B4-BE49-F238E27FC236}">
                <a16:creationId xmlns:a16="http://schemas.microsoft.com/office/drawing/2014/main" id="{07B4BD5F-1F63-791B-44E4-DF0BA0BC1F1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25846" y="4225780"/>
            <a:ext cx="601042" cy="601042"/>
          </a:xfrm>
          <a:prstGeom prst="rect">
            <a:avLst/>
          </a:prstGeom>
        </p:spPr>
      </p:pic>
      <p:pic>
        <p:nvPicPr>
          <p:cNvPr id="24" name="Graphic 23" descr="Cow with solid fill">
            <a:extLst>
              <a:ext uri="{FF2B5EF4-FFF2-40B4-BE49-F238E27FC236}">
                <a16:creationId xmlns:a16="http://schemas.microsoft.com/office/drawing/2014/main" id="{49B4BDCB-9D23-2235-C864-65D14D631F3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28337" y="4225780"/>
            <a:ext cx="568137" cy="568137"/>
          </a:xfrm>
          <a:prstGeom prst="rect">
            <a:avLst/>
          </a:prstGeom>
        </p:spPr>
      </p:pic>
      <p:sp>
        <p:nvSpPr>
          <p:cNvPr id="25" name="Star: 5 Points 24">
            <a:extLst>
              <a:ext uri="{FF2B5EF4-FFF2-40B4-BE49-F238E27FC236}">
                <a16:creationId xmlns:a16="http://schemas.microsoft.com/office/drawing/2014/main" id="{4BB82B98-1FC3-2810-6E16-D934C8127908}"/>
              </a:ext>
            </a:extLst>
          </p:cNvPr>
          <p:cNvSpPr/>
          <p:nvPr/>
        </p:nvSpPr>
        <p:spPr>
          <a:xfrm>
            <a:off x="10036474" y="2405817"/>
            <a:ext cx="360000" cy="360000"/>
          </a:xfrm>
          <a:prstGeom prst="star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descr="Question Mark with solid fill">
            <a:extLst>
              <a:ext uri="{FF2B5EF4-FFF2-40B4-BE49-F238E27FC236}">
                <a16:creationId xmlns:a16="http://schemas.microsoft.com/office/drawing/2014/main" id="{A48001A8-2B8E-85B7-9B0B-E9DE05CC01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44964" y="2388418"/>
            <a:ext cx="460750" cy="460750"/>
          </a:xfrm>
          <a:prstGeom prst="rect">
            <a:avLst/>
          </a:prstGeom>
        </p:spPr>
      </p:pic>
      <p:sp>
        <p:nvSpPr>
          <p:cNvPr id="27" name="Rectangle: Rounded Corners 26">
            <a:extLst>
              <a:ext uri="{FF2B5EF4-FFF2-40B4-BE49-F238E27FC236}">
                <a16:creationId xmlns:a16="http://schemas.microsoft.com/office/drawing/2014/main" id="{FDA1C338-A02F-1CE6-3F36-508077EC8135}"/>
              </a:ext>
            </a:extLst>
          </p:cNvPr>
          <p:cNvSpPr/>
          <p:nvPr/>
        </p:nvSpPr>
        <p:spPr>
          <a:xfrm>
            <a:off x="3132944" y="4728032"/>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G</a:t>
            </a:r>
          </a:p>
        </p:txBody>
      </p:sp>
      <p:sp>
        <p:nvSpPr>
          <p:cNvPr id="28" name="Rectangle: Rounded Corners 27">
            <a:extLst>
              <a:ext uri="{FF2B5EF4-FFF2-40B4-BE49-F238E27FC236}">
                <a16:creationId xmlns:a16="http://schemas.microsoft.com/office/drawing/2014/main" id="{570CA8AB-1E95-F3B1-AACB-029FCAD80529}"/>
              </a:ext>
            </a:extLst>
          </p:cNvPr>
          <p:cNvSpPr/>
          <p:nvPr/>
        </p:nvSpPr>
        <p:spPr>
          <a:xfrm>
            <a:off x="3132944" y="5169836"/>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H</a:t>
            </a:r>
          </a:p>
        </p:txBody>
      </p:sp>
      <p:sp>
        <p:nvSpPr>
          <p:cNvPr id="29" name="Rectangle: Rounded Corners 28">
            <a:extLst>
              <a:ext uri="{FF2B5EF4-FFF2-40B4-BE49-F238E27FC236}">
                <a16:creationId xmlns:a16="http://schemas.microsoft.com/office/drawing/2014/main" id="{3CC08BA4-97A7-F157-5DC3-8BB769D5C9BA}"/>
              </a:ext>
            </a:extLst>
          </p:cNvPr>
          <p:cNvSpPr/>
          <p:nvPr/>
        </p:nvSpPr>
        <p:spPr>
          <a:xfrm>
            <a:off x="3132944" y="2782615"/>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A</a:t>
            </a:r>
          </a:p>
        </p:txBody>
      </p:sp>
      <p:sp>
        <p:nvSpPr>
          <p:cNvPr id="30" name="Rectangle: Rounded Corners 29">
            <a:extLst>
              <a:ext uri="{FF2B5EF4-FFF2-40B4-BE49-F238E27FC236}">
                <a16:creationId xmlns:a16="http://schemas.microsoft.com/office/drawing/2014/main" id="{893FF2EE-C067-ADD2-E7F0-779203D2A7DF}"/>
              </a:ext>
            </a:extLst>
          </p:cNvPr>
          <p:cNvSpPr/>
          <p:nvPr/>
        </p:nvSpPr>
        <p:spPr>
          <a:xfrm>
            <a:off x="7507758" y="2782615"/>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B</a:t>
            </a:r>
          </a:p>
        </p:txBody>
      </p:sp>
      <p:sp>
        <p:nvSpPr>
          <p:cNvPr id="31" name="Rectangle: Rounded Corners 30">
            <a:extLst>
              <a:ext uri="{FF2B5EF4-FFF2-40B4-BE49-F238E27FC236}">
                <a16:creationId xmlns:a16="http://schemas.microsoft.com/office/drawing/2014/main" id="{7B1C5471-83F5-B54D-DA29-DDA84EB72BDD}"/>
              </a:ext>
            </a:extLst>
          </p:cNvPr>
          <p:cNvSpPr/>
          <p:nvPr/>
        </p:nvSpPr>
        <p:spPr>
          <a:xfrm>
            <a:off x="7507758" y="3224419"/>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C</a:t>
            </a:r>
          </a:p>
        </p:txBody>
      </p:sp>
      <p:sp>
        <p:nvSpPr>
          <p:cNvPr id="32" name="Rectangle: Rounded Corners 31">
            <a:extLst>
              <a:ext uri="{FF2B5EF4-FFF2-40B4-BE49-F238E27FC236}">
                <a16:creationId xmlns:a16="http://schemas.microsoft.com/office/drawing/2014/main" id="{983CEDA5-2532-9C73-88A3-06B2340C45FC}"/>
              </a:ext>
            </a:extLst>
          </p:cNvPr>
          <p:cNvSpPr/>
          <p:nvPr/>
        </p:nvSpPr>
        <p:spPr>
          <a:xfrm>
            <a:off x="7507758" y="4683376"/>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D</a:t>
            </a:r>
          </a:p>
        </p:txBody>
      </p:sp>
      <p:sp>
        <p:nvSpPr>
          <p:cNvPr id="33" name="Rectangle: Rounded Corners 32">
            <a:extLst>
              <a:ext uri="{FF2B5EF4-FFF2-40B4-BE49-F238E27FC236}">
                <a16:creationId xmlns:a16="http://schemas.microsoft.com/office/drawing/2014/main" id="{25C99C9E-48C5-4465-53FE-0886872A064F}"/>
              </a:ext>
            </a:extLst>
          </p:cNvPr>
          <p:cNvSpPr/>
          <p:nvPr/>
        </p:nvSpPr>
        <p:spPr>
          <a:xfrm>
            <a:off x="7507758" y="5125180"/>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E</a:t>
            </a:r>
          </a:p>
        </p:txBody>
      </p:sp>
      <p:sp>
        <p:nvSpPr>
          <p:cNvPr id="34" name="Rectangle: Rounded Corners 33">
            <a:extLst>
              <a:ext uri="{FF2B5EF4-FFF2-40B4-BE49-F238E27FC236}">
                <a16:creationId xmlns:a16="http://schemas.microsoft.com/office/drawing/2014/main" id="{DBA6683B-3334-2500-5102-B27AACA4430B}"/>
              </a:ext>
            </a:extLst>
          </p:cNvPr>
          <p:cNvSpPr/>
          <p:nvPr/>
        </p:nvSpPr>
        <p:spPr>
          <a:xfrm>
            <a:off x="7507758" y="5566985"/>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F</a:t>
            </a:r>
          </a:p>
        </p:txBody>
      </p:sp>
      <p:sp>
        <p:nvSpPr>
          <p:cNvPr id="51" name="Rectangle 50">
            <a:extLst>
              <a:ext uri="{FF2B5EF4-FFF2-40B4-BE49-F238E27FC236}">
                <a16:creationId xmlns:a16="http://schemas.microsoft.com/office/drawing/2014/main" id="{B4FAB37C-F2ED-F3AB-708E-D1B0C3EB23A5}"/>
              </a:ext>
            </a:extLst>
          </p:cNvPr>
          <p:cNvSpPr>
            <a:spLocks noChangeArrowheads="1"/>
          </p:cNvSpPr>
          <p:nvPr/>
        </p:nvSpPr>
        <p:spPr bwMode="auto">
          <a:xfrm>
            <a:off x="9424230" y="1798262"/>
            <a:ext cx="381000" cy="382657"/>
          </a:xfrm>
          <a:prstGeom prst="rect">
            <a:avLst/>
          </a:prstGeom>
          <a:solidFill>
            <a:schemeClr val="accent6">
              <a:lumMod val="75000"/>
            </a:schemeClr>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52" name="TextBox 51">
            <a:extLst>
              <a:ext uri="{FF2B5EF4-FFF2-40B4-BE49-F238E27FC236}">
                <a16:creationId xmlns:a16="http://schemas.microsoft.com/office/drawing/2014/main" id="{EE2DC429-55A5-A341-6797-56D434983976}"/>
              </a:ext>
            </a:extLst>
          </p:cNvPr>
          <p:cNvSpPr txBox="1"/>
          <p:nvPr/>
        </p:nvSpPr>
        <p:spPr>
          <a:xfrm>
            <a:off x="8469308" y="1871313"/>
            <a:ext cx="973090" cy="276999"/>
          </a:xfrm>
          <a:prstGeom prst="rect">
            <a:avLst/>
          </a:prstGeom>
          <a:noFill/>
        </p:spPr>
        <p:txBody>
          <a:bodyPr wrap="square" rtlCol="0">
            <a:spAutoFit/>
          </a:bodyPr>
          <a:lstStyle/>
          <a:p>
            <a:pPr algn="r"/>
            <a:r>
              <a:rPr lang="en-US" sz="1200" dirty="0"/>
              <a:t>Caption:</a:t>
            </a:r>
          </a:p>
        </p:txBody>
      </p:sp>
      <p:sp>
        <p:nvSpPr>
          <p:cNvPr id="53" name="Rectangle 52">
            <a:extLst>
              <a:ext uri="{FF2B5EF4-FFF2-40B4-BE49-F238E27FC236}">
                <a16:creationId xmlns:a16="http://schemas.microsoft.com/office/drawing/2014/main" id="{B4312C89-7EE8-CBBA-A9C9-4CB5AA3037DA}"/>
              </a:ext>
            </a:extLst>
          </p:cNvPr>
          <p:cNvSpPr>
            <a:spLocks noChangeArrowheads="1"/>
          </p:cNvSpPr>
          <p:nvPr/>
        </p:nvSpPr>
        <p:spPr bwMode="auto">
          <a:xfrm>
            <a:off x="9932230" y="1798262"/>
            <a:ext cx="381000" cy="382657"/>
          </a:xfrm>
          <a:prstGeom prst="rect">
            <a:avLst/>
          </a:prstGeom>
          <a:solidFill>
            <a:schemeClr val="accent5"/>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54" name="Rectangle 53">
            <a:extLst>
              <a:ext uri="{FF2B5EF4-FFF2-40B4-BE49-F238E27FC236}">
                <a16:creationId xmlns:a16="http://schemas.microsoft.com/office/drawing/2014/main" id="{DC3D55B2-64BA-E3E6-2CF3-3E6C76B1DA3E}"/>
              </a:ext>
            </a:extLst>
          </p:cNvPr>
          <p:cNvSpPr>
            <a:spLocks noChangeArrowheads="1"/>
          </p:cNvSpPr>
          <p:nvPr/>
        </p:nvSpPr>
        <p:spPr bwMode="auto">
          <a:xfrm>
            <a:off x="10440230" y="1798262"/>
            <a:ext cx="381000" cy="382657"/>
          </a:xfrm>
          <a:prstGeom prst="rect">
            <a:avLst/>
          </a:prstGeom>
          <a:solidFill>
            <a:schemeClr val="accent4">
              <a:lumMod val="20000"/>
              <a:lumOff val="80000"/>
            </a:schemeClr>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55" name="Rectangle 54">
            <a:extLst>
              <a:ext uri="{FF2B5EF4-FFF2-40B4-BE49-F238E27FC236}">
                <a16:creationId xmlns:a16="http://schemas.microsoft.com/office/drawing/2014/main" id="{956DFD35-F15C-4076-2DD9-D4D67D21886F}"/>
              </a:ext>
            </a:extLst>
          </p:cNvPr>
          <p:cNvSpPr>
            <a:spLocks noChangeArrowheads="1"/>
          </p:cNvSpPr>
          <p:nvPr/>
        </p:nvSpPr>
        <p:spPr bwMode="auto">
          <a:xfrm>
            <a:off x="10948230" y="1798262"/>
            <a:ext cx="381000" cy="382657"/>
          </a:xfrm>
          <a:prstGeom prst="rect">
            <a:avLst/>
          </a:prstGeom>
          <a:solidFill>
            <a:schemeClr val="accent3"/>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56" name="TextBox 55">
            <a:extLst>
              <a:ext uri="{FF2B5EF4-FFF2-40B4-BE49-F238E27FC236}">
                <a16:creationId xmlns:a16="http://schemas.microsoft.com/office/drawing/2014/main" id="{9B965346-A6E1-04B9-6F65-B2C730E46B0E}"/>
              </a:ext>
            </a:extLst>
          </p:cNvPr>
          <p:cNvSpPr txBox="1"/>
          <p:nvPr/>
        </p:nvSpPr>
        <p:spPr>
          <a:xfrm>
            <a:off x="9043230" y="1563692"/>
            <a:ext cx="1129270" cy="261610"/>
          </a:xfrm>
          <a:prstGeom prst="rect">
            <a:avLst/>
          </a:prstGeom>
          <a:noFill/>
        </p:spPr>
        <p:txBody>
          <a:bodyPr wrap="square" rtlCol="0">
            <a:spAutoFit/>
          </a:bodyPr>
          <a:lstStyle/>
          <a:p>
            <a:pPr algn="ctr"/>
            <a:r>
              <a:rPr lang="en-US" sz="1100" i="1" dirty="0"/>
              <a:t>No Investment</a:t>
            </a:r>
          </a:p>
        </p:txBody>
      </p:sp>
      <p:sp>
        <p:nvSpPr>
          <p:cNvPr id="57" name="TextBox 56">
            <a:extLst>
              <a:ext uri="{FF2B5EF4-FFF2-40B4-BE49-F238E27FC236}">
                <a16:creationId xmlns:a16="http://schemas.microsoft.com/office/drawing/2014/main" id="{C079CE97-A964-7ABF-CB76-0ED1723228B3}"/>
              </a:ext>
            </a:extLst>
          </p:cNvPr>
          <p:cNvSpPr txBox="1"/>
          <p:nvPr/>
        </p:nvSpPr>
        <p:spPr>
          <a:xfrm>
            <a:off x="10463849" y="1563692"/>
            <a:ext cx="1398857" cy="261610"/>
          </a:xfrm>
          <a:prstGeom prst="rect">
            <a:avLst/>
          </a:prstGeom>
          <a:noFill/>
        </p:spPr>
        <p:txBody>
          <a:bodyPr wrap="square" rtlCol="0">
            <a:spAutoFit/>
          </a:bodyPr>
          <a:lstStyle/>
          <a:p>
            <a:pPr algn="ctr"/>
            <a:r>
              <a:rPr lang="en-US" sz="1100" i="1" dirty="0"/>
              <a:t>More investment</a:t>
            </a:r>
          </a:p>
        </p:txBody>
      </p:sp>
      <p:sp>
        <p:nvSpPr>
          <p:cNvPr id="58" name="Arrow: Right 57">
            <a:extLst>
              <a:ext uri="{FF2B5EF4-FFF2-40B4-BE49-F238E27FC236}">
                <a16:creationId xmlns:a16="http://schemas.microsoft.com/office/drawing/2014/main" id="{FADE32FC-E000-579F-9C58-F702ED6F6653}"/>
              </a:ext>
            </a:extLst>
          </p:cNvPr>
          <p:cNvSpPr/>
          <p:nvPr/>
        </p:nvSpPr>
        <p:spPr bwMode="auto">
          <a:xfrm>
            <a:off x="9442398" y="1871313"/>
            <a:ext cx="1886832" cy="261610"/>
          </a:xfrm>
          <a:prstGeom prst="rightArrow">
            <a:avLst/>
          </a:prstGeom>
          <a:noFill/>
          <a:ln w="28575">
            <a:solidFill>
              <a:schemeClr val="tx2"/>
            </a:solid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ea typeface="+mn-ea"/>
              <a:cs typeface="Times New Roman" pitchFamily="18" charset="0"/>
            </a:endParaRPr>
          </a:p>
        </p:txBody>
      </p:sp>
      <p:sp>
        <p:nvSpPr>
          <p:cNvPr id="4" name="Footer Placeholder 3">
            <a:extLst>
              <a:ext uri="{FF2B5EF4-FFF2-40B4-BE49-F238E27FC236}">
                <a16:creationId xmlns:a16="http://schemas.microsoft.com/office/drawing/2014/main" id="{B702327A-8265-77CA-5CE5-D62A3B2FD94A}"/>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E17F457F-83C4-D641-D391-A41C09689B79}"/>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260069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think-cell data - do not delete" hidden="1">
            <a:extLst>
              <a:ext uri="{FF2B5EF4-FFF2-40B4-BE49-F238E27FC236}">
                <a16:creationId xmlns:a16="http://schemas.microsoft.com/office/drawing/2014/main" id="{13AC63A7-844C-60F3-CDCF-CFEDAEF3CC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95" imgH="394" progId="TCLayout.ActiveDocument.1">
                  <p:embed/>
                </p:oleObj>
              </mc:Choice>
              <mc:Fallback>
                <p:oleObj name="think-cell Slide" r:id="rId24" imgW="395" imgH="394" progId="TCLayout.ActiveDocument.1">
                  <p:embed/>
                  <p:pic>
                    <p:nvPicPr>
                      <p:cNvPr id="39" name="think-cell data - do not delete" hidden="1">
                        <a:extLst>
                          <a:ext uri="{FF2B5EF4-FFF2-40B4-BE49-F238E27FC236}">
                            <a16:creationId xmlns:a16="http://schemas.microsoft.com/office/drawing/2014/main" id="{13AC63A7-844C-60F3-CDCF-CFEDAEF3CCD1}"/>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62E6AA4-E82D-E19F-86E2-CC3A1F1C4289}"/>
              </a:ext>
            </a:extLst>
          </p:cNvPr>
          <p:cNvSpPr>
            <a:spLocks noGrp="1"/>
          </p:cNvSpPr>
          <p:nvPr>
            <p:ph type="title"/>
          </p:nvPr>
        </p:nvSpPr>
        <p:spPr/>
        <p:txBody>
          <a:bodyPr vert="horz"/>
          <a:lstStyle/>
          <a:p>
            <a:pPr>
              <a:lnSpc>
                <a:spcPct val="100000"/>
              </a:lnSpc>
            </a:pPr>
            <a:r>
              <a:rPr lang="en-US" dirty="0"/>
              <a:t>In 202x, the Product B was the main contributor to our total revenue and profit</a:t>
            </a:r>
          </a:p>
        </p:txBody>
      </p:sp>
      <p:cxnSp>
        <p:nvCxnSpPr>
          <p:cNvPr id="33" name="Straight Connector 32">
            <a:extLst>
              <a:ext uri="{FF2B5EF4-FFF2-40B4-BE49-F238E27FC236}">
                <a16:creationId xmlns:a16="http://schemas.microsoft.com/office/drawing/2014/main" id="{9A5AF301-0287-A97A-0BEB-56DCB2830974}"/>
              </a:ext>
            </a:extLst>
          </p:cNvPr>
          <p:cNvCxnSpPr/>
          <p:nvPr>
            <p:custDataLst>
              <p:tags r:id="rId2"/>
            </p:custDataLst>
          </p:nvPr>
        </p:nvCxnSpPr>
        <p:spPr bwMode="auto">
          <a:xfrm>
            <a:off x="1430338" y="5616575"/>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CBB3FB59-7702-C61F-DD89-7F9B3D49E0E0}"/>
              </a:ext>
            </a:extLst>
          </p:cNvPr>
          <p:cNvCxnSpPr/>
          <p:nvPr>
            <p:custDataLst>
              <p:tags r:id="rId3"/>
            </p:custDataLst>
          </p:nvPr>
        </p:nvCxnSpPr>
        <p:spPr bwMode="auto">
          <a:xfrm>
            <a:off x="2451100" y="5259388"/>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1B651D08-4AAF-0619-7DAA-F38CDAE8BE46}"/>
              </a:ext>
            </a:extLst>
          </p:cNvPr>
          <p:cNvCxnSpPr/>
          <p:nvPr>
            <p:custDataLst>
              <p:tags r:id="rId4"/>
            </p:custDataLst>
          </p:nvPr>
        </p:nvCxnSpPr>
        <p:spPr bwMode="auto">
          <a:xfrm>
            <a:off x="3470275" y="4184650"/>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2" name="Straight Connector 241">
            <a:extLst>
              <a:ext uri="{FF2B5EF4-FFF2-40B4-BE49-F238E27FC236}">
                <a16:creationId xmlns:a16="http://schemas.microsoft.com/office/drawing/2014/main" id="{F0B4042D-79C3-FEC6-D86E-505D11A9B6DB}"/>
              </a:ext>
            </a:extLst>
          </p:cNvPr>
          <p:cNvCxnSpPr/>
          <p:nvPr>
            <p:custDataLst>
              <p:tags r:id="rId5"/>
            </p:custDataLst>
          </p:nvPr>
        </p:nvCxnSpPr>
        <p:spPr bwMode="auto">
          <a:xfrm>
            <a:off x="4491038" y="2392363"/>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6" name="Chart 5">
            <a:extLst>
              <a:ext uri="{FF2B5EF4-FFF2-40B4-BE49-F238E27FC236}">
                <a16:creationId xmlns:a16="http://schemas.microsoft.com/office/drawing/2014/main" id="{DB915786-81CA-127B-3455-D5D8908E732C}"/>
              </a:ext>
            </a:extLst>
          </p:cNvPr>
          <p:cNvGraphicFramePr/>
          <p:nvPr>
            <p:custDataLst>
              <p:tags r:id="rId6"/>
            </p:custDataLst>
          </p:nvPr>
        </p:nvGraphicFramePr>
        <p:xfrm>
          <a:off x="555625" y="1958975"/>
          <a:ext cx="5264150" cy="4322763"/>
        </p:xfrm>
        <a:graphic>
          <a:graphicData uri="http://schemas.openxmlformats.org/drawingml/2006/chart">
            <c:chart xmlns:c="http://schemas.openxmlformats.org/drawingml/2006/chart" xmlns:r="http://schemas.openxmlformats.org/officeDocument/2006/relationships" r:id="rId26"/>
          </a:graphicData>
        </a:graphic>
      </p:graphicFrame>
      <p:sp>
        <p:nvSpPr>
          <p:cNvPr id="29" name="Rectangle 28">
            <a:extLst>
              <a:ext uri="{FF2B5EF4-FFF2-40B4-BE49-F238E27FC236}">
                <a16:creationId xmlns:a16="http://schemas.microsoft.com/office/drawing/2014/main" id="{44939290-622B-5D88-8B0A-2C5DBB27609E}"/>
              </a:ext>
            </a:extLst>
          </p:cNvPr>
          <p:cNvSpPr/>
          <p:nvPr>
            <p:custDataLst>
              <p:tags r:id="rId7"/>
            </p:custDataLst>
          </p:nvPr>
        </p:nvSpPr>
        <p:spPr bwMode="auto">
          <a:xfrm>
            <a:off x="750888" y="6034088"/>
            <a:ext cx="7921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27E0B5F-B9E3-409F-846E-4985B96EA95B}" type="datetime'''Pr''o''''''d''''u''''''''''''c''''''t ''''''''''''A'''''''">
              <a:rPr lang="en-US" altLang="en-US" sz="1400" smtClean="0">
                <a:solidFill>
                  <a:schemeClr val="tx1"/>
                </a:solidFill>
              </a:rPr>
              <a:pPr algn="ctr">
                <a:spcBef>
                  <a:spcPct val="0"/>
                </a:spcBef>
                <a:spcAft>
                  <a:spcPct val="0"/>
                </a:spcAft>
              </a:pPr>
              <a:t>Product A</a:t>
            </a:fld>
            <a:endParaRPr lang="en-US" sz="1400" dirty="0">
              <a:solidFill>
                <a:schemeClr val="tx1"/>
              </a:solidFill>
            </a:endParaRPr>
          </a:p>
        </p:txBody>
      </p:sp>
      <p:sp>
        <p:nvSpPr>
          <p:cNvPr id="32" name="Rectangle 31">
            <a:extLst>
              <a:ext uri="{FF2B5EF4-FFF2-40B4-BE49-F238E27FC236}">
                <a16:creationId xmlns:a16="http://schemas.microsoft.com/office/drawing/2014/main" id="{B0E93207-5400-3B24-8F06-FB5A40305537}"/>
              </a:ext>
            </a:extLst>
          </p:cNvPr>
          <p:cNvSpPr/>
          <p:nvPr>
            <p:custDataLst>
              <p:tags r:id="rId8"/>
            </p:custDataLst>
          </p:nvPr>
        </p:nvSpPr>
        <p:spPr bwMode="auto">
          <a:xfrm>
            <a:off x="1766888" y="6034088"/>
            <a:ext cx="801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CE0A2863-CA53-46F2-BE6C-89312A42B4D7}" type="datetime'P''''ro''''''''''''''''''d''''''''''u''''''''ct C'">
              <a:rPr lang="en-US" altLang="en-US" sz="1400" smtClean="0">
                <a:solidFill>
                  <a:schemeClr val="tx1"/>
                </a:solidFill>
              </a:rPr>
              <a:pPr algn="ctr">
                <a:spcBef>
                  <a:spcPct val="0"/>
                </a:spcBef>
                <a:spcAft>
                  <a:spcPct val="0"/>
                </a:spcAft>
              </a:pPr>
              <a:t>Product C</a:t>
            </a:fld>
            <a:endParaRPr lang="en-US" sz="1400" dirty="0">
              <a:solidFill>
                <a:schemeClr val="tx1"/>
              </a:solidFill>
            </a:endParaRPr>
          </a:p>
        </p:txBody>
      </p:sp>
      <p:sp>
        <p:nvSpPr>
          <p:cNvPr id="47" name="Rectangle 46">
            <a:extLst>
              <a:ext uri="{FF2B5EF4-FFF2-40B4-BE49-F238E27FC236}">
                <a16:creationId xmlns:a16="http://schemas.microsoft.com/office/drawing/2014/main" id="{F9DB0CF4-78CE-BF30-6B2F-33FFDB8BBA51}"/>
              </a:ext>
            </a:extLst>
          </p:cNvPr>
          <p:cNvSpPr/>
          <p:nvPr>
            <p:custDataLst>
              <p:tags r:id="rId9"/>
            </p:custDataLst>
          </p:nvPr>
        </p:nvSpPr>
        <p:spPr bwMode="auto">
          <a:xfrm>
            <a:off x="2786062" y="6034088"/>
            <a:ext cx="801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3A5D1283-B8A7-4872-B6A8-3572235EF09F}" type="datetime'''''''''Pro''''d''''''u''''c''''''''''t'''''''' ''''''''''D'">
              <a:rPr lang="en-US" altLang="en-US" sz="1400" smtClean="0">
                <a:solidFill>
                  <a:schemeClr val="tx1"/>
                </a:solidFill>
              </a:rPr>
              <a:pPr algn="ctr">
                <a:spcBef>
                  <a:spcPct val="0"/>
                </a:spcBef>
                <a:spcAft>
                  <a:spcPct val="0"/>
                </a:spcAft>
              </a:pPr>
              <a:t>Product D</a:t>
            </a:fld>
            <a:endParaRPr lang="en-US" sz="1400" dirty="0">
              <a:solidFill>
                <a:schemeClr val="tx1"/>
              </a:solidFill>
            </a:endParaRPr>
          </a:p>
        </p:txBody>
      </p:sp>
      <p:sp>
        <p:nvSpPr>
          <p:cNvPr id="31" name="Rectangle 30">
            <a:extLst>
              <a:ext uri="{FF2B5EF4-FFF2-40B4-BE49-F238E27FC236}">
                <a16:creationId xmlns:a16="http://schemas.microsoft.com/office/drawing/2014/main" id="{D01C6503-5ED1-5D15-A5F5-356918D536A7}"/>
              </a:ext>
            </a:extLst>
          </p:cNvPr>
          <p:cNvSpPr/>
          <p:nvPr>
            <p:custDataLst>
              <p:tags r:id="rId10"/>
            </p:custDataLst>
          </p:nvPr>
        </p:nvSpPr>
        <p:spPr bwMode="auto">
          <a:xfrm>
            <a:off x="3811589" y="6034088"/>
            <a:ext cx="7921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76EB48AF-A475-4A68-B474-9FF58CF5E5CD}" type="datetime'''''P''''''r''''o''''d''''''''''''''''''u''''''ct ''''''B'">
              <a:rPr lang="en-US" altLang="en-US" sz="1400" smtClean="0">
                <a:solidFill>
                  <a:schemeClr val="tx1"/>
                </a:solidFill>
              </a:rPr>
              <a:pPr algn="ctr">
                <a:spcBef>
                  <a:spcPct val="0"/>
                </a:spcBef>
                <a:spcAft>
                  <a:spcPct val="0"/>
                </a:spcAft>
              </a:pPr>
              <a:t>Product B</a:t>
            </a:fld>
            <a:endParaRPr lang="en-US" sz="1400" dirty="0">
              <a:solidFill>
                <a:schemeClr val="tx1"/>
              </a:solidFill>
            </a:endParaRPr>
          </a:p>
        </p:txBody>
      </p:sp>
      <p:sp>
        <p:nvSpPr>
          <p:cNvPr id="240" name="Rectangle 239">
            <a:extLst>
              <a:ext uri="{FF2B5EF4-FFF2-40B4-BE49-F238E27FC236}">
                <a16:creationId xmlns:a16="http://schemas.microsoft.com/office/drawing/2014/main" id="{EAD3094E-4B29-1F8F-018D-52E7D10CDEFF}"/>
              </a:ext>
            </a:extLst>
          </p:cNvPr>
          <p:cNvSpPr/>
          <p:nvPr>
            <p:custDataLst>
              <p:tags r:id="rId11"/>
            </p:custDataLst>
          </p:nvPr>
        </p:nvSpPr>
        <p:spPr bwMode="auto">
          <a:xfrm>
            <a:off x="5014913" y="6034088"/>
            <a:ext cx="4222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99C40CB3-F332-4DAB-8B32-3E685610F824}" type="datetime'''''''''''''T''''''''''o''''ta''''''l'''''''''''''''">
              <a:rPr lang="en-US" altLang="en-US" sz="1400" b="1" smtClean="0">
                <a:solidFill>
                  <a:schemeClr val="tx1"/>
                </a:solidFill>
              </a:rPr>
              <a:pPr algn="ctr">
                <a:spcBef>
                  <a:spcPct val="0"/>
                </a:spcBef>
                <a:spcAft>
                  <a:spcPct val="0"/>
                </a:spcAft>
              </a:pPr>
              <a:t>Total</a:t>
            </a:fld>
            <a:endParaRPr lang="en-US" sz="1400" b="1" dirty="0">
              <a:solidFill>
                <a:schemeClr val="tx1"/>
              </a:solidFill>
            </a:endParaRPr>
          </a:p>
        </p:txBody>
      </p:sp>
      <p:grpSp>
        <p:nvGrpSpPr>
          <p:cNvPr id="293" name="Group 292">
            <a:extLst>
              <a:ext uri="{FF2B5EF4-FFF2-40B4-BE49-F238E27FC236}">
                <a16:creationId xmlns:a16="http://schemas.microsoft.com/office/drawing/2014/main" id="{5D69BC1C-2DF4-5589-44E1-3DB97A025D80}"/>
              </a:ext>
            </a:extLst>
          </p:cNvPr>
          <p:cNvGrpSpPr/>
          <p:nvPr/>
        </p:nvGrpSpPr>
        <p:grpSpPr>
          <a:xfrm>
            <a:off x="599178" y="1686792"/>
            <a:ext cx="5127265" cy="338554"/>
            <a:chOff x="599178" y="1686792"/>
            <a:chExt cx="5127265" cy="338554"/>
          </a:xfrm>
        </p:grpSpPr>
        <p:cxnSp>
          <p:nvCxnSpPr>
            <p:cNvPr id="285" name="Straight Connector 284">
              <a:extLst>
                <a:ext uri="{FF2B5EF4-FFF2-40B4-BE49-F238E27FC236}">
                  <a16:creationId xmlns:a16="http://schemas.microsoft.com/office/drawing/2014/main" id="{6C8ACF0B-4264-9E91-38C8-A0185D8E9B6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86" name="TextBox 285">
              <a:extLst>
                <a:ext uri="{FF2B5EF4-FFF2-40B4-BE49-F238E27FC236}">
                  <a16:creationId xmlns:a16="http://schemas.microsoft.com/office/drawing/2014/main" id="{ACEC24EC-9A69-4C59-44D7-7905A67FAB96}"/>
                </a:ext>
              </a:extLst>
            </p:cNvPr>
            <p:cNvSpPr txBox="1"/>
            <p:nvPr/>
          </p:nvSpPr>
          <p:spPr>
            <a:xfrm>
              <a:off x="599178" y="1686792"/>
              <a:ext cx="5112000" cy="338554"/>
            </a:xfrm>
            <a:prstGeom prst="rect">
              <a:avLst/>
            </a:prstGeom>
            <a:noFill/>
          </p:spPr>
          <p:txBody>
            <a:bodyPr wrap="square" rtlCol="0">
              <a:spAutoFit/>
            </a:bodyPr>
            <a:lstStyle/>
            <a:p>
              <a:r>
                <a:rPr lang="en-US" sz="1600" b="1" dirty="0"/>
                <a:t>Revenue ($M), 202x</a:t>
              </a:r>
            </a:p>
          </p:txBody>
        </p:sp>
      </p:grpSp>
      <p:cxnSp>
        <p:nvCxnSpPr>
          <p:cNvPr id="294" name="Straight Connector 293">
            <a:extLst>
              <a:ext uri="{FF2B5EF4-FFF2-40B4-BE49-F238E27FC236}">
                <a16:creationId xmlns:a16="http://schemas.microsoft.com/office/drawing/2014/main" id="{918455AC-E831-46BF-D6BF-F9770C6EA16D}"/>
              </a:ext>
            </a:extLst>
          </p:cNvPr>
          <p:cNvCxnSpPr/>
          <p:nvPr>
            <p:custDataLst>
              <p:tags r:id="rId12"/>
            </p:custDataLst>
          </p:nvPr>
        </p:nvCxnSpPr>
        <p:spPr bwMode="auto">
          <a:xfrm>
            <a:off x="7280275" y="5576888"/>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5" name="Straight Connector 294">
            <a:extLst>
              <a:ext uri="{FF2B5EF4-FFF2-40B4-BE49-F238E27FC236}">
                <a16:creationId xmlns:a16="http://schemas.microsoft.com/office/drawing/2014/main" id="{A245DD83-2709-F4BE-3555-94451F7DC22C}"/>
              </a:ext>
            </a:extLst>
          </p:cNvPr>
          <p:cNvCxnSpPr/>
          <p:nvPr>
            <p:custDataLst>
              <p:tags r:id="rId13"/>
            </p:custDataLst>
          </p:nvPr>
        </p:nvCxnSpPr>
        <p:spPr bwMode="auto">
          <a:xfrm>
            <a:off x="8301038" y="5178425"/>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6" name="Straight Connector 295">
            <a:extLst>
              <a:ext uri="{FF2B5EF4-FFF2-40B4-BE49-F238E27FC236}">
                <a16:creationId xmlns:a16="http://schemas.microsoft.com/office/drawing/2014/main" id="{FB2C9E4F-6786-BBA6-C014-E2B4EACA701E}"/>
              </a:ext>
            </a:extLst>
          </p:cNvPr>
          <p:cNvCxnSpPr/>
          <p:nvPr>
            <p:custDataLst>
              <p:tags r:id="rId14"/>
            </p:custDataLst>
          </p:nvPr>
        </p:nvCxnSpPr>
        <p:spPr bwMode="auto">
          <a:xfrm>
            <a:off x="9320213" y="4781550"/>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8" name="Straight Connector 297">
            <a:extLst>
              <a:ext uri="{FF2B5EF4-FFF2-40B4-BE49-F238E27FC236}">
                <a16:creationId xmlns:a16="http://schemas.microsoft.com/office/drawing/2014/main" id="{7FA01884-AEB8-4066-E27A-11A5570AE8C7}"/>
              </a:ext>
            </a:extLst>
          </p:cNvPr>
          <p:cNvCxnSpPr/>
          <p:nvPr>
            <p:custDataLst>
              <p:tags r:id="rId15"/>
            </p:custDataLst>
          </p:nvPr>
        </p:nvCxnSpPr>
        <p:spPr bwMode="auto">
          <a:xfrm>
            <a:off x="10340975" y="2392363"/>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7" name="Chart 6">
            <a:extLst>
              <a:ext uri="{FF2B5EF4-FFF2-40B4-BE49-F238E27FC236}">
                <a16:creationId xmlns:a16="http://schemas.microsoft.com/office/drawing/2014/main" id="{7D43106D-AADE-4BA3-1FFF-A6E071CA49C9}"/>
              </a:ext>
            </a:extLst>
          </p:cNvPr>
          <p:cNvGraphicFramePr/>
          <p:nvPr>
            <p:custDataLst>
              <p:tags r:id="rId16"/>
            </p:custDataLst>
          </p:nvPr>
        </p:nvGraphicFramePr>
        <p:xfrm>
          <a:off x="6405563" y="1958975"/>
          <a:ext cx="5264150" cy="4322763"/>
        </p:xfrm>
        <a:graphic>
          <a:graphicData uri="http://schemas.openxmlformats.org/drawingml/2006/chart">
            <c:chart xmlns:c="http://schemas.openxmlformats.org/drawingml/2006/chart" xmlns:r="http://schemas.openxmlformats.org/officeDocument/2006/relationships" r:id="rId27"/>
          </a:graphicData>
        </a:graphic>
      </p:graphicFrame>
      <p:sp>
        <p:nvSpPr>
          <p:cNvPr id="300" name="Rectangle 299">
            <a:extLst>
              <a:ext uri="{FF2B5EF4-FFF2-40B4-BE49-F238E27FC236}">
                <a16:creationId xmlns:a16="http://schemas.microsoft.com/office/drawing/2014/main" id="{E42A92E8-782F-FF44-20B5-D576D5B87CF0}"/>
              </a:ext>
            </a:extLst>
          </p:cNvPr>
          <p:cNvSpPr/>
          <p:nvPr>
            <p:custDataLst>
              <p:tags r:id="rId17"/>
            </p:custDataLst>
          </p:nvPr>
        </p:nvSpPr>
        <p:spPr bwMode="auto">
          <a:xfrm>
            <a:off x="6600825" y="6034088"/>
            <a:ext cx="7921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BA65F69E-0436-495C-9AEA-BD26314059AA}" type="datetime'''P''rod''''''''''''''u''ct'''''''''''''' ''''A'''''''">
              <a:rPr lang="en-US" altLang="en-US" sz="1400" smtClean="0">
                <a:solidFill>
                  <a:schemeClr val="tx1"/>
                </a:solidFill>
              </a:rPr>
              <a:pPr algn="ctr">
                <a:spcBef>
                  <a:spcPct val="0"/>
                </a:spcBef>
                <a:spcAft>
                  <a:spcPct val="0"/>
                </a:spcAft>
              </a:pPr>
              <a:t>Product A</a:t>
            </a:fld>
            <a:endParaRPr lang="en-US" sz="1400" dirty="0">
              <a:solidFill>
                <a:schemeClr val="tx1"/>
              </a:solidFill>
            </a:endParaRPr>
          </a:p>
        </p:txBody>
      </p:sp>
      <p:sp>
        <p:nvSpPr>
          <p:cNvPr id="302" name="Rectangle 301">
            <a:extLst>
              <a:ext uri="{FF2B5EF4-FFF2-40B4-BE49-F238E27FC236}">
                <a16:creationId xmlns:a16="http://schemas.microsoft.com/office/drawing/2014/main" id="{2C50E587-70F5-2BC9-2B96-90F67650F244}"/>
              </a:ext>
            </a:extLst>
          </p:cNvPr>
          <p:cNvSpPr/>
          <p:nvPr>
            <p:custDataLst>
              <p:tags r:id="rId18"/>
            </p:custDataLst>
          </p:nvPr>
        </p:nvSpPr>
        <p:spPr bwMode="auto">
          <a:xfrm>
            <a:off x="7616825" y="6034088"/>
            <a:ext cx="801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9BCF4A14-9500-4899-A052-B36C49D25DF7}" type="datetime'''''''P''''r''''o''''''''''d''uc''''t'' ''''''C'">
              <a:rPr lang="en-US" altLang="en-US" sz="1400" smtClean="0">
                <a:solidFill>
                  <a:schemeClr val="tx1"/>
                </a:solidFill>
              </a:rPr>
              <a:pPr algn="ctr">
                <a:spcBef>
                  <a:spcPct val="0"/>
                </a:spcBef>
                <a:spcAft>
                  <a:spcPct val="0"/>
                </a:spcAft>
              </a:pPr>
              <a:t>Product C</a:t>
            </a:fld>
            <a:endParaRPr lang="en-US" sz="1400" dirty="0">
              <a:solidFill>
                <a:schemeClr val="tx1"/>
              </a:solidFill>
            </a:endParaRPr>
          </a:p>
        </p:txBody>
      </p:sp>
      <p:sp>
        <p:nvSpPr>
          <p:cNvPr id="303" name="Rectangle 302">
            <a:extLst>
              <a:ext uri="{FF2B5EF4-FFF2-40B4-BE49-F238E27FC236}">
                <a16:creationId xmlns:a16="http://schemas.microsoft.com/office/drawing/2014/main" id="{ED216537-BF20-D58E-E63E-00FB0FC284C3}"/>
              </a:ext>
            </a:extLst>
          </p:cNvPr>
          <p:cNvSpPr/>
          <p:nvPr>
            <p:custDataLst>
              <p:tags r:id="rId19"/>
            </p:custDataLst>
          </p:nvPr>
        </p:nvSpPr>
        <p:spPr bwMode="auto">
          <a:xfrm>
            <a:off x="8636000" y="6034088"/>
            <a:ext cx="801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522F5E85-7CF2-42B5-BBB9-8F81F9CC8C2F}" type="datetime'''P''''r''''''''''''''o''''''du''''c''''t'' ''''''''''''''''D'">
              <a:rPr lang="en-US" altLang="en-US" sz="1400" smtClean="0">
                <a:solidFill>
                  <a:schemeClr val="tx1"/>
                </a:solidFill>
              </a:rPr>
              <a:pPr algn="ctr">
                <a:spcBef>
                  <a:spcPct val="0"/>
                </a:spcBef>
                <a:spcAft>
                  <a:spcPct val="0"/>
                </a:spcAft>
              </a:pPr>
              <a:t>Product D</a:t>
            </a:fld>
            <a:endParaRPr lang="en-US" sz="1400" dirty="0">
              <a:solidFill>
                <a:schemeClr val="tx1"/>
              </a:solidFill>
            </a:endParaRPr>
          </a:p>
        </p:txBody>
      </p:sp>
      <p:sp>
        <p:nvSpPr>
          <p:cNvPr id="301" name="Rectangle 300">
            <a:extLst>
              <a:ext uri="{FF2B5EF4-FFF2-40B4-BE49-F238E27FC236}">
                <a16:creationId xmlns:a16="http://schemas.microsoft.com/office/drawing/2014/main" id="{37AED734-228E-F646-AA3A-67FBD1E4405F}"/>
              </a:ext>
            </a:extLst>
          </p:cNvPr>
          <p:cNvSpPr/>
          <p:nvPr>
            <p:custDataLst>
              <p:tags r:id="rId20"/>
            </p:custDataLst>
          </p:nvPr>
        </p:nvSpPr>
        <p:spPr bwMode="auto">
          <a:xfrm>
            <a:off x="9661525" y="6034088"/>
            <a:ext cx="7921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0386A65-6449-46B7-9993-1D0B2ABA070C}" type="datetime'''''''''''''''''''''''''''''''P''''r''''''''o''d''u''ct ''''B'">
              <a:rPr lang="en-US" altLang="en-US" sz="1400" smtClean="0">
                <a:solidFill>
                  <a:schemeClr val="tx1"/>
                </a:solidFill>
              </a:rPr>
              <a:pPr algn="ctr">
                <a:spcBef>
                  <a:spcPct val="0"/>
                </a:spcBef>
                <a:spcAft>
                  <a:spcPct val="0"/>
                </a:spcAft>
              </a:pPr>
              <a:t>Product B</a:t>
            </a:fld>
            <a:endParaRPr lang="en-US" sz="1400" dirty="0">
              <a:solidFill>
                <a:schemeClr val="tx1"/>
              </a:solidFill>
            </a:endParaRPr>
          </a:p>
        </p:txBody>
      </p:sp>
      <p:sp>
        <p:nvSpPr>
          <p:cNvPr id="304" name="Rectangle 303">
            <a:extLst>
              <a:ext uri="{FF2B5EF4-FFF2-40B4-BE49-F238E27FC236}">
                <a16:creationId xmlns:a16="http://schemas.microsoft.com/office/drawing/2014/main" id="{12B76C55-B9FA-1AB6-59F4-380F4BBAB54E}"/>
              </a:ext>
            </a:extLst>
          </p:cNvPr>
          <p:cNvSpPr/>
          <p:nvPr>
            <p:custDataLst>
              <p:tags r:id="rId21"/>
            </p:custDataLst>
          </p:nvPr>
        </p:nvSpPr>
        <p:spPr bwMode="auto">
          <a:xfrm>
            <a:off x="10864850" y="6034088"/>
            <a:ext cx="4222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8370FB8-1231-44CD-9B73-3B1F1F97DB06}" type="datetime'''''''''''''''''''T''''''''o''''''''''''tal'''''''''''''">
              <a:rPr lang="en-US" altLang="en-US" sz="1400" b="1" smtClean="0">
                <a:solidFill>
                  <a:schemeClr val="tx1"/>
                </a:solidFill>
              </a:rPr>
              <a:pPr algn="ctr">
                <a:spcBef>
                  <a:spcPct val="0"/>
                </a:spcBef>
                <a:spcAft>
                  <a:spcPct val="0"/>
                </a:spcAft>
              </a:pPr>
              <a:t>Total</a:t>
            </a:fld>
            <a:endParaRPr lang="en-US" sz="1400" b="1" dirty="0">
              <a:solidFill>
                <a:schemeClr val="tx1"/>
              </a:solidFill>
            </a:endParaRPr>
          </a:p>
        </p:txBody>
      </p:sp>
      <p:grpSp>
        <p:nvGrpSpPr>
          <p:cNvPr id="305" name="Group 304">
            <a:extLst>
              <a:ext uri="{FF2B5EF4-FFF2-40B4-BE49-F238E27FC236}">
                <a16:creationId xmlns:a16="http://schemas.microsoft.com/office/drawing/2014/main" id="{C62EE88D-F2D0-F81A-AB31-CBC5FE47A8DE}"/>
              </a:ext>
            </a:extLst>
          </p:cNvPr>
          <p:cNvGrpSpPr/>
          <p:nvPr/>
        </p:nvGrpSpPr>
        <p:grpSpPr>
          <a:xfrm>
            <a:off x="6448425" y="1687513"/>
            <a:ext cx="5127625" cy="338138"/>
            <a:chOff x="599178" y="1686792"/>
            <a:chExt cx="5127265" cy="338554"/>
          </a:xfrm>
        </p:grpSpPr>
        <p:cxnSp>
          <p:nvCxnSpPr>
            <p:cNvPr id="306" name="Straight Connector 305">
              <a:extLst>
                <a:ext uri="{FF2B5EF4-FFF2-40B4-BE49-F238E27FC236}">
                  <a16:creationId xmlns:a16="http://schemas.microsoft.com/office/drawing/2014/main" id="{35DAC07A-2BEB-5F10-9D5D-6315F01D571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07" name="TextBox 306">
              <a:extLst>
                <a:ext uri="{FF2B5EF4-FFF2-40B4-BE49-F238E27FC236}">
                  <a16:creationId xmlns:a16="http://schemas.microsoft.com/office/drawing/2014/main" id="{0F67CE13-0B6B-BD62-18EA-199757676416}"/>
                </a:ext>
              </a:extLst>
            </p:cNvPr>
            <p:cNvSpPr txBox="1"/>
            <p:nvPr/>
          </p:nvSpPr>
          <p:spPr>
            <a:xfrm>
              <a:off x="599178" y="1686792"/>
              <a:ext cx="5112000" cy="338554"/>
            </a:xfrm>
            <a:prstGeom prst="rect">
              <a:avLst/>
            </a:prstGeom>
            <a:noFill/>
          </p:spPr>
          <p:txBody>
            <a:bodyPr wrap="square" rtlCol="0">
              <a:spAutoFit/>
            </a:bodyPr>
            <a:lstStyle/>
            <a:p>
              <a:r>
                <a:rPr lang="en-US" sz="1600" b="1" dirty="0"/>
                <a:t>Profit ($M), 202x</a:t>
              </a:r>
            </a:p>
          </p:txBody>
        </p:sp>
      </p:grpSp>
      <p:sp>
        <p:nvSpPr>
          <p:cNvPr id="46" name="TextBox 45">
            <a:extLst>
              <a:ext uri="{FF2B5EF4-FFF2-40B4-BE49-F238E27FC236}">
                <a16:creationId xmlns:a16="http://schemas.microsoft.com/office/drawing/2014/main" id="{54F8E49A-D0D9-F65D-7C38-CCD736B96A22}"/>
              </a:ext>
            </a:extLst>
          </p:cNvPr>
          <p:cNvSpPr txBox="1"/>
          <p:nvPr/>
        </p:nvSpPr>
        <p:spPr>
          <a:xfrm>
            <a:off x="546014" y="6587941"/>
            <a:ext cx="2838893" cy="253916"/>
          </a:xfrm>
          <a:prstGeom prst="rect">
            <a:avLst/>
          </a:prstGeom>
          <a:noFill/>
        </p:spPr>
        <p:txBody>
          <a:bodyPr wrap="square" rtlCol="0" anchor="ctr">
            <a:spAutoFit/>
          </a:bodyPr>
          <a:lstStyle/>
          <a:p>
            <a:r>
              <a:rPr lang="en-US" sz="1050" dirty="0">
                <a:solidFill>
                  <a:schemeClr val="bg1">
                    <a:lumMod val="65000"/>
                  </a:schemeClr>
                </a:solidFill>
              </a:rPr>
              <a:t>Source: [insert source of information]</a:t>
            </a:r>
          </a:p>
        </p:txBody>
      </p:sp>
      <p:sp>
        <p:nvSpPr>
          <p:cNvPr id="4" name="Footer Placeholder 3">
            <a:extLst>
              <a:ext uri="{FF2B5EF4-FFF2-40B4-BE49-F238E27FC236}">
                <a16:creationId xmlns:a16="http://schemas.microsoft.com/office/drawing/2014/main" id="{2EBF2A71-7898-0B07-753C-670B3C7D50BC}"/>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8C61C185-B7EC-9307-043F-B1BB5CFDCCB4}"/>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3977934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6" name="Rectangle: Rounded Corners 5">
            <a:extLst>
              <a:ext uri="{FF2B5EF4-FFF2-40B4-BE49-F238E27FC236}">
                <a16:creationId xmlns:a16="http://schemas.microsoft.com/office/drawing/2014/main" id="{E1C86821-54CE-8A1B-CBED-54B7AF9E8611}"/>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B22B2CC-25AA-263D-1020-C20A807B7EB8}"/>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D0572104-6430-3E61-5813-3590A3CFE972}"/>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D6B23995-4475-E84D-EF57-7992732496E4}"/>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2">
            <a:extLst>
              <a:ext uri="{FF2B5EF4-FFF2-40B4-BE49-F238E27FC236}">
                <a16:creationId xmlns:a16="http://schemas.microsoft.com/office/drawing/2014/main" id="{F8D9CE97-3B89-11F5-DD37-F399ADAB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Microsoft Excel Logo in SVG Vector or PNG File Format - Logo.wine">
            <a:extLst>
              <a:ext uri="{FF2B5EF4-FFF2-40B4-BE49-F238E27FC236}">
                <a16:creationId xmlns:a16="http://schemas.microsoft.com/office/drawing/2014/main" id="{B71C95D7-A854-1E0E-C591-CD4E72F4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Open folder outline">
            <a:extLst>
              <a:ext uri="{FF2B5EF4-FFF2-40B4-BE49-F238E27FC236}">
                <a16:creationId xmlns:a16="http://schemas.microsoft.com/office/drawing/2014/main" id="{9EE88CF5-F9D5-B7D1-ABD0-E1C6B217D7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14" name="TextBox 13">
            <a:extLst>
              <a:ext uri="{FF2B5EF4-FFF2-40B4-BE49-F238E27FC236}">
                <a16:creationId xmlns:a16="http://schemas.microsoft.com/office/drawing/2014/main" id="{4A437ECF-467E-1AD6-2C2E-4087FF953203}"/>
              </a:ext>
            </a:extLst>
          </p:cNvPr>
          <p:cNvSpPr txBox="1"/>
          <p:nvPr/>
        </p:nvSpPr>
        <p:spPr>
          <a:xfrm>
            <a:off x="1863088" y="1994804"/>
            <a:ext cx="4400551" cy="338554"/>
          </a:xfrm>
          <a:prstGeom prst="rect">
            <a:avLst/>
          </a:prstGeom>
          <a:noFill/>
        </p:spPr>
        <p:txBody>
          <a:bodyPr wrap="square" rtlCol="0">
            <a:spAutoFit/>
          </a:bodyPr>
          <a:lstStyle/>
          <a:p>
            <a:r>
              <a:rPr lang="en-US" sz="1600" b="1" dirty="0"/>
              <a:t>600 editable PowerPoint slides*</a:t>
            </a:r>
          </a:p>
        </p:txBody>
      </p:sp>
      <p:sp>
        <p:nvSpPr>
          <p:cNvPr id="15" name="TextBox 14">
            <a:extLst>
              <a:ext uri="{FF2B5EF4-FFF2-40B4-BE49-F238E27FC236}">
                <a16:creationId xmlns:a16="http://schemas.microsoft.com/office/drawing/2014/main" id="{777600B6-F58C-3E6A-BB6D-D47C974412BF}"/>
              </a:ext>
            </a:extLst>
          </p:cNvPr>
          <p:cNvSpPr txBox="1"/>
          <p:nvPr/>
        </p:nvSpPr>
        <p:spPr>
          <a:xfrm>
            <a:off x="1863088" y="3125122"/>
            <a:ext cx="3005768" cy="338554"/>
          </a:xfrm>
          <a:prstGeom prst="rect">
            <a:avLst/>
          </a:prstGeom>
          <a:noFill/>
        </p:spPr>
        <p:txBody>
          <a:bodyPr wrap="square" rtlCol="0">
            <a:spAutoFit/>
          </a:bodyPr>
          <a:lstStyle/>
          <a:p>
            <a:r>
              <a:rPr lang="en-US" sz="1600" b="1" dirty="0"/>
              <a:t>50 Excel sheets*</a:t>
            </a:r>
          </a:p>
        </p:txBody>
      </p:sp>
      <p:sp>
        <p:nvSpPr>
          <p:cNvPr id="17" name="TextBox 16">
            <a:extLst>
              <a:ext uri="{FF2B5EF4-FFF2-40B4-BE49-F238E27FC236}">
                <a16:creationId xmlns:a16="http://schemas.microsoft.com/office/drawing/2014/main" id="{FE597C27-D46E-623C-682B-08389CD25348}"/>
              </a:ext>
            </a:extLst>
          </p:cNvPr>
          <p:cNvSpPr txBox="1"/>
          <p:nvPr/>
        </p:nvSpPr>
        <p:spPr>
          <a:xfrm>
            <a:off x="1863088" y="4153332"/>
            <a:ext cx="3450672" cy="338554"/>
          </a:xfrm>
          <a:prstGeom prst="rect">
            <a:avLst/>
          </a:prstGeom>
          <a:noFill/>
        </p:spPr>
        <p:txBody>
          <a:bodyPr wrap="square" rtlCol="0">
            <a:spAutoFit/>
          </a:bodyPr>
          <a:lstStyle/>
          <a:p>
            <a:r>
              <a:rPr lang="en-US" sz="1600" b="1" dirty="0"/>
              <a:t>70 minutes of Video training</a:t>
            </a:r>
          </a:p>
        </p:txBody>
      </p:sp>
      <p:sp>
        <p:nvSpPr>
          <p:cNvPr id="18" name="TextBox 17">
            <a:extLst>
              <a:ext uri="{FF2B5EF4-FFF2-40B4-BE49-F238E27FC236}">
                <a16:creationId xmlns:a16="http://schemas.microsoft.com/office/drawing/2014/main" id="{4D320F2E-6201-9947-D452-66AFE8B758E1}"/>
              </a:ext>
            </a:extLst>
          </p:cNvPr>
          <p:cNvSpPr txBox="1"/>
          <p:nvPr/>
        </p:nvSpPr>
        <p:spPr>
          <a:xfrm>
            <a:off x="1863088" y="5033929"/>
            <a:ext cx="9534511" cy="897772"/>
          </a:xfrm>
          <a:prstGeom prst="rect">
            <a:avLst/>
          </a:prstGeom>
          <a:noFill/>
        </p:spPr>
        <p:txBody>
          <a:bodyPr wrap="square" numCol="2" rtlCol="0" anchor="ctr">
            <a:noAutofit/>
          </a:bodyPr>
          <a:lstStyle/>
          <a:p>
            <a:pPr marL="228600" indent="-228600">
              <a:buFont typeface="+mj-lt"/>
              <a:buAutoNum type="arabicPeriod"/>
            </a:pPr>
            <a:r>
              <a:rPr lang="en-US" sz="1200" dirty="0"/>
              <a:t>Overview and Approach</a:t>
            </a:r>
          </a:p>
          <a:p>
            <a:pPr marL="228600" indent="-228600">
              <a:buFont typeface="+mj-lt"/>
              <a:buAutoNum type="arabicPeriod"/>
            </a:pPr>
            <a:r>
              <a:rPr lang="en-US" sz="1200" dirty="0"/>
              <a:t>Internal and External Analysis</a:t>
            </a:r>
          </a:p>
          <a:p>
            <a:pPr marL="228600" indent="-228600">
              <a:buFont typeface="+mj-lt"/>
              <a:buAutoNum type="arabicPeriod"/>
            </a:pPr>
            <a:r>
              <a:rPr lang="en-US" sz="1200" dirty="0"/>
              <a:t>Strategy Tools &amp; Frameworks to shape our Strategy</a:t>
            </a:r>
          </a:p>
          <a:p>
            <a:pPr marL="228600" indent="-228600">
              <a:buFont typeface="+mj-lt"/>
              <a:buAutoNum type="arabicPeriod"/>
            </a:pPr>
            <a:endParaRPr lang="en-US" sz="1200" dirty="0"/>
          </a:p>
          <a:p>
            <a:pPr marL="228600" indent="-228600">
              <a:buFont typeface="+mj-lt"/>
              <a:buAutoNum type="arabicPeriod"/>
            </a:pPr>
            <a:r>
              <a:rPr lang="en-US" sz="1200" dirty="0"/>
              <a:t>Strategy</a:t>
            </a:r>
          </a:p>
          <a:p>
            <a:pPr marL="228600" indent="-228600">
              <a:buFont typeface="+mj-lt"/>
              <a:buAutoNum type="arabicPeriod"/>
            </a:pPr>
            <a:r>
              <a:rPr lang="en-US" sz="1200" dirty="0"/>
              <a:t>Strategic Plan</a:t>
            </a:r>
          </a:p>
          <a:p>
            <a:pPr marL="228600" indent="-228600">
              <a:buFont typeface="+mj-lt"/>
              <a:buAutoNum type="arabicPeriod"/>
            </a:pPr>
            <a:r>
              <a:rPr lang="en-US" sz="1200" dirty="0"/>
              <a:t>Strategic Dashboards</a:t>
            </a:r>
          </a:p>
        </p:txBody>
      </p:sp>
      <p:sp>
        <p:nvSpPr>
          <p:cNvPr id="19" name="Rectangle 18">
            <a:extLst>
              <a:ext uri="{FF2B5EF4-FFF2-40B4-BE49-F238E27FC236}">
                <a16:creationId xmlns:a16="http://schemas.microsoft.com/office/drawing/2014/main" id="{58B932BA-CA7A-E3C4-9CC0-B95F841B1AA1}"/>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FE0B1D-EED1-17BD-8FCD-7A8076B46A80}"/>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0FC0FE-A163-ED1A-A296-D87A1C3FBA7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9470BB-701E-9F9B-5EED-CC4D40F693E5}"/>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CBE2770C-6D4F-9F15-A358-CC0DFDE1D3D0}"/>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2" name="Footer Placeholder 1">
            <a:extLst>
              <a:ext uri="{FF2B5EF4-FFF2-40B4-BE49-F238E27FC236}">
                <a16:creationId xmlns:a16="http://schemas.microsoft.com/office/drawing/2014/main" id="{AD1AC9FB-8AFE-DADC-1160-36E02E4CDD67}"/>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833D0B81-E391-C5C3-15ED-1A02DBEE785C}"/>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AB03BDC4-9C83-3CD1-396B-DD677FB04C17}"/>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371B0DBD-599D-A087-FDA6-435725C9CCB0}"/>
              </a:ext>
            </a:extLst>
          </p:cNvPr>
          <p:cNvSpPr>
            <a:spLocks noGrp="1"/>
          </p:cNvSpPr>
          <p:nvPr>
            <p:ph type="sldNum" sz="quarter" idx="4"/>
          </p:nvPr>
        </p:nvSpPr>
        <p:spPr/>
        <p:txBody>
          <a:bodyPr/>
          <a:lstStyle/>
          <a:p>
            <a:fld id="{37F5C94B-8C55-478B-B509-BAE6A06B2E2A}" type="slidenum">
              <a:rPr lang="en-US" smtClean="0"/>
              <a:pPr/>
              <a:t>23</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8F007E9B-F992-5C25-A1C4-1AB4F9FA03C8}"/>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B4F63854-DC03-E059-C9D5-4FDEA3B7E3D7}"/>
              </a:ext>
            </a:extLst>
          </p:cNvPr>
          <p:cNvSpPr>
            <a:spLocks noGrp="1"/>
          </p:cNvSpPr>
          <p:nvPr>
            <p:ph type="sldNum" sz="quarter" idx="4"/>
          </p:nvPr>
        </p:nvSpPr>
        <p:spPr/>
        <p:txBody>
          <a:bodyPr/>
          <a:lstStyle/>
          <a:p>
            <a:fld id="{37F5C94B-8C55-478B-B509-BAE6A06B2E2A}" type="slidenum">
              <a:rPr lang="en-US" smtClean="0"/>
              <a:pPr/>
              <a:t>24</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11"/>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6"/>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71"/>
            <a:ext cx="635106" cy="539471"/>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64"/>
            <a:ext cx="957768" cy="619242"/>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3"/>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5"/>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45"/>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8"/>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1"/>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6"/>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CA395B44-75A3-3AC2-B230-97C38DD68CAE}"/>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09CD01C9-8DA7-33D4-0BD1-D065294E77FA}"/>
              </a:ext>
            </a:extLst>
          </p:cNvPr>
          <p:cNvSpPr>
            <a:spLocks noGrp="1"/>
          </p:cNvSpPr>
          <p:nvPr>
            <p:ph type="sldNum" sz="quarter" idx="4"/>
          </p:nvPr>
        </p:nvSpPr>
        <p:spPr/>
        <p:txBody>
          <a:bodyPr/>
          <a:lstStyle/>
          <a:p>
            <a:fld id="{37F5C94B-8C55-478B-B509-BAE6A06B2E2A}" type="slidenum">
              <a:rPr lang="en-US" smtClean="0"/>
              <a:pPr/>
              <a:t>25</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ED070032-E889-17D8-37EB-E568071E7D1C}"/>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DDE541C5-4357-CA49-167D-C6ADC066DF1C}"/>
              </a:ext>
            </a:extLst>
          </p:cNvPr>
          <p:cNvSpPr>
            <a:spLocks noGrp="1"/>
          </p:cNvSpPr>
          <p:nvPr>
            <p:ph type="sldNum" sz="quarter" idx="4"/>
          </p:nvPr>
        </p:nvSpPr>
        <p:spPr/>
        <p:txBody>
          <a:bodyPr/>
          <a:lstStyle/>
          <a:p>
            <a:fld id="{37F5C94B-8C55-478B-B509-BAE6A06B2E2A}" type="slidenum">
              <a:rPr lang="en-US" smtClean="0"/>
              <a:pPr/>
              <a:t>26</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8AEBC748-A13D-2EE5-9E5B-F3B4B716D547}"/>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A73D6C24-735E-B060-FBFE-850FAD67D68A}"/>
              </a:ext>
            </a:extLst>
          </p:cNvPr>
          <p:cNvSpPr>
            <a:spLocks noGrp="1"/>
          </p:cNvSpPr>
          <p:nvPr>
            <p:ph type="sldNum" sz="quarter" idx="4"/>
          </p:nvPr>
        </p:nvSpPr>
        <p:spPr/>
        <p:txBody>
          <a:bodyPr/>
          <a:lstStyle/>
          <a:p>
            <a:fld id="{37F5C94B-8C55-478B-B509-BAE6A06B2E2A}" type="slidenum">
              <a:rPr lang="en-US" smtClean="0"/>
              <a:pPr/>
              <a:t>27</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g8w72kEBkRRC0sjSX3uPp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FBfD8Uj19YWMnSDgdGazP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nggHdvgvZ2wPmXp10qByB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ozVXWjbcljNzrvbhbkqzl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dWB2UAYsAkLmTuKL9qz3E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crqJN.Uc.m8knreoQFTYJ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4Y94UTpQScMwdCOrblT8p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Ea99XJuLo2ooJ9FiO9cUI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YgAJ.KMe5G3xHeDYUjjRO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WcbC77zJ4T25JkGqY6Jc6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_IL7takymVPKx.sDE0v7m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lKPifyWyv01o4_xP_O19O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zO9RfdQbLkmeQo8305D0l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EqULeAIzNgYdsw1yDosHY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83RajE.o6lVTm9gA7Kg..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vgVd.EY8PCukXIMgc5ynB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vnNaOR_D.8hJxjNuY4O_H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7yy2d8XNTXDn48qn2HOGv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ia6VP3S6eedUKdbHP69Dj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5l_Blu6XmyQgm0DYeLpTq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sByh1qSDIMaQ_.fLTiaOd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TDw.ZDunYdqjpmUndOhMH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Vjw8umiwGE4E6dvE_t3SV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klMFfVZ1AQPt_5Gg2dT.s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AJZADT1EQLEXBu447KYAQ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evIcpOJUjv5X5Ak9nvf0T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iRVJmb2UM30.OnntB7I2I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Jeczr_So5cezcfLzEAAse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S.HxulQkh7Dn3FtFdU3yT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m6hRKoE5RqT.PFvaOV9un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8xusp3VRaU1cVC3v0AkjM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KxrzkB8E7fXN4THRnEOf4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_x9rpxZquh2Nzh._q1EHH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05CJPvCHfJ0GtWoLBuA.f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d27Ci_iEQeZUj7lpNRQUT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siiEIN2LL6pCsZWirllGf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dMHFGVHNmTA.gkn21JpsX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47ny3TbT2c50gRGXXcklE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ABqa4zjTWtNk29ltDYJ8u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bKoNCAarfJGDivhDAnPfO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byVWchVXQCJ.L4gpmu_UL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2.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5632</TotalTime>
  <Words>3237</Words>
  <Application>Microsoft Office PowerPoint</Application>
  <PresentationFormat>Widescreen</PresentationFormat>
  <Paragraphs>518</Paragraphs>
  <Slides>28</Slides>
  <Notes>13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8" baseType="lpstr">
      <vt:lpstr>ＭＳ Ｐゴシック</vt:lpstr>
      <vt:lpstr>Arial</vt:lpstr>
      <vt:lpstr>Arial (Body)</vt:lpstr>
      <vt:lpstr>Calibri</vt:lpstr>
      <vt:lpstr>Helvetica</vt:lpstr>
      <vt:lpstr>Lato Light</vt:lpstr>
      <vt:lpstr>Times New Roman</vt:lpstr>
      <vt:lpstr>Wingdings 3</vt:lpstr>
      <vt:lpstr>1_Theme3</vt:lpstr>
      <vt:lpstr>think-cell Slide</vt:lpstr>
      <vt:lpstr>PowerPoint Presentation</vt:lpstr>
      <vt:lpstr>PowerPoint Presentation</vt:lpstr>
      <vt:lpstr>Introduction</vt:lpstr>
      <vt:lpstr>Problem: Most companies struggle to be good at both defining and executing their corporate/business strategy</vt:lpstr>
      <vt:lpstr>Solution: Our consulting firm created the Corporate/Business Strategy and Strategic Planning Toolkit to help you define and implement your strategy</vt:lpstr>
      <vt:lpstr>Our Toolkit will help you fulfill multiple objectives</vt:lpstr>
      <vt:lpstr>Video demonstration of the Corporate/Business Strategy and Strategic Planning Toolkit</vt:lpstr>
      <vt:lpstr>The Toolkit includes a 4-phase approach that we have built and refined over the past 20 years through constant trial and error</vt:lpstr>
      <vt:lpstr>Phase 1 small preview</vt:lpstr>
      <vt:lpstr>Phase 2 small preview</vt:lpstr>
      <vt:lpstr>Phase 3 small preview</vt:lpstr>
      <vt:lpstr>Phase 4 small preview</vt:lpstr>
      <vt:lpstr>Transverse phase small preview</vt:lpstr>
      <vt:lpstr>In the next slides, you’ll see more content from the Corporate/Business Strategy and Strategic Planning Toolkit</vt:lpstr>
      <vt:lpstr>Our balanced scorecard highlights a strong [insert your own adjective] performance in most of our 12 strategic objectives</vt:lpstr>
      <vt:lpstr>The profit across all BUs has been increasing over the past 5 years [insert your own text]</vt:lpstr>
      <vt:lpstr>We decided to use the BCG matrix to help us better understand our current BU [if needed, replace BU by product] portfolio (1/2)</vt:lpstr>
      <vt:lpstr>We decided to use the BCG matrix to help us better understand our current BU [if needed, replace BU by product] portfolio (2/2)</vt:lpstr>
      <vt:lpstr>Our BU [insert BU or Product] portfolio is currently balanced [insert your own description]</vt:lpstr>
      <vt:lpstr>Our BU [insert BU or Product] portfolio is currently balanced [insert your own description]</vt:lpstr>
      <vt:lpstr>In 202x, the Product B was the main contributor to our total revenue and profit</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2025-06-25T02:24:46Z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