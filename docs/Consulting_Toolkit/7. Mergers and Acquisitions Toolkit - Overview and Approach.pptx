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8.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9.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0.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1.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8"/>
  </p:notesMasterIdLst>
  <p:handoutMasterIdLst>
    <p:handoutMasterId r:id="rId29"/>
  </p:handoutMasterIdLst>
  <p:sldIdLst>
    <p:sldId id="526" r:id="rId5"/>
    <p:sldId id="529" r:id="rId6"/>
    <p:sldId id="3289" r:id="rId7"/>
    <p:sldId id="3294" r:id="rId8"/>
    <p:sldId id="2560" r:id="rId9"/>
    <p:sldId id="2162" r:id="rId10"/>
    <p:sldId id="3377" r:id="rId11"/>
    <p:sldId id="3297" r:id="rId12"/>
    <p:sldId id="3298" r:id="rId13"/>
    <p:sldId id="3299" r:id="rId14"/>
    <p:sldId id="3300" r:id="rId15"/>
    <p:sldId id="3301" r:id="rId16"/>
    <p:sldId id="3302" r:id="rId17"/>
    <p:sldId id="3303" r:id="rId18"/>
    <p:sldId id="3304" r:id="rId19"/>
    <p:sldId id="2603" r:id="rId20"/>
    <p:sldId id="2338" r:id="rId21"/>
    <p:sldId id="2034" r:id="rId22"/>
    <p:sldId id="3282" r:id="rId23"/>
    <p:sldId id="1711" r:id="rId24"/>
    <p:sldId id="1598" r:id="rId25"/>
    <p:sldId id="2240" r:id="rId26"/>
    <p:sldId id="1600"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EBD6FA-89CA-4E4E-A7FE-FC6D66BF3408}">
          <p14:sldIdLst>
            <p14:sldId id="526"/>
            <p14:sldId id="529"/>
            <p14:sldId id="3289"/>
            <p14:sldId id="3294"/>
            <p14:sldId id="2560"/>
          </p14:sldIdLst>
        </p14:section>
        <p14:section name="Toolkit overview" id="{22A3628B-686E-4092-9F74-7C7E509508D7}">
          <p14:sldIdLst>
            <p14:sldId id="2162"/>
            <p14:sldId id="3377"/>
            <p14:sldId id="3297"/>
            <p14:sldId id="3298"/>
            <p14:sldId id="3299"/>
            <p14:sldId id="3300"/>
            <p14:sldId id="3301"/>
            <p14:sldId id="3302"/>
            <p14:sldId id="3303"/>
            <p14:sldId id="3304"/>
            <p14:sldId id="2603"/>
            <p14:sldId id="2338"/>
          </p14:sldIdLst>
        </p14:section>
        <p14:section name="Domont Consulting overview" id="{70202C35-96F2-466A-9046-C3C839A9E014}">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806EF-E07E-46A2-87C3-AA4523D164C4}" v="6" dt="2025-07-02T04:11:46.872"/>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097806EF-E07E-46A2-87C3-AA4523D164C4}"/>
    <pc:docChg chg="custSel addSld modSld">
      <pc:chgData name="Aurelien Domont" userId="6da7715ce44349b3" providerId="LiveId" clId="{097806EF-E07E-46A2-87C3-AA4523D164C4}" dt="2025-07-02T04:11:51.858" v="16" actId="14100"/>
      <pc:docMkLst>
        <pc:docMk/>
      </pc:docMkLst>
      <pc:sldChg chg="add">
        <pc:chgData name="Aurelien Domont" userId="6da7715ce44349b3" providerId="LiveId" clId="{097806EF-E07E-46A2-87C3-AA4523D164C4}" dt="2025-07-02T04:05:40.062" v="0"/>
        <pc:sldMkLst>
          <pc:docMk/>
          <pc:sldMk cId="472227199" sldId="529"/>
        </pc:sldMkLst>
      </pc:sldChg>
      <pc:sldChg chg="addSp delSp modSp add mod">
        <pc:chgData name="Aurelien Domont" userId="6da7715ce44349b3" providerId="LiveId" clId="{097806EF-E07E-46A2-87C3-AA4523D164C4}" dt="2025-07-02T04:11:51.858" v="16" actId="14100"/>
        <pc:sldMkLst>
          <pc:docMk/>
          <pc:sldMk cId="3892113266" sldId="3377"/>
        </pc:sldMkLst>
        <pc:spChg chg="mod">
          <ac:chgData name="Aurelien Domont" userId="6da7715ce44349b3" providerId="LiveId" clId="{097806EF-E07E-46A2-87C3-AA4523D164C4}" dt="2025-07-02T04:11:05.109" v="8" actId="20577"/>
          <ac:spMkLst>
            <pc:docMk/>
            <pc:sldMk cId="3892113266" sldId="3377"/>
            <ac:spMk id="2" creationId="{80848328-A156-B728-0E7B-DBD9A3015AFF}"/>
          </ac:spMkLst>
        </pc:spChg>
        <pc:spChg chg="mod">
          <ac:chgData name="Aurelien Domont" userId="6da7715ce44349b3" providerId="LiveId" clId="{097806EF-E07E-46A2-87C3-AA4523D164C4}" dt="2025-07-02T04:11:41.185" v="12" actId="20577"/>
          <ac:spMkLst>
            <pc:docMk/>
            <pc:sldMk cId="3892113266" sldId="3377"/>
            <ac:spMk id="14" creationId="{ABF9D4B2-53D2-60E9-FECC-79B008226F65}"/>
          </ac:spMkLst>
        </pc:spChg>
        <pc:picChg chg="add mod">
          <ac:chgData name="Aurelien Domont" userId="6da7715ce44349b3" providerId="LiveId" clId="{097806EF-E07E-46A2-87C3-AA4523D164C4}" dt="2025-07-02T04:11:51.858" v="16" actId="14100"/>
          <ac:picMkLst>
            <pc:docMk/>
            <pc:sldMk cId="3892113266" sldId="3377"/>
            <ac:picMk id="10" creationId="{1A50BA00-D2FF-19F6-7E9C-F3016CE99778}"/>
          </ac:picMkLst>
        </pc:picChg>
        <pc:picChg chg="del">
          <ac:chgData name="Aurelien Domont" userId="6da7715ce44349b3" providerId="LiveId" clId="{097806EF-E07E-46A2-87C3-AA4523D164C4}" dt="2025-07-02T04:11:45.952" v="13" actId="478"/>
          <ac:picMkLst>
            <pc:docMk/>
            <pc:sldMk cId="3892113266" sldId="3377"/>
            <ac:picMk id="17" creationId="{1EE5AC12-F00C-61C3-8EF9-F68A052AD79D}"/>
          </ac:picMkLst>
        </pc:picChg>
      </pc:sld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2B94002C-3DB7-42C9-BDBB-C09B4EDD6186}"/>
    <pc:docChg chg="undo custSel addSld delSld modSld modSection replTag">
      <pc:chgData name="Aurelien Domont" userId="6da7715ce44349b3" providerId="LiveId" clId="{2B94002C-3DB7-42C9-BDBB-C09B4EDD6186}" dt="2024-08-19T04:51:02.384" v="533" actId="20577"/>
      <pc:docMkLst>
        <pc:docMk/>
      </pc:docMkLst>
      <pc:sldChg chg="modSp mod">
        <pc:chgData name="Aurelien Domont" userId="6da7715ce44349b3" providerId="LiveId" clId="{2B94002C-3DB7-42C9-BDBB-C09B4EDD6186}" dt="2024-08-19T04:51:02.384" v="533" actId="20577"/>
        <pc:sldMkLst>
          <pc:docMk/>
          <pc:sldMk cId="1209091634" sldId="2338"/>
        </pc:sldMkLst>
      </pc:sldChg>
      <pc:sldChg chg="add">
        <pc:chgData name="Aurelien Domont" userId="6da7715ce44349b3" providerId="LiveId" clId="{2B94002C-3DB7-42C9-BDBB-C09B4EDD6186}" dt="2024-02-23T00:23:57.542" v="23"/>
        <pc:sldMkLst>
          <pc:docMk/>
          <pc:sldMk cId="61937289" sldId="2603"/>
        </pc:sldMkLst>
      </pc:sldChg>
      <pc:sldChg chg="addSp delSp modSp mod">
        <pc:chgData name="Aurelien Domont" userId="6da7715ce44349b3" providerId="LiveId" clId="{2B94002C-3DB7-42C9-BDBB-C09B4EDD6186}" dt="2024-03-28T03:35:09.450" v="527"/>
        <pc:sldMkLst>
          <pc:docMk/>
          <pc:sldMk cId="2839640228" sldId="3294"/>
        </pc:sldMkLst>
      </pc:sldChg>
      <pc:sldChg chg="addSp modSp add del mod">
        <pc:chgData name="Aurelien Domont" userId="6da7715ce44349b3" providerId="LiveId" clId="{2B94002C-3DB7-42C9-BDBB-C09B4EDD6186}" dt="2023-12-07T00:12:05.892" v="14" actId="47"/>
        <pc:sldMkLst>
          <pc:docMk/>
          <pc:sldMk cId="553778286" sldId="3305"/>
        </pc:sldMkLst>
      </pc:sldChg>
    </pc:docChg>
  </pc:docChgLst>
  <pc:docChgLst>
    <pc:chgData name="Aurelien Domont" userId="6da7715ce44349b3" providerId="LiveId" clId="{9149B00E-810E-48AB-9153-54C78195225C}"/>
    <pc:docChg chg="undo redo custSel addSld delSld modSld sldOrd modMainMaster addSection modSection replTag">
      <pc:chgData name="Aurelien Domont" userId="6da7715ce44349b3" providerId="LiveId" clId="{9149B00E-810E-48AB-9153-54C78195225C}" dt="2023-12-06T23:55:29.871" v="15446" actId="17846"/>
      <pc:docMkLst>
        <pc:docMk/>
      </pc:docMkLst>
      <pc:sldChg chg="addSp delSp modSp mod modNotes">
        <pc:chgData name="Aurelien Domont" userId="6da7715ce44349b3" providerId="LiveId" clId="{9149B00E-810E-48AB-9153-54C78195225C}" dt="2023-12-06T23:52:54.404" v="15382" actId="790"/>
        <pc:sldMkLst>
          <pc:docMk/>
          <pc:sldMk cId="3956982643" sldId="526"/>
        </pc:sldMkLst>
      </pc:sldChg>
      <pc:sldChg chg="modSp mod modNotes">
        <pc:chgData name="Aurelien Domont" userId="6da7715ce44349b3" providerId="LiveId" clId="{9149B00E-810E-48AB-9153-54C78195225C}" dt="2023-12-06T23:52:54.420" v="15400" actId="790"/>
        <pc:sldMkLst>
          <pc:docMk/>
          <pc:sldMk cId="1754585881" sldId="1598"/>
        </pc:sldMkLst>
      </pc:sldChg>
      <pc:sldChg chg="modSp mod modNotes">
        <pc:chgData name="Aurelien Domont" userId="6da7715ce44349b3" providerId="LiveId" clId="{9149B00E-810E-48AB-9153-54C78195225C}" dt="2023-12-06T23:52:54.423" v="15404" actId="790"/>
        <pc:sldMkLst>
          <pc:docMk/>
          <pc:sldMk cId="2853806433" sldId="1600"/>
        </pc:sldMkLst>
      </pc:sldChg>
      <pc:sldChg chg="modSp mod modNotes">
        <pc:chgData name="Aurelien Domont" userId="6da7715ce44349b3" providerId="LiveId" clId="{9149B00E-810E-48AB-9153-54C78195225C}" dt="2023-12-06T23:52:54.418" v="15398" actId="790"/>
        <pc:sldMkLst>
          <pc:docMk/>
          <pc:sldMk cId="1252826214" sldId="1711"/>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mod modNotes">
        <pc:chgData name="Aurelien Domont" userId="6da7715ce44349b3" providerId="LiveId" clId="{9149B00E-810E-48AB-9153-54C78195225C}" dt="2023-12-06T23:52:54.416" v="15396" actId="790"/>
        <pc:sldMkLst>
          <pc:docMk/>
          <pc:sldMk cId="3938337455" sldId="2034"/>
        </pc:sldMkLst>
      </pc:sldChg>
      <pc:sldChg chg="addSp delSp modSp mod ord modNotes">
        <pc:chgData name="Aurelien Domont" userId="6da7715ce44349b3" providerId="LiveId" clId="{9149B00E-810E-48AB-9153-54C78195225C}" dt="2023-12-06T23:52:54.411" v="15390" actId="790"/>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modSp mod modNotes">
        <pc:chgData name="Aurelien Domont" userId="6da7715ce44349b3" providerId="LiveId" clId="{9149B00E-810E-48AB-9153-54C78195225C}" dt="2023-12-06T23:52:54.422" v="15402" actId="790"/>
        <pc:sldMkLst>
          <pc:docMk/>
          <pc:sldMk cId="1534399825" sldId="2240"/>
        </pc:sldMkLst>
      </pc:sldChg>
      <pc:sldChg chg="add del">
        <pc:chgData name="Aurelien Domont" userId="6da7715ce44349b3" providerId="LiveId" clId="{9149B00E-810E-48AB-9153-54C78195225C}" dt="2023-12-06T23:03:30.123" v="8347"/>
        <pc:sldMkLst>
          <pc:docMk/>
          <pc:sldMk cId="3803122314" sldId="2249"/>
        </pc:sldMkLst>
      </pc:sldChg>
      <pc:sldChg chg="addSp delSp modSp mod modNotes">
        <pc:chgData name="Aurelien Domont" userId="6da7715ce44349b3" providerId="LiveId" clId="{9149B00E-810E-48AB-9153-54C78195225C}" dt="2023-12-06T23:52:54.488" v="15440"/>
        <pc:sldMkLst>
          <pc:docMk/>
          <pc:sldMk cId="1209091634" sldId="2338"/>
        </pc:sldMkLst>
      </pc:sldChg>
      <pc:sldChg chg="del">
        <pc:chgData name="Aurelien Domont" userId="6da7715ce44349b3" providerId="LiveId" clId="{9149B00E-810E-48AB-9153-54C78195225C}" dt="2023-12-06T23:40:18.773" v="10807" actId="47"/>
        <pc:sldMkLst>
          <pc:docMk/>
          <pc:sldMk cId="4078591124" sldId="2557"/>
        </pc:sldMkLst>
      </pc:sldChg>
      <pc:sldChg chg="del">
        <pc:chgData name="Aurelien Domont" userId="6da7715ce44349b3" providerId="LiveId" clId="{9149B00E-810E-48AB-9153-54C78195225C}" dt="2023-12-06T23:40:18.773" v="10807" actId="47"/>
        <pc:sldMkLst>
          <pc:docMk/>
          <pc:sldMk cId="2304312946" sldId="2558"/>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modNotes">
        <pc:chgData name="Aurelien Domont" userId="6da7715ce44349b3" providerId="LiveId" clId="{9149B00E-810E-48AB-9153-54C78195225C}" dt="2023-12-06T23:52:54.409" v="15388" actId="790"/>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pc:chgData name="Aurelien Domont" userId="6da7715ce44349b3" providerId="LiveId" clId="{9149B00E-810E-48AB-9153-54C78195225C}" dt="2023-12-06T23:52:53.301" v="13568" actId="790"/>
        <pc:sldMkLst>
          <pc:docMk/>
          <pc:sldMk cId="1926619926" sldId="3282"/>
        </pc:sldMkLst>
      </pc:sldChg>
      <pc:sldChg chg="del">
        <pc:chgData name="Aurelien Domont" userId="6da7715ce44349b3" providerId="LiveId" clId="{9149B00E-810E-48AB-9153-54C78195225C}" dt="2023-12-06T23:40:18.773" v="10807" actId="47"/>
        <pc:sldMkLst>
          <pc:docMk/>
          <pc:sldMk cId="416818066" sldId="3284"/>
        </pc:sldMkLst>
      </pc:sldChg>
      <pc:sldChg chg="del">
        <pc:chgData name="Aurelien Domont" userId="6da7715ce44349b3" providerId="LiveId" clId="{9149B00E-810E-48AB-9153-54C78195225C}" dt="2023-12-06T23:40:18.773" v="10807" actId="47"/>
        <pc:sldMkLst>
          <pc:docMk/>
          <pc:sldMk cId="498457531" sldId="3285"/>
        </pc:sldMkLst>
      </pc:sldChg>
      <pc:sldChg chg="del">
        <pc:chgData name="Aurelien Domont" userId="6da7715ce44349b3" providerId="LiveId" clId="{9149B00E-810E-48AB-9153-54C78195225C}" dt="2023-12-06T23:40:18.773" v="10807" actId="47"/>
        <pc:sldMkLst>
          <pc:docMk/>
          <pc:sldMk cId="2716070288" sldId="3286"/>
        </pc:sldMkLst>
      </pc:sldChg>
      <pc:sldChg chg="del">
        <pc:chgData name="Aurelien Domont" userId="6da7715ce44349b3" providerId="LiveId" clId="{9149B00E-810E-48AB-9153-54C78195225C}" dt="2023-12-06T23:40:18.773" v="10807" actId="47"/>
        <pc:sldMkLst>
          <pc:docMk/>
          <pc:sldMk cId="4113459810" sldId="3287"/>
        </pc:sldMkLst>
      </pc:sldChg>
      <pc:sldChg chg="modSp mod ord modNotes">
        <pc:chgData name="Aurelien Domont" userId="6da7715ce44349b3" providerId="LiveId" clId="{9149B00E-810E-48AB-9153-54C78195225C}" dt="2023-12-06T23:52:54.406" v="15384" actId="790"/>
        <pc:sldMkLst>
          <pc:docMk/>
          <pc:sldMk cId="2246164536" sldId="3289"/>
        </pc:sldMkLst>
      </pc:sldChg>
      <pc:sldChg chg="del">
        <pc:chgData name="Aurelien Domont" userId="6da7715ce44349b3" providerId="LiveId" clId="{9149B00E-810E-48AB-9153-54C78195225C}" dt="2023-12-06T23:40:18.773" v="10807" actId="47"/>
        <pc:sldMkLst>
          <pc:docMk/>
          <pc:sldMk cId="3022929388" sldId="3290"/>
        </pc:sldMkLst>
      </pc:sldChg>
      <pc:sldChg chg="del">
        <pc:chgData name="Aurelien Domont" userId="6da7715ce44349b3" providerId="LiveId" clId="{9149B00E-810E-48AB-9153-54C78195225C}" dt="2023-12-06T23:40:18.773" v="10807" actId="47"/>
        <pc:sldMkLst>
          <pc:docMk/>
          <pc:sldMk cId="3033454792" sldId="3291"/>
        </pc:sldMkLst>
      </pc:sldChg>
      <pc:sldChg chg="new add del">
        <pc:chgData name="Aurelien Domont" userId="6da7715ce44349b3" providerId="LiveId" clId="{9149B00E-810E-48AB-9153-54C78195225C}" dt="2023-12-06T23:40:21.178" v="10808" actId="47"/>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modNotes">
        <pc:chgData name="Aurelien Domont" userId="6da7715ce44349b3" providerId="LiveId" clId="{9149B00E-810E-48AB-9153-54C78195225C}" dt="2023-12-06T23:52:54.408" v="15386" actId="790"/>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del mod">
        <pc:chgData name="Aurelien Domont" userId="6da7715ce44349b3" providerId="LiveId" clId="{9149B00E-810E-48AB-9153-54C78195225C}" dt="2023-12-06T21:43:04.350" v="7361" actId="47"/>
        <pc:sldMkLst>
          <pc:docMk/>
          <pc:sldMk cId="4290400277" sldId="3296"/>
        </pc:sldMkLst>
      </pc:sldChg>
      <pc:sldChg chg="addSp delSp modSp add mod ord modNotes">
        <pc:chgData name="Aurelien Domont" userId="6da7715ce44349b3" providerId="LiveId" clId="{9149B00E-810E-48AB-9153-54C78195225C}" dt="2023-12-06T23:52:54.412" v="15392" actId="790"/>
        <pc:sldMkLst>
          <pc:docMk/>
          <pc:sldMk cId="937810425" sldId="3297"/>
        </pc:sldMkLst>
      </pc:sldChg>
      <pc:sldChg chg="addSp delSp modSp add mod">
        <pc:chgData name="Aurelien Domont" userId="6da7715ce44349b3" providerId="LiveId" clId="{9149B00E-810E-48AB-9153-54C78195225C}" dt="2023-12-06T23:52:53.064" v="13331" actId="790"/>
        <pc:sldMkLst>
          <pc:docMk/>
          <pc:sldMk cId="866409736" sldId="3298"/>
        </pc:sldMkLst>
      </pc:sldChg>
      <pc:sldChg chg="addSp delSp modSp add mod">
        <pc:chgData name="Aurelien Domont" userId="6da7715ce44349b3" providerId="LiveId" clId="{9149B00E-810E-48AB-9153-54C78195225C}" dt="2023-12-06T23:52:53.088" v="13358" actId="790"/>
        <pc:sldMkLst>
          <pc:docMk/>
          <pc:sldMk cId="789226474" sldId="3299"/>
        </pc:sldMkLst>
      </pc:sldChg>
      <pc:sldChg chg="addSp delSp modSp add mod">
        <pc:chgData name="Aurelien Domont" userId="6da7715ce44349b3" providerId="LiveId" clId="{9149B00E-810E-48AB-9153-54C78195225C}" dt="2023-12-06T23:52:53.112" v="13385" actId="790"/>
        <pc:sldMkLst>
          <pc:docMk/>
          <pc:sldMk cId="3487455789" sldId="3300"/>
        </pc:sldMkLst>
      </pc:sldChg>
      <pc:sldChg chg="addSp delSp modSp add mod">
        <pc:chgData name="Aurelien Domont" userId="6da7715ce44349b3" providerId="LiveId" clId="{9149B00E-810E-48AB-9153-54C78195225C}" dt="2023-12-06T23:52:53.135" v="13412" actId="790"/>
        <pc:sldMkLst>
          <pc:docMk/>
          <pc:sldMk cId="2385067101" sldId="3301"/>
        </pc:sldMkLst>
      </pc:sldChg>
      <pc:sldChg chg="addSp delSp modSp add del mod">
        <pc:chgData name="Aurelien Domont" userId="6da7715ce44349b3" providerId="LiveId" clId="{9149B00E-810E-48AB-9153-54C78195225C}" dt="2023-12-06T22:39:14.045" v="7838" actId="47"/>
        <pc:sldMkLst>
          <pc:docMk/>
          <pc:sldMk cId="1393908417" sldId="3302"/>
        </pc:sldMkLst>
      </pc:sldChg>
      <pc:sldChg chg="addSp delSp modSp add mod">
        <pc:chgData name="Aurelien Domont" userId="6da7715ce44349b3" providerId="LiveId" clId="{9149B00E-810E-48AB-9153-54C78195225C}" dt="2023-12-06T23:52:53.160" v="13439" actId="790"/>
        <pc:sldMkLst>
          <pc:docMk/>
          <pc:sldMk cId="1828383078" sldId="3302"/>
        </pc:sldMkLst>
      </pc:sldChg>
      <pc:sldChg chg="addSp delSp modSp add mod">
        <pc:chgData name="Aurelien Domont" userId="6da7715ce44349b3" providerId="LiveId" clId="{9149B00E-810E-48AB-9153-54C78195225C}" dt="2023-12-06T23:52:53.184" v="13466" actId="790"/>
        <pc:sldMkLst>
          <pc:docMk/>
          <pc:sldMk cId="2332475113" sldId="3303"/>
        </pc:sldMkLst>
      </pc:sldChg>
      <pc:sldChg chg="addSp delSp modSp add mod">
        <pc:chgData name="Aurelien Domont" userId="6da7715ce44349b3" providerId="LiveId" clId="{9149B00E-810E-48AB-9153-54C78195225C}" dt="2023-12-06T23:52:53.209" v="13493" actId="790"/>
        <pc:sldMkLst>
          <pc:docMk/>
          <pc:sldMk cId="3436104963" sldId="3304"/>
        </pc:sldMkLst>
      </pc:sldChg>
      <pc:sldChg chg="add del">
        <pc:chgData name="Aurelien Domont" userId="6da7715ce44349b3" providerId="LiveId" clId="{9149B00E-810E-48AB-9153-54C78195225C}" dt="2023-12-06T21:43:00.795" v="7360" actId="47"/>
        <pc:sldMkLst>
          <pc:docMk/>
          <pc:sldMk cId="2233067711" sldId="3339"/>
        </pc:sldMkLst>
      </pc:sldChg>
      <pc:sldMasterChg chg="modSp mod delSldLayout modSldLayout">
        <pc:chgData name="Aurelien Domont" userId="6da7715ce44349b3" providerId="LiveId" clId="{9149B00E-810E-48AB-9153-54C78195225C}" dt="2023-12-06T23:52:54.402" v="15380" actId="790"/>
        <pc:sldMasterMkLst>
          <pc:docMk/>
          <pc:sldMasterMk cId="3482721130" sldId="2147483828"/>
        </pc:sldMasterMkLst>
        <pc:sldLayoutChg chg="modSp mod">
          <pc:chgData name="Aurelien Domont" userId="6da7715ce44349b3" providerId="LiveId" clId="{9149B00E-810E-48AB-9153-54C78195225C}" dt="2023-12-06T23:52:54.401" v="15379" actId="139"/>
          <pc:sldLayoutMkLst>
            <pc:docMk/>
            <pc:sldMasterMk cId="3482721130" sldId="2147483828"/>
            <pc:sldLayoutMk cId="250590409" sldId="2147483831"/>
          </pc:sldLayoutMkLst>
        </pc:sldLayoutChg>
        <pc:sldLayoutChg chg="modSp mod">
          <pc:chgData name="Aurelien Domont" userId="6da7715ce44349b3" providerId="LiveId" clId="{9149B00E-810E-48AB-9153-54C78195225C}" dt="2023-12-06T23:52:54.402" v="15380" actId="790"/>
          <pc:sldLayoutMkLst>
            <pc:docMk/>
            <pc:sldMasterMk cId="3482721130" sldId="2147483828"/>
            <pc:sldLayoutMk cId="1759204997" sldId="2147483835"/>
          </pc:sldLayoutMkLst>
        </pc:sldLayoutChg>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596880623875225E-2"/>
          <c:y val="0.13006756756756757"/>
          <c:w val="0.96880623875224958"/>
          <c:h val="0.77744932432432434"/>
        </c:manualLayout>
      </c:layout>
      <c:barChart>
        <c:barDir val="col"/>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8484-4E88-BFEC-A327F80515E3}"/>
              </c:ext>
            </c:extLst>
          </c:dPt>
          <c:dLbls>
            <c:dLbl>
              <c:idx val="0"/>
              <c:layout>
                <c:manualLayout>
                  <c:x val="0"/>
                  <c:y val="-0.2043918918918918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484-4E88-BFEC-A327F80515E3}"/>
                </c:ext>
              </c:extLst>
            </c:dLbl>
            <c:dLbl>
              <c:idx val="1"/>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484-4E88-BFEC-A327F80515E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30</c:v>
                </c:pt>
                <c:pt idx="1">
                  <c:v>70</c:v>
                </c:pt>
              </c:numCache>
            </c:numRef>
          </c:val>
          <c:extLst>
            <c:ext xmlns:c16="http://schemas.microsoft.com/office/drawing/2014/chart" uri="{C3380CC4-5D6E-409C-BE32-E72D297353CC}">
              <c16:uniqueId val="{00000002-8484-4E88-BFEC-A327F80515E3}"/>
            </c:ext>
          </c:extLst>
        </c:ser>
        <c:dLbls>
          <c:showLegendKey val="0"/>
          <c:showVal val="0"/>
          <c:showCatName val="0"/>
          <c:showSerName val="0"/>
          <c:showPercent val="0"/>
          <c:showBubbleSize val="0"/>
        </c:dLbls>
        <c:gapWidth val="80"/>
        <c:overlap val="100"/>
        <c:axId val="1356620096"/>
        <c:axId val="1"/>
      </c:barChart>
      <c:catAx>
        <c:axId val="135662009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
          <c:min val="0"/>
        </c:scaling>
        <c:delete val="1"/>
        <c:axPos val="l"/>
        <c:numFmt formatCode="General" sourceLinked="1"/>
        <c:majorTickMark val="out"/>
        <c:minorTickMark val="none"/>
        <c:tickLblPos val="nextTo"/>
        <c:crossAx val="1356620096"/>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554890816631767E-2"/>
          <c:y val="0.13006756756756757"/>
          <c:w val="0.9688902183667365"/>
          <c:h val="0.77744932432432434"/>
        </c:manualLayout>
      </c:layout>
      <c:barChart>
        <c:barDir val="col"/>
        <c:grouping val="stacked"/>
        <c:varyColors val="0"/>
        <c:ser>
          <c:idx val="0"/>
          <c:order val="0"/>
          <c:spPr>
            <a:solidFill>
              <a:schemeClr val="accent1"/>
            </a:solidFill>
            <a:ln>
              <a:noFill/>
            </a:ln>
          </c:spPr>
          <c:invertIfNegative val="0"/>
          <c:dPt>
            <c:idx val="3"/>
            <c:invertIfNegative val="0"/>
            <c:bubble3D val="0"/>
            <c:spPr>
              <a:solidFill>
                <a:schemeClr val="bg2"/>
              </a:solidFill>
              <a:ln>
                <a:noFill/>
              </a:ln>
            </c:spPr>
            <c:extLst>
              <c:ext xmlns:c16="http://schemas.microsoft.com/office/drawing/2014/chart" uri="{C3380CC4-5D6E-409C-BE32-E72D297353CC}">
                <c16:uniqueId val="{00000000-AD63-4A2C-BAD7-F4FFDD92035A}"/>
              </c:ext>
            </c:extLst>
          </c:dPt>
          <c:dLbls>
            <c:dLbl>
              <c:idx val="0"/>
              <c:layout>
                <c:manualLayout>
                  <c:x val="0"/>
                  <c:y val="-0.1051520270270270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D63-4A2C-BAD7-F4FFDD92035A}"/>
                </c:ext>
              </c:extLst>
            </c:dLbl>
            <c:dLbl>
              <c:idx val="1"/>
              <c:layout>
                <c:manualLayout>
                  <c:x val="0"/>
                  <c:y val="-0.22423986486486486"/>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D63-4A2C-BAD7-F4FFDD92035A}"/>
                </c:ext>
              </c:extLst>
            </c:dLbl>
            <c:dLbl>
              <c:idx val="2"/>
              <c:layout>
                <c:manualLayout>
                  <c:x val="0"/>
                  <c:y val="-0.1423141891891892"/>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AD63-4A2C-BAD7-F4FFDD92035A}"/>
                </c:ext>
              </c:extLst>
            </c:dLbl>
            <c:dLbl>
              <c:idx val="3"/>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D63-4A2C-BAD7-F4FFDD92035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9</c:v>
                </c:pt>
                <c:pt idx="1">
                  <c:v>25</c:v>
                </c:pt>
                <c:pt idx="2">
                  <c:v>14.000000000000002</c:v>
                </c:pt>
                <c:pt idx="3">
                  <c:v>52</c:v>
                </c:pt>
              </c:numCache>
            </c:numRef>
          </c:val>
          <c:extLst>
            <c:ext xmlns:c16="http://schemas.microsoft.com/office/drawing/2014/chart" uri="{C3380CC4-5D6E-409C-BE32-E72D297353CC}">
              <c16:uniqueId val="{00000004-AD63-4A2C-BAD7-F4FFDD92035A}"/>
            </c:ext>
          </c:extLst>
        </c:ser>
        <c:dLbls>
          <c:showLegendKey val="0"/>
          <c:showVal val="0"/>
          <c:showCatName val="0"/>
          <c:showSerName val="0"/>
          <c:showPercent val="0"/>
          <c:showBubbleSize val="0"/>
        </c:dLbls>
        <c:gapWidth val="80"/>
        <c:overlap val="100"/>
        <c:axId val="523528640"/>
        <c:axId val="1"/>
      </c:barChart>
      <c:catAx>
        <c:axId val="5235286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2"/>
          <c:min val="0"/>
        </c:scaling>
        <c:delete val="1"/>
        <c:axPos val="l"/>
        <c:numFmt formatCode="General" sourceLinked="1"/>
        <c:majorTickMark val="out"/>
        <c:minorTickMark val="none"/>
        <c:tickLblPos val="nextTo"/>
        <c:crossAx val="523528640"/>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553594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2781309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3565297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4.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5.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3.emf"/><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oleObject" Target="../embeddings/oleObject6.bin"/><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notesSlide" Target="../notesSlides/notesSlide4.xml"/><Relationship Id="rId5" Type="http://schemas.openxmlformats.org/officeDocument/2006/relationships/tags" Target="../tags/tag20.xml"/><Relationship Id="rId15" Type="http://schemas.openxmlformats.org/officeDocument/2006/relationships/chart" Target="../charts/chart2.xml"/><Relationship Id="rId10" Type="http://schemas.openxmlformats.org/officeDocument/2006/relationships/slideLayout" Target="../slideLayouts/slideLayout1.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chart" Target="../charts/chart1.xml"/></Relationships>
</file>

<file path=ppt/slides/_rels/slide5.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slideLayout" Target="../slideLayouts/slideLayout1.xml"/><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tags" Target="../tags/tag26.xml"/><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tags" Target="../tags/tag25.xml"/><Relationship Id="rId6" Type="http://schemas.openxmlformats.org/officeDocument/2006/relationships/image" Target="../media/image3.emf"/><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oleObject" Target="../embeddings/oleObject7.bin"/><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svg"/><Relationship Id="rId19" Type="http://schemas.openxmlformats.org/officeDocument/2006/relationships/image" Target="../media/image29.png"/><Relationship Id="rId4" Type="http://schemas.openxmlformats.org/officeDocument/2006/relationships/notesSlide" Target="../notesSlides/notesSlide5.xml"/><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7.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37.pn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36.png"/><Relationship Id="rId5" Type="http://schemas.openxmlformats.org/officeDocument/2006/relationships/hyperlink" Target="https://youtu.be/ewTytjEdvS8" TargetMode="Externa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notesSlide" Target="../notesSlides/notesSlide7.xml"/><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slideLayout" Target="../slideLayouts/slideLayout1.xml"/><Relationship Id="rId16" Type="http://schemas.openxmlformats.org/officeDocument/2006/relationships/image" Target="../media/image48.png"/><Relationship Id="rId1" Type="http://schemas.openxmlformats.org/officeDocument/2006/relationships/tags" Target="../tags/tag29.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emf"/><Relationship Id="rId15" Type="http://schemas.openxmlformats.org/officeDocument/2006/relationships/image" Target="../media/image47.svg"/><Relationship Id="rId10" Type="http://schemas.openxmlformats.org/officeDocument/2006/relationships/image" Target="../media/image42.png"/><Relationship Id="rId4" Type="http://schemas.openxmlformats.org/officeDocument/2006/relationships/oleObject" Target="../embeddings/oleObject7.bin"/><Relationship Id="rId9" Type="http://schemas.openxmlformats.org/officeDocument/2006/relationships/image" Target="../media/image41.svg"/><Relationship Id="rId14" Type="http://schemas.openxmlformats.org/officeDocument/2006/relationships/image" Target="../media/image46.png"/></Relationships>
</file>

<file path=ppt/slides/_rels/slide9.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43.svg"/><Relationship Id="rId18" Type="http://schemas.openxmlformats.org/officeDocument/2006/relationships/image" Target="../media/image61.png"/><Relationship Id="rId3" Type="http://schemas.openxmlformats.org/officeDocument/2006/relationships/oleObject" Target="../embeddings/oleObject7.bin"/><Relationship Id="rId7" Type="http://schemas.openxmlformats.org/officeDocument/2006/relationships/image" Target="../media/image52.png"/><Relationship Id="rId12" Type="http://schemas.openxmlformats.org/officeDocument/2006/relationships/image" Target="../media/image42.png"/><Relationship Id="rId17" Type="http://schemas.openxmlformats.org/officeDocument/2006/relationships/image" Target="../media/image60.sv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30.xml"/><Relationship Id="rId6" Type="http://schemas.openxmlformats.org/officeDocument/2006/relationships/image" Target="../media/image51.png"/><Relationship Id="rId11" Type="http://schemas.openxmlformats.org/officeDocument/2006/relationships/image" Target="../media/image56.svg"/><Relationship Id="rId5" Type="http://schemas.openxmlformats.org/officeDocument/2006/relationships/image" Target="../media/image50.png"/><Relationship Id="rId15" Type="http://schemas.openxmlformats.org/officeDocument/2006/relationships/image" Target="../media/image58.svg"/><Relationship Id="rId10" Type="http://schemas.openxmlformats.org/officeDocument/2006/relationships/image" Target="../media/image55.png"/><Relationship Id="rId19" Type="http://schemas.openxmlformats.org/officeDocument/2006/relationships/image" Target="../media/image62.svg"/><Relationship Id="rId4" Type="http://schemas.openxmlformats.org/officeDocument/2006/relationships/image" Target="../media/image3.emf"/><Relationship Id="rId9" Type="http://schemas.openxmlformats.org/officeDocument/2006/relationships/image" Target="../media/image54.svg"/><Relationship Id="rId14" Type="http://schemas.openxmlformats.org/officeDocument/2006/relationships/image" Target="../media/image57.png"/></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6.svg"/><Relationship Id="rId18" Type="http://schemas.openxmlformats.org/officeDocument/2006/relationships/image" Target="../media/image61.png"/><Relationship Id="rId3" Type="http://schemas.openxmlformats.org/officeDocument/2006/relationships/oleObject" Target="../embeddings/oleObject9.bin"/><Relationship Id="rId7" Type="http://schemas.openxmlformats.org/officeDocument/2006/relationships/image" Target="../media/image14.png"/><Relationship Id="rId12" Type="http://schemas.openxmlformats.org/officeDocument/2006/relationships/image" Target="../media/image65.png"/><Relationship Id="rId17" Type="http://schemas.openxmlformats.org/officeDocument/2006/relationships/image" Target="../media/image60.sv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31.xml"/><Relationship Id="rId6" Type="http://schemas.openxmlformats.org/officeDocument/2006/relationships/image" Target="../media/image64.png"/><Relationship Id="rId11" Type="http://schemas.openxmlformats.org/officeDocument/2006/relationships/image" Target="../media/image41.svg"/><Relationship Id="rId5" Type="http://schemas.openxmlformats.org/officeDocument/2006/relationships/image" Target="../media/image63.png"/><Relationship Id="rId15" Type="http://schemas.openxmlformats.org/officeDocument/2006/relationships/image" Target="../media/image58.svg"/><Relationship Id="rId10" Type="http://schemas.openxmlformats.org/officeDocument/2006/relationships/image" Target="../media/image40.png"/><Relationship Id="rId19" Type="http://schemas.openxmlformats.org/officeDocument/2006/relationships/image" Target="../media/image62.svg"/><Relationship Id="rId4" Type="http://schemas.openxmlformats.org/officeDocument/2006/relationships/image" Target="../media/image3.emf"/><Relationship Id="rId9" Type="http://schemas.openxmlformats.org/officeDocument/2006/relationships/image" Target="../media/image54.svg"/><Relationship Id="rId14" Type="http://schemas.openxmlformats.org/officeDocument/2006/relationships/image" Target="../media/image57.png"/></Relationships>
</file>

<file path=ppt/slides/_rels/slide11.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6.svg"/><Relationship Id="rId18" Type="http://schemas.openxmlformats.org/officeDocument/2006/relationships/image" Target="../media/image61.png"/><Relationship Id="rId3" Type="http://schemas.openxmlformats.org/officeDocument/2006/relationships/oleObject" Target="../embeddings/oleObject7.bin"/><Relationship Id="rId7" Type="http://schemas.openxmlformats.org/officeDocument/2006/relationships/image" Target="../media/image7.png"/><Relationship Id="rId12" Type="http://schemas.openxmlformats.org/officeDocument/2006/relationships/image" Target="../media/image65.png"/><Relationship Id="rId17" Type="http://schemas.openxmlformats.org/officeDocument/2006/relationships/image" Target="../media/image69.svg"/><Relationship Id="rId2" Type="http://schemas.openxmlformats.org/officeDocument/2006/relationships/slideLayout" Target="../slideLayouts/slideLayout1.xml"/><Relationship Id="rId16" Type="http://schemas.openxmlformats.org/officeDocument/2006/relationships/image" Target="../media/image46.png"/><Relationship Id="rId1" Type="http://schemas.openxmlformats.org/officeDocument/2006/relationships/tags" Target="../tags/tag32.xml"/><Relationship Id="rId6" Type="http://schemas.openxmlformats.org/officeDocument/2006/relationships/image" Target="../media/image67.png"/><Relationship Id="rId11" Type="http://schemas.openxmlformats.org/officeDocument/2006/relationships/image" Target="../media/image68.svg"/><Relationship Id="rId5" Type="http://schemas.openxmlformats.org/officeDocument/2006/relationships/image" Target="../media/image10.png"/><Relationship Id="rId15" Type="http://schemas.openxmlformats.org/officeDocument/2006/relationships/image" Target="../media/image58.svg"/><Relationship Id="rId10" Type="http://schemas.openxmlformats.org/officeDocument/2006/relationships/image" Target="../media/image55.png"/><Relationship Id="rId19" Type="http://schemas.openxmlformats.org/officeDocument/2006/relationships/image" Target="../media/image62.svg"/><Relationship Id="rId4" Type="http://schemas.openxmlformats.org/officeDocument/2006/relationships/image" Target="../media/image3.emf"/><Relationship Id="rId9" Type="http://schemas.openxmlformats.org/officeDocument/2006/relationships/image" Target="../media/image54.svg"/><Relationship Id="rId14"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66.svg"/><Relationship Id="rId18" Type="http://schemas.openxmlformats.org/officeDocument/2006/relationships/image" Target="../media/image61.png"/><Relationship Id="rId3" Type="http://schemas.openxmlformats.org/officeDocument/2006/relationships/oleObject" Target="../embeddings/oleObject7.bin"/><Relationship Id="rId7" Type="http://schemas.openxmlformats.org/officeDocument/2006/relationships/image" Target="../media/image13.png"/><Relationship Id="rId12" Type="http://schemas.openxmlformats.org/officeDocument/2006/relationships/image" Target="../media/image65.png"/><Relationship Id="rId17" Type="http://schemas.openxmlformats.org/officeDocument/2006/relationships/image" Target="../media/image73.sv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33.xml"/><Relationship Id="rId6" Type="http://schemas.openxmlformats.org/officeDocument/2006/relationships/image" Target="../media/image71.png"/><Relationship Id="rId11" Type="http://schemas.openxmlformats.org/officeDocument/2006/relationships/image" Target="../media/image68.svg"/><Relationship Id="rId5" Type="http://schemas.openxmlformats.org/officeDocument/2006/relationships/image" Target="../media/image70.png"/><Relationship Id="rId15" Type="http://schemas.openxmlformats.org/officeDocument/2006/relationships/image" Target="../media/image58.svg"/><Relationship Id="rId10" Type="http://schemas.openxmlformats.org/officeDocument/2006/relationships/image" Target="../media/image55.png"/><Relationship Id="rId19" Type="http://schemas.openxmlformats.org/officeDocument/2006/relationships/image" Target="../media/image62.svg"/><Relationship Id="rId4" Type="http://schemas.openxmlformats.org/officeDocument/2006/relationships/image" Target="../media/image3.emf"/><Relationship Id="rId9" Type="http://schemas.openxmlformats.org/officeDocument/2006/relationships/image" Target="../media/image72.svg"/><Relationship Id="rId14"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6.svg"/><Relationship Id="rId18" Type="http://schemas.openxmlformats.org/officeDocument/2006/relationships/image" Target="../media/image61.png"/><Relationship Id="rId3" Type="http://schemas.openxmlformats.org/officeDocument/2006/relationships/oleObject" Target="../embeddings/oleObject7.bin"/><Relationship Id="rId7" Type="http://schemas.openxmlformats.org/officeDocument/2006/relationships/image" Target="../media/image76.png"/><Relationship Id="rId12" Type="http://schemas.openxmlformats.org/officeDocument/2006/relationships/image" Target="../media/image65.png"/><Relationship Id="rId17" Type="http://schemas.openxmlformats.org/officeDocument/2006/relationships/image" Target="../media/image73.sv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34.xml"/><Relationship Id="rId6" Type="http://schemas.openxmlformats.org/officeDocument/2006/relationships/image" Target="../media/image75.png"/><Relationship Id="rId11" Type="http://schemas.openxmlformats.org/officeDocument/2006/relationships/image" Target="../media/image68.svg"/><Relationship Id="rId5" Type="http://schemas.openxmlformats.org/officeDocument/2006/relationships/image" Target="../media/image74.png"/><Relationship Id="rId15" Type="http://schemas.openxmlformats.org/officeDocument/2006/relationships/image" Target="../media/image78.svg"/><Relationship Id="rId10" Type="http://schemas.openxmlformats.org/officeDocument/2006/relationships/image" Target="../media/image55.png"/><Relationship Id="rId19" Type="http://schemas.openxmlformats.org/officeDocument/2006/relationships/image" Target="../media/image62.svg"/><Relationship Id="rId4" Type="http://schemas.openxmlformats.org/officeDocument/2006/relationships/image" Target="../media/image3.emf"/><Relationship Id="rId9" Type="http://schemas.openxmlformats.org/officeDocument/2006/relationships/image" Target="../media/image77.svg"/><Relationship Id="rId1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6.svg"/><Relationship Id="rId18" Type="http://schemas.openxmlformats.org/officeDocument/2006/relationships/image" Target="../media/image48.png"/><Relationship Id="rId3" Type="http://schemas.openxmlformats.org/officeDocument/2006/relationships/oleObject" Target="../embeddings/oleObject7.bin"/><Relationship Id="rId7" Type="http://schemas.openxmlformats.org/officeDocument/2006/relationships/image" Target="../media/image11.png"/><Relationship Id="rId12" Type="http://schemas.openxmlformats.org/officeDocument/2006/relationships/image" Target="../media/image65.png"/><Relationship Id="rId17" Type="http://schemas.openxmlformats.org/officeDocument/2006/relationships/image" Target="../media/image73.sv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35.xml"/><Relationship Id="rId6" Type="http://schemas.openxmlformats.org/officeDocument/2006/relationships/image" Target="../media/image80.png"/><Relationship Id="rId11" Type="http://schemas.openxmlformats.org/officeDocument/2006/relationships/image" Target="../media/image68.svg"/><Relationship Id="rId5" Type="http://schemas.openxmlformats.org/officeDocument/2006/relationships/image" Target="../media/image79.png"/><Relationship Id="rId15" Type="http://schemas.openxmlformats.org/officeDocument/2006/relationships/image" Target="../media/image81.svg"/><Relationship Id="rId10" Type="http://schemas.openxmlformats.org/officeDocument/2006/relationships/image" Target="../media/image55.png"/><Relationship Id="rId19" Type="http://schemas.openxmlformats.org/officeDocument/2006/relationships/image" Target="../media/image82.svg"/><Relationship Id="rId4" Type="http://schemas.openxmlformats.org/officeDocument/2006/relationships/image" Target="../media/image3.emf"/><Relationship Id="rId9" Type="http://schemas.openxmlformats.org/officeDocument/2006/relationships/image" Target="../media/image77.svg"/><Relationship Id="rId14" Type="http://schemas.openxmlformats.org/officeDocument/2006/relationships/image" Target="../media/image57.png"/></Relationships>
</file>

<file path=ppt/slides/_rels/slide1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6.svg"/><Relationship Id="rId18" Type="http://schemas.openxmlformats.org/officeDocument/2006/relationships/image" Target="../media/image61.png"/><Relationship Id="rId3" Type="http://schemas.openxmlformats.org/officeDocument/2006/relationships/oleObject" Target="../embeddings/oleObject10.bin"/><Relationship Id="rId7" Type="http://schemas.openxmlformats.org/officeDocument/2006/relationships/image" Target="../media/image84.png"/><Relationship Id="rId12" Type="http://schemas.openxmlformats.org/officeDocument/2006/relationships/image" Target="../media/image65.png"/><Relationship Id="rId17" Type="http://schemas.openxmlformats.org/officeDocument/2006/relationships/image" Target="../media/image73.svg"/><Relationship Id="rId2" Type="http://schemas.openxmlformats.org/officeDocument/2006/relationships/slideLayout" Target="../slideLayouts/slideLayout1.xml"/><Relationship Id="rId16" Type="http://schemas.openxmlformats.org/officeDocument/2006/relationships/image" Target="../media/image59.png"/><Relationship Id="rId1" Type="http://schemas.openxmlformats.org/officeDocument/2006/relationships/tags" Target="../tags/tag36.xml"/><Relationship Id="rId6" Type="http://schemas.openxmlformats.org/officeDocument/2006/relationships/image" Target="../media/image12.png"/><Relationship Id="rId11" Type="http://schemas.openxmlformats.org/officeDocument/2006/relationships/image" Target="../media/image68.svg"/><Relationship Id="rId5" Type="http://schemas.openxmlformats.org/officeDocument/2006/relationships/image" Target="../media/image83.png"/><Relationship Id="rId15" Type="http://schemas.openxmlformats.org/officeDocument/2006/relationships/image" Target="../media/image81.svg"/><Relationship Id="rId10" Type="http://schemas.openxmlformats.org/officeDocument/2006/relationships/image" Target="../media/image55.png"/><Relationship Id="rId19" Type="http://schemas.openxmlformats.org/officeDocument/2006/relationships/image" Target="../media/image85.svg"/><Relationship Id="rId4" Type="http://schemas.openxmlformats.org/officeDocument/2006/relationships/image" Target="../media/image3.emf"/><Relationship Id="rId9" Type="http://schemas.openxmlformats.org/officeDocument/2006/relationships/image" Target="../media/image77.svg"/><Relationship Id="rId1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notesSlide" Target="../notesSlides/notesSlide8.xml"/><Relationship Id="rId7" Type="http://schemas.openxmlformats.org/officeDocument/2006/relationships/image" Target="../media/image87.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86.png"/><Relationship Id="rId5" Type="http://schemas.openxmlformats.org/officeDocument/2006/relationships/image" Target="../media/image1.emf"/><Relationship Id="rId10" Type="http://schemas.openxmlformats.org/officeDocument/2006/relationships/image" Target="../media/image36.png"/><Relationship Id="rId4" Type="http://schemas.openxmlformats.org/officeDocument/2006/relationships/oleObject" Target="../embeddings/oleObject12.bin"/><Relationship Id="rId9" Type="http://schemas.openxmlformats.org/officeDocument/2006/relationships/image" Target="../media/image89.svg"/></Relationships>
</file>

<file path=ppt/slides/_rels/slide18.xml.rels><?xml version="1.0" encoding="UTF-8" standalone="yes"?>
<Relationships xmlns="http://schemas.openxmlformats.org/package/2006/relationships"><Relationship Id="rId8" Type="http://schemas.openxmlformats.org/officeDocument/2006/relationships/image" Target="../media/image91.svg"/><Relationship Id="rId13" Type="http://schemas.openxmlformats.org/officeDocument/2006/relationships/image" Target="../media/image96.png"/><Relationship Id="rId18" Type="http://schemas.openxmlformats.org/officeDocument/2006/relationships/image" Target="../media/image101.svg"/><Relationship Id="rId3" Type="http://schemas.openxmlformats.org/officeDocument/2006/relationships/slideLayout" Target="../slideLayouts/slideLayout1.xml"/><Relationship Id="rId21" Type="http://schemas.openxmlformats.org/officeDocument/2006/relationships/image" Target="../media/image104.png"/><Relationship Id="rId7" Type="http://schemas.openxmlformats.org/officeDocument/2006/relationships/image" Target="../media/image90.png"/><Relationship Id="rId12" Type="http://schemas.openxmlformats.org/officeDocument/2006/relationships/image" Target="../media/image95.svg"/><Relationship Id="rId17" Type="http://schemas.openxmlformats.org/officeDocument/2006/relationships/image" Target="../media/image100.png"/><Relationship Id="rId2" Type="http://schemas.openxmlformats.org/officeDocument/2006/relationships/tags" Target="../tags/tag41.xml"/><Relationship Id="rId16" Type="http://schemas.openxmlformats.org/officeDocument/2006/relationships/image" Target="../media/image99.svg"/><Relationship Id="rId20" Type="http://schemas.openxmlformats.org/officeDocument/2006/relationships/image" Target="../media/image103.svg"/><Relationship Id="rId1" Type="http://schemas.openxmlformats.org/officeDocument/2006/relationships/tags" Target="../tags/tag40.xml"/><Relationship Id="rId6" Type="http://schemas.openxmlformats.org/officeDocument/2006/relationships/image" Target="../media/image1.emf"/><Relationship Id="rId11" Type="http://schemas.openxmlformats.org/officeDocument/2006/relationships/image" Target="../media/image94.png"/><Relationship Id="rId24" Type="http://schemas.openxmlformats.org/officeDocument/2006/relationships/image" Target="../media/image107.svg"/><Relationship Id="rId5" Type="http://schemas.openxmlformats.org/officeDocument/2006/relationships/oleObject" Target="../embeddings/oleObject13.bin"/><Relationship Id="rId15" Type="http://schemas.openxmlformats.org/officeDocument/2006/relationships/image" Target="../media/image98.png"/><Relationship Id="rId23" Type="http://schemas.openxmlformats.org/officeDocument/2006/relationships/image" Target="../media/image106.png"/><Relationship Id="rId10" Type="http://schemas.openxmlformats.org/officeDocument/2006/relationships/image" Target="../media/image93.svg"/><Relationship Id="rId19" Type="http://schemas.openxmlformats.org/officeDocument/2006/relationships/image" Target="../media/image102.png"/><Relationship Id="rId4" Type="http://schemas.openxmlformats.org/officeDocument/2006/relationships/notesSlide" Target="../notesSlides/notesSlide9.xml"/><Relationship Id="rId9" Type="http://schemas.openxmlformats.org/officeDocument/2006/relationships/image" Target="../media/image92.png"/><Relationship Id="rId14" Type="http://schemas.openxmlformats.org/officeDocument/2006/relationships/image" Target="../media/image97.svg"/><Relationship Id="rId22" Type="http://schemas.openxmlformats.org/officeDocument/2006/relationships/image" Target="../media/image105.sv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42.xml"/><Relationship Id="rId6" Type="http://schemas.openxmlformats.org/officeDocument/2006/relationships/hyperlink" Target="https://www.domontconsulting.com/pages/reviews" TargetMode="External"/><Relationship Id="rId5" Type="http://schemas.openxmlformats.org/officeDocument/2006/relationships/image" Target="../media/image108.png"/><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10.xml"/><Relationship Id="rId7" Type="http://schemas.openxmlformats.org/officeDocument/2006/relationships/image" Target="../media/image31.png"/><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109.png"/><Relationship Id="rId11" Type="http://schemas.openxmlformats.org/officeDocument/2006/relationships/image" Target="../media/image35.png"/><Relationship Id="rId5" Type="http://schemas.openxmlformats.org/officeDocument/2006/relationships/image" Target="../media/image1.emf"/><Relationship Id="rId10" Type="http://schemas.openxmlformats.org/officeDocument/2006/relationships/image" Target="../media/image34.png"/><Relationship Id="rId4" Type="http://schemas.openxmlformats.org/officeDocument/2006/relationships/oleObject" Target="../embeddings/oleObject15.bin"/><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2.emf"/><Relationship Id="rId5" Type="http://schemas.openxmlformats.org/officeDocument/2006/relationships/oleObject" Target="../embeddings/oleObject16.bin"/><Relationship Id="rId4" Type="http://schemas.openxmlformats.org/officeDocument/2006/relationships/notesSlide" Target="../notesSlides/notesSlide11.xml"/><Relationship Id="rId9" Type="http://schemas.openxmlformats.org/officeDocument/2006/relationships/hyperlink" Target="https://www.domontconsulting.com/pages/full-access"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15.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emf"/><Relationship Id="rId11" Type="http://schemas.openxmlformats.org/officeDocument/2006/relationships/image" Target="../media/image114.png"/><Relationship Id="rId5" Type="http://schemas.openxmlformats.org/officeDocument/2006/relationships/oleObject" Target="../embeddings/oleObject16.bin"/><Relationship Id="rId10" Type="http://schemas.openxmlformats.org/officeDocument/2006/relationships/image" Target="../media/image113.png"/><Relationship Id="rId4" Type="http://schemas.openxmlformats.org/officeDocument/2006/relationships/notesSlide" Target="../notesSlides/notesSlide12.xml"/><Relationship Id="rId9" Type="http://schemas.openxmlformats.org/officeDocument/2006/relationships/image" Target="../media/image112.png"/></Relationships>
</file>

<file path=ppt/slides/_rels/slide23.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oleObject" Target="../embeddings/oleObject16.bin"/><Relationship Id="rId5" Type="http://schemas.openxmlformats.org/officeDocument/2006/relationships/image" Target="../media/image117.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1319639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12" name="Pic">
            <a:extLst>
              <a:ext uri="{FF2B5EF4-FFF2-40B4-BE49-F238E27FC236}">
                <a16:creationId xmlns:a16="http://schemas.microsoft.com/office/drawing/2014/main" id="{FDE59D02-D0F8-014D-09C8-90507D3BB649}"/>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7986" b="7986"/>
          <a:stretch>
            <a:fillRect/>
          </a:stretch>
        </p:blipFill>
        <p:spPr bwMode="auto">
          <a:xfrm>
            <a:off x="0" y="-1"/>
            <a:ext cx="12192000" cy="6858000"/>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071730"/>
            <a:ext cx="12192000" cy="17862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253851" y="5528930"/>
            <a:ext cx="6678577" cy="954107"/>
          </a:xfrm>
          <a:prstGeom prst="rect">
            <a:avLst/>
          </a:prstGeom>
          <a:noFill/>
        </p:spPr>
        <p:txBody>
          <a:bodyPr wrap="square" rtlCol="0">
            <a:spAutoFit/>
          </a:bodyPr>
          <a:lstStyle/>
          <a:p>
            <a:r>
              <a:rPr lang="en-US" sz="2800" b="1" dirty="0"/>
              <a:t>Mergers and Acquisitions Toolkit</a:t>
            </a:r>
          </a:p>
          <a:p>
            <a:r>
              <a:rPr lang="en-US" sz="2800" dirty="0"/>
              <a:t>Overview</a:t>
            </a:r>
          </a:p>
        </p:txBody>
      </p:sp>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836195" y="5530624"/>
            <a:ext cx="4101954" cy="964769"/>
          </a:xfrm>
          <a:prstGeom prst="rect">
            <a:avLst/>
          </a:prstGeom>
        </p:spPr>
      </p:pic>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9" name="Picture 18">
            <a:extLst>
              <a:ext uri="{FF2B5EF4-FFF2-40B4-BE49-F238E27FC236}">
                <a16:creationId xmlns:a16="http://schemas.microsoft.com/office/drawing/2014/main" id="{9FA16F5F-D25A-78FA-CE15-56C080A677C8}"/>
              </a:ext>
            </a:extLst>
          </p:cNvPr>
          <p:cNvPicPr>
            <a:picLocks noChangeAspect="1"/>
          </p:cNvPicPr>
          <p:nvPr/>
        </p:nvPicPr>
        <p:blipFill>
          <a:blip r:embed="rId6"/>
          <a:stretch>
            <a:fillRect/>
          </a:stretch>
        </p:blipFill>
        <p:spPr>
          <a:xfrm>
            <a:off x="4423544" y="268047"/>
            <a:ext cx="3331259" cy="1873833"/>
          </a:xfrm>
          <a:prstGeom prst="rect">
            <a:avLst/>
          </a:prstGeom>
          <a:effectLst>
            <a:outerShdw blurRad="50800" dist="38100" dir="5400000" algn="t" rotWithShape="0">
              <a:prstClr val="black">
                <a:alpha val="40000"/>
              </a:prstClr>
            </a:outerShdw>
          </a:effectLst>
        </p:spPr>
      </p:pic>
      <p:pic>
        <p:nvPicPr>
          <p:cNvPr id="4" name="Picture 3">
            <a:extLst>
              <a:ext uri="{FF2B5EF4-FFF2-40B4-BE49-F238E27FC236}">
                <a16:creationId xmlns:a16="http://schemas.microsoft.com/office/drawing/2014/main" id="{C9E6390A-D12C-99F5-12E7-03F5F9B8EA2B}"/>
              </a:ext>
            </a:extLst>
          </p:cNvPr>
          <p:cNvPicPr>
            <a:picLocks noChangeAspect="1"/>
          </p:cNvPicPr>
          <p:nvPr/>
        </p:nvPicPr>
        <p:blipFill rotWithShape="1">
          <a:blip r:embed="rId7"/>
          <a:srcRect r="5970"/>
          <a:stretch/>
        </p:blipFill>
        <p:spPr>
          <a:xfrm>
            <a:off x="4441600" y="2498400"/>
            <a:ext cx="3308800" cy="1861200"/>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65A0E6D2-9A24-27A5-9EA5-9E0E086B343D}"/>
              </a:ext>
            </a:extLst>
          </p:cNvPr>
          <p:cNvPicPr>
            <a:picLocks noChangeAspect="1"/>
          </p:cNvPicPr>
          <p:nvPr/>
        </p:nvPicPr>
        <p:blipFill>
          <a:blip r:embed="rId8"/>
          <a:stretch>
            <a:fillRect/>
          </a:stretch>
        </p:blipFill>
        <p:spPr>
          <a:xfrm>
            <a:off x="4437149" y="4629781"/>
            <a:ext cx="3308801" cy="18612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910BF660-01ED-5D37-3DE5-E6F41EBC9BE3}"/>
              </a:ext>
            </a:extLst>
          </p:cNvPr>
          <p:cNvPicPr>
            <a:picLocks noChangeAspect="1"/>
          </p:cNvPicPr>
          <p:nvPr/>
        </p:nvPicPr>
        <p:blipFill>
          <a:blip r:embed="rId9"/>
          <a:stretch>
            <a:fillRect/>
          </a:stretch>
        </p:blipFill>
        <p:spPr>
          <a:xfrm>
            <a:off x="642066" y="280680"/>
            <a:ext cx="3308800" cy="1861200"/>
          </a:xfrm>
          <a:prstGeom prst="rect">
            <a:avLst/>
          </a:prstGeom>
          <a:effectLst>
            <a:outerShdw blurRad="50800" dist="38100" dir="5400000" algn="t" rotWithShape="0">
              <a:prstClr val="black">
                <a:alpha val="40000"/>
              </a:prstClr>
            </a:outerShdw>
          </a:effectLst>
        </p:spPr>
      </p:pic>
      <p:pic>
        <p:nvPicPr>
          <p:cNvPr id="2" name="Picture 1">
            <a:extLst>
              <a:ext uri="{FF2B5EF4-FFF2-40B4-BE49-F238E27FC236}">
                <a16:creationId xmlns:a16="http://schemas.microsoft.com/office/drawing/2014/main" id="{FA0F8760-8230-5423-6137-6EC29F6F445D}"/>
              </a:ext>
            </a:extLst>
          </p:cNvPr>
          <p:cNvPicPr>
            <a:picLocks noChangeAspect="1"/>
          </p:cNvPicPr>
          <p:nvPr/>
        </p:nvPicPr>
        <p:blipFill rotWithShape="1">
          <a:blip r:embed="rId10"/>
          <a:srcRect r="7326"/>
          <a:stretch/>
        </p:blipFill>
        <p:spPr>
          <a:xfrm>
            <a:off x="642066" y="2483532"/>
            <a:ext cx="3308800" cy="18612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AEAAA5B6-745C-39B6-1707-476BBB692051}"/>
              </a:ext>
            </a:extLst>
          </p:cNvPr>
          <p:cNvPicPr>
            <a:picLocks noChangeAspect="1"/>
          </p:cNvPicPr>
          <p:nvPr/>
        </p:nvPicPr>
        <p:blipFill>
          <a:blip r:embed="rId11"/>
          <a:stretch>
            <a:fillRect/>
          </a:stretch>
        </p:blipFill>
        <p:spPr>
          <a:xfrm>
            <a:off x="8227480" y="269452"/>
            <a:ext cx="3331258" cy="18612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B58DF35E-0242-F742-0BEE-729494050007}"/>
              </a:ext>
            </a:extLst>
          </p:cNvPr>
          <p:cNvPicPr>
            <a:picLocks noChangeAspect="1"/>
          </p:cNvPicPr>
          <p:nvPr/>
        </p:nvPicPr>
        <p:blipFill>
          <a:blip r:embed="rId12"/>
          <a:stretch>
            <a:fillRect/>
          </a:stretch>
        </p:blipFill>
        <p:spPr>
          <a:xfrm>
            <a:off x="8227480" y="2498400"/>
            <a:ext cx="3308800" cy="18612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B0F787E8-1329-8C5A-DC06-8F3AD5D9E6B0}"/>
              </a:ext>
            </a:extLst>
          </p:cNvPr>
          <p:cNvPicPr>
            <a:picLocks noChangeAspect="1"/>
          </p:cNvPicPr>
          <p:nvPr/>
        </p:nvPicPr>
        <p:blipFill>
          <a:blip r:embed="rId13"/>
          <a:stretch>
            <a:fillRect/>
          </a:stretch>
        </p:blipFill>
        <p:spPr>
          <a:xfrm>
            <a:off x="642066" y="4619415"/>
            <a:ext cx="3308800" cy="18612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281366D8-81FE-8CE9-8D72-BD41F0A751AF}"/>
              </a:ext>
            </a:extLst>
          </p:cNvPr>
          <p:cNvPicPr>
            <a:picLocks noChangeAspect="1"/>
          </p:cNvPicPr>
          <p:nvPr/>
        </p:nvPicPr>
        <p:blipFill rotWithShape="1">
          <a:blip r:embed="rId14"/>
          <a:srcRect r="16726"/>
          <a:stretch/>
        </p:blipFill>
        <p:spPr>
          <a:xfrm>
            <a:off x="8227480" y="4629781"/>
            <a:ext cx="3308800" cy="1861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72227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M&amp;A Toolkit </a:t>
            </a:r>
            <a:r>
              <a:rPr lang="en-US" sz="1600" dirty="0">
                <a:solidFill>
                  <a:schemeClr val="tx1"/>
                </a:solidFill>
                <a:cs typeface="Arial" panose="020B0604020202020204" pitchFamily="34" charset="0"/>
              </a:rPr>
              <a:t>was created by </a:t>
            </a:r>
            <a:r>
              <a:rPr lang="en-US" sz="1600" b="1" dirty="0">
                <a:solidFill>
                  <a:schemeClr val="tx1"/>
                </a:solidFill>
                <a:cs typeface="Arial" panose="020B0604020202020204" pitchFamily="34" charset="0"/>
              </a:rPr>
              <a:t>former JP Morgan Investment Bankers, and McKinsey &amp; Deloitte Consultants</a:t>
            </a:r>
            <a:r>
              <a:rPr lang="en-US" sz="1600" dirty="0">
                <a:solidFill>
                  <a:schemeClr val="tx1"/>
                </a:solidFill>
                <a:cs typeface="Arial" panose="020B0604020202020204" pitchFamily="34" charset="0"/>
              </a:rPr>
              <a:t>, after more than 4,000 hours of work. It is considered the world's best &amp; most comprehensive Mergers and Acquisitions Toolkit. It includes all the Frameworks, Best Practices &amp; Templates required to improve the M&amp;A capability of your organization and boost your personal career.</a:t>
            </a:r>
            <a:endParaRPr lang="en-US" sz="1600" dirty="0">
              <a:solidFill>
                <a:schemeClr val="tx1"/>
              </a:solidFill>
              <a:highlight>
                <a:srgbClr val="FFFF00"/>
              </a:highlight>
              <a:cs typeface="Arial" panose="020B0604020202020204" pitchFamily="34" charset="0"/>
            </a:endParaRP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6A2FAA10-4AA4-6172-E0D1-181ABD845179}"/>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EBBE5104-84A0-F06C-1813-6A9469E6316D}"/>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78C851D-18CB-71FD-A9DF-00B73F828263}"/>
              </a:ext>
            </a:extLst>
          </p:cNvPr>
          <p:cNvGraphicFramePr>
            <a:graphicFrameLocks noChangeAspect="1"/>
          </p:cNvGraphicFramePr>
          <p:nvPr>
            <p:custDataLst>
              <p:tags r:id="rId1"/>
            </p:custDataLst>
            <p:extLst>
              <p:ext uri="{D42A27DB-BD31-4B8C-83A1-F6EECF244321}">
                <p14:modId xmlns:p14="http://schemas.microsoft.com/office/powerpoint/2010/main" val="5228792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4" progId="TCLayout.ActiveDocument.1">
                  <p:embed/>
                </p:oleObj>
              </mc:Choice>
              <mc:Fallback>
                <p:oleObj name="think-cell Slide" r:id="rId12" imgW="395" imgH="394" progId="TCLayout.ActiveDocument.1">
                  <p:embed/>
                  <p:pic>
                    <p:nvPicPr>
                      <p:cNvPr id="6" name="think-cell data - do not delete" hidden="1">
                        <a:extLst>
                          <a:ext uri="{FF2B5EF4-FFF2-40B4-BE49-F238E27FC236}">
                            <a16:creationId xmlns:a16="http://schemas.microsoft.com/office/drawing/2014/main" id="{778C851D-18CB-71FD-A9DF-00B73F828263}"/>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4A2542B-43BB-B3BF-4169-708E55855120}"/>
              </a:ext>
            </a:extLst>
          </p:cNvPr>
          <p:cNvSpPr>
            <a:spLocks noGrp="1"/>
          </p:cNvSpPr>
          <p:nvPr>
            <p:ph type="title"/>
          </p:nvPr>
        </p:nvSpPr>
        <p:spPr/>
        <p:txBody>
          <a:bodyPr vert="horz"/>
          <a:lstStyle/>
          <a:p>
            <a:r>
              <a:rPr lang="en-US" dirty="0">
                <a:solidFill>
                  <a:schemeClr val="accent2"/>
                </a:solidFill>
              </a:rPr>
              <a:t>Problem: </a:t>
            </a:r>
            <a:r>
              <a:rPr lang="en-US" dirty="0">
                <a:solidFill>
                  <a:schemeClr val="tx1"/>
                </a:solidFill>
              </a:rPr>
              <a:t>70% </a:t>
            </a:r>
            <a:r>
              <a:rPr lang="en-US" dirty="0"/>
              <a:t>of mergers and acquisitions fail to reach their value </a:t>
            </a:r>
            <a:r>
              <a:rPr lang="en-US"/>
              <a:t>creation objectives</a:t>
            </a:r>
            <a:endParaRPr lang="en-US" dirty="0"/>
          </a:p>
        </p:txBody>
      </p:sp>
      <p:sp>
        <p:nvSpPr>
          <p:cNvPr id="52" name="TextBox 51">
            <a:extLst>
              <a:ext uri="{FF2B5EF4-FFF2-40B4-BE49-F238E27FC236}">
                <a16:creationId xmlns:a16="http://schemas.microsoft.com/office/drawing/2014/main" id="{E68E3337-3CAB-5867-805E-B494A4F01F7C}"/>
              </a:ext>
            </a:extLst>
          </p:cNvPr>
          <p:cNvSpPr txBox="1"/>
          <p:nvPr/>
        </p:nvSpPr>
        <p:spPr>
          <a:xfrm>
            <a:off x="518055" y="657194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Consolidation of multiple surveys from New York Times, Harvard Business Review, and Australia Financial Review</a:t>
            </a:r>
          </a:p>
        </p:txBody>
      </p:sp>
      <p:grpSp>
        <p:nvGrpSpPr>
          <p:cNvPr id="5" name="Group 4">
            <a:extLst>
              <a:ext uri="{FF2B5EF4-FFF2-40B4-BE49-F238E27FC236}">
                <a16:creationId xmlns:a16="http://schemas.microsoft.com/office/drawing/2014/main" id="{DAC71EB6-184F-6495-9D53-B4468552FA43}"/>
              </a:ext>
            </a:extLst>
          </p:cNvPr>
          <p:cNvGrpSpPr/>
          <p:nvPr/>
        </p:nvGrpSpPr>
        <p:grpSpPr>
          <a:xfrm>
            <a:off x="599178" y="1686792"/>
            <a:ext cx="5127265" cy="338554"/>
            <a:chOff x="599178" y="1686792"/>
            <a:chExt cx="5127265" cy="338554"/>
          </a:xfrm>
        </p:grpSpPr>
        <p:cxnSp>
          <p:nvCxnSpPr>
            <p:cNvPr id="7" name="Straight Connector 6">
              <a:extLst>
                <a:ext uri="{FF2B5EF4-FFF2-40B4-BE49-F238E27FC236}">
                  <a16:creationId xmlns:a16="http://schemas.microsoft.com/office/drawing/2014/main" id="{B2390796-A477-9010-3BE5-4854493EFE83}"/>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118F521-6A94-983F-DC54-418A05BB2781}"/>
                </a:ext>
              </a:extLst>
            </p:cNvPr>
            <p:cNvSpPr txBox="1"/>
            <p:nvPr/>
          </p:nvSpPr>
          <p:spPr>
            <a:xfrm>
              <a:off x="599178" y="1686792"/>
              <a:ext cx="5112000" cy="338554"/>
            </a:xfrm>
            <a:prstGeom prst="rect">
              <a:avLst/>
            </a:prstGeom>
            <a:noFill/>
          </p:spPr>
          <p:txBody>
            <a:bodyPr wrap="square" rtlCol="0">
              <a:spAutoFit/>
            </a:bodyPr>
            <a:lstStyle/>
            <a:p>
              <a:r>
                <a:rPr lang="en-US" sz="1600" b="1" dirty="0"/>
                <a:t>M&amp;A ability to reach value creation objectives</a:t>
              </a:r>
            </a:p>
          </p:txBody>
        </p:sp>
      </p:grpSp>
      <p:grpSp>
        <p:nvGrpSpPr>
          <p:cNvPr id="11" name="Group 10">
            <a:extLst>
              <a:ext uri="{FF2B5EF4-FFF2-40B4-BE49-F238E27FC236}">
                <a16:creationId xmlns:a16="http://schemas.microsoft.com/office/drawing/2014/main" id="{5C5E871A-314E-CD81-B675-367D897FE9A8}"/>
              </a:ext>
            </a:extLst>
          </p:cNvPr>
          <p:cNvGrpSpPr/>
          <p:nvPr/>
        </p:nvGrpSpPr>
        <p:grpSpPr>
          <a:xfrm>
            <a:off x="6448425" y="1687513"/>
            <a:ext cx="5127625" cy="338138"/>
            <a:chOff x="599178" y="1686792"/>
            <a:chExt cx="5127265" cy="338554"/>
          </a:xfrm>
        </p:grpSpPr>
        <p:cxnSp>
          <p:nvCxnSpPr>
            <p:cNvPr id="12" name="Straight Connector 11">
              <a:extLst>
                <a:ext uri="{FF2B5EF4-FFF2-40B4-BE49-F238E27FC236}">
                  <a16:creationId xmlns:a16="http://schemas.microsoft.com/office/drawing/2014/main" id="{D62E0635-3DBE-BA1E-F3D3-5B154EAAD0E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C7AE4F8-949E-6F25-18E5-28FCA96FE861}"/>
                </a:ext>
              </a:extLst>
            </p:cNvPr>
            <p:cNvSpPr txBox="1"/>
            <p:nvPr/>
          </p:nvSpPr>
          <p:spPr>
            <a:xfrm>
              <a:off x="599178" y="1686792"/>
              <a:ext cx="5112000" cy="338554"/>
            </a:xfrm>
            <a:prstGeom prst="rect">
              <a:avLst/>
            </a:prstGeom>
            <a:noFill/>
          </p:spPr>
          <p:txBody>
            <a:bodyPr wrap="square" rtlCol="0">
              <a:spAutoFit/>
            </a:bodyPr>
            <a:lstStyle/>
            <a:p>
              <a:r>
                <a:rPr lang="en-US" sz="1600" b="1" dirty="0"/>
                <a:t>Main reasons for M&amp;A failure</a:t>
              </a:r>
            </a:p>
          </p:txBody>
        </p:sp>
      </p:grpSp>
      <p:graphicFrame>
        <p:nvGraphicFramePr>
          <p:cNvPr id="32" name="Chart 31">
            <a:extLst>
              <a:ext uri="{FF2B5EF4-FFF2-40B4-BE49-F238E27FC236}">
                <a16:creationId xmlns:a16="http://schemas.microsoft.com/office/drawing/2014/main" id="{E661227D-3B46-386A-D113-0D2B78E2171C}"/>
              </a:ext>
            </a:extLst>
          </p:cNvPr>
          <p:cNvGraphicFramePr/>
          <p:nvPr>
            <p:custDataLst>
              <p:tags r:id="rId2"/>
            </p:custDataLst>
            <p:extLst>
              <p:ext uri="{D42A27DB-BD31-4B8C-83A1-F6EECF244321}">
                <p14:modId xmlns:p14="http://schemas.microsoft.com/office/powerpoint/2010/main" val="725370927"/>
              </p:ext>
            </p:extLst>
          </p:nvPr>
        </p:nvGraphicFramePr>
        <p:xfrm>
          <a:off x="515938" y="2322513"/>
          <a:ext cx="5292725" cy="3759200"/>
        </p:xfrm>
        <a:graphic>
          <a:graphicData uri="http://schemas.openxmlformats.org/drawingml/2006/chart">
            <c:chart xmlns:c="http://schemas.openxmlformats.org/drawingml/2006/chart" xmlns:r="http://schemas.openxmlformats.org/officeDocument/2006/relationships" r:id="rId14"/>
          </a:graphicData>
        </a:graphic>
      </p:graphicFrame>
      <p:sp>
        <p:nvSpPr>
          <p:cNvPr id="15" name="Rectangle 14">
            <a:extLst>
              <a:ext uri="{FF2B5EF4-FFF2-40B4-BE49-F238E27FC236}">
                <a16:creationId xmlns:a16="http://schemas.microsoft.com/office/drawing/2014/main" id="{41D01491-C149-A5BB-84BE-68B5100572C3}"/>
              </a:ext>
            </a:extLst>
          </p:cNvPr>
          <p:cNvSpPr/>
          <p:nvPr>
            <p:custDataLst>
              <p:tags r:id="rId3"/>
            </p:custDataLst>
          </p:nvPr>
        </p:nvSpPr>
        <p:spPr bwMode="auto">
          <a:xfrm>
            <a:off x="1327150" y="5792788"/>
            <a:ext cx="11064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F644352-9EF4-40B5-8E9A-B56A7930ABC1}" type="datetime'''S''''''''ucce''''ss'' ''''r''a''''''''''''''te'''">
              <a:rPr lang="en-US" altLang="en-US" sz="1400" b="1" smtClean="0">
                <a:solidFill>
                  <a:schemeClr val="tx1"/>
                </a:solidFill>
              </a:rPr>
              <a:pPr/>
              <a:t>Success rate</a:t>
            </a:fld>
            <a:endParaRPr lang="en-US" sz="1400" b="1" dirty="0">
              <a:solidFill>
                <a:schemeClr val="tx1"/>
              </a:solidFill>
            </a:endParaRPr>
          </a:p>
        </p:txBody>
      </p:sp>
      <p:sp>
        <p:nvSpPr>
          <p:cNvPr id="16" name="Rectangle 15">
            <a:extLst>
              <a:ext uri="{FF2B5EF4-FFF2-40B4-BE49-F238E27FC236}">
                <a16:creationId xmlns:a16="http://schemas.microsoft.com/office/drawing/2014/main" id="{CA2F5146-7049-5B69-AEAE-6AFAB079BCB0}"/>
              </a:ext>
            </a:extLst>
          </p:cNvPr>
          <p:cNvSpPr/>
          <p:nvPr>
            <p:custDataLst>
              <p:tags r:id="rId4"/>
            </p:custDataLst>
          </p:nvPr>
        </p:nvSpPr>
        <p:spPr bwMode="auto">
          <a:xfrm>
            <a:off x="3959225" y="5792788"/>
            <a:ext cx="9683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07016974-5CEF-4554-ADF0-EB18B7707774}" type="datetime'''''''F''''a''i''l''u''re'''' ''''r''at''e'">
              <a:rPr lang="en-US" altLang="en-US" sz="1400" b="1" smtClean="0">
                <a:solidFill>
                  <a:schemeClr val="tx1"/>
                </a:solidFill>
              </a:rPr>
              <a:pPr/>
              <a:t>Failure rate</a:t>
            </a:fld>
            <a:endParaRPr lang="en-US" sz="1400" b="1" dirty="0">
              <a:solidFill>
                <a:schemeClr val="tx1"/>
              </a:solidFill>
            </a:endParaRPr>
          </a:p>
        </p:txBody>
      </p:sp>
      <p:graphicFrame>
        <p:nvGraphicFramePr>
          <p:cNvPr id="33" name="Chart 32">
            <a:extLst>
              <a:ext uri="{FF2B5EF4-FFF2-40B4-BE49-F238E27FC236}">
                <a16:creationId xmlns:a16="http://schemas.microsoft.com/office/drawing/2014/main" id="{555AC175-6358-4D9C-346C-E02471B05BE2}"/>
              </a:ext>
            </a:extLst>
          </p:cNvPr>
          <p:cNvGraphicFramePr/>
          <p:nvPr>
            <p:custDataLst>
              <p:tags r:id="rId5"/>
            </p:custDataLst>
            <p:extLst>
              <p:ext uri="{D42A27DB-BD31-4B8C-83A1-F6EECF244321}">
                <p14:modId xmlns:p14="http://schemas.microsoft.com/office/powerpoint/2010/main" val="3055997465"/>
              </p:ext>
            </p:extLst>
          </p:nvPr>
        </p:nvGraphicFramePr>
        <p:xfrm>
          <a:off x="6362700" y="2322513"/>
          <a:ext cx="5307013" cy="3759200"/>
        </p:xfrm>
        <a:graphic>
          <a:graphicData uri="http://schemas.openxmlformats.org/drawingml/2006/chart">
            <c:chart xmlns:c="http://schemas.openxmlformats.org/drawingml/2006/chart" xmlns:r="http://schemas.openxmlformats.org/officeDocument/2006/relationships" r:id="rId15"/>
          </a:graphicData>
        </a:graphic>
      </p:graphicFrame>
      <p:sp>
        <p:nvSpPr>
          <p:cNvPr id="18" name="Rectangle 17">
            <a:extLst>
              <a:ext uri="{FF2B5EF4-FFF2-40B4-BE49-F238E27FC236}">
                <a16:creationId xmlns:a16="http://schemas.microsoft.com/office/drawing/2014/main" id="{6CD5BA40-B39B-A034-DFFC-97087DC28EF7}"/>
              </a:ext>
            </a:extLst>
          </p:cNvPr>
          <p:cNvSpPr/>
          <p:nvPr>
            <p:custDataLst>
              <p:tags r:id="rId6"/>
            </p:custDataLst>
          </p:nvPr>
        </p:nvSpPr>
        <p:spPr bwMode="auto">
          <a:xfrm>
            <a:off x="6657975" y="5792788"/>
            <a:ext cx="860425" cy="63817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1FF57C03-ECD5-4592-AB55-9658879D5623}" type="datetime'''''C''''orp''o''r''ate ''''Strat''egy de''f''in''''it''''ion'">
              <a:rPr lang="en-US" altLang="en-US" sz="1400" b="1" smtClean="0">
                <a:solidFill>
                  <a:schemeClr val="tx1"/>
                </a:solidFill>
              </a:rPr>
              <a:pPr/>
              <a:t>Corporate Strategy definition</a:t>
            </a:fld>
            <a:endParaRPr lang="en-US" sz="1400" b="1" dirty="0">
              <a:solidFill>
                <a:schemeClr val="tx1"/>
              </a:solidFill>
            </a:endParaRPr>
          </a:p>
        </p:txBody>
      </p:sp>
      <p:sp>
        <p:nvSpPr>
          <p:cNvPr id="19" name="Rectangle 18">
            <a:extLst>
              <a:ext uri="{FF2B5EF4-FFF2-40B4-BE49-F238E27FC236}">
                <a16:creationId xmlns:a16="http://schemas.microsoft.com/office/drawing/2014/main" id="{BA18DCBE-7638-2198-B618-674B7A1BB154}"/>
              </a:ext>
            </a:extLst>
          </p:cNvPr>
          <p:cNvSpPr/>
          <p:nvPr>
            <p:custDataLst>
              <p:tags r:id="rId7"/>
            </p:custDataLst>
          </p:nvPr>
        </p:nvSpPr>
        <p:spPr bwMode="auto">
          <a:xfrm>
            <a:off x="7793038" y="5792788"/>
            <a:ext cx="1163638" cy="63817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70404C20-821A-4914-8B95-A93080DDF04C}" type="datetime'''Tar''''g''et s''creening ''''''''''&amp; Due dili''ge''nc''e'''">
              <a:rPr lang="en-US" altLang="en-US" sz="1400" b="1" smtClean="0">
                <a:solidFill>
                  <a:schemeClr val="tx1"/>
                </a:solidFill>
              </a:rPr>
              <a:pPr/>
              <a:t>Target screening &amp; Due diligence</a:t>
            </a:fld>
            <a:endParaRPr lang="en-US" sz="1400" b="1" dirty="0">
              <a:solidFill>
                <a:schemeClr val="tx1"/>
              </a:solidFill>
            </a:endParaRPr>
          </a:p>
        </p:txBody>
      </p:sp>
      <p:sp>
        <p:nvSpPr>
          <p:cNvPr id="28" name="Rectangle 27">
            <a:extLst>
              <a:ext uri="{FF2B5EF4-FFF2-40B4-BE49-F238E27FC236}">
                <a16:creationId xmlns:a16="http://schemas.microsoft.com/office/drawing/2014/main" id="{910102F7-7044-5F04-3714-FC484CA34BA8}"/>
              </a:ext>
            </a:extLst>
          </p:cNvPr>
          <p:cNvSpPr/>
          <p:nvPr>
            <p:custDataLst>
              <p:tags r:id="rId8"/>
            </p:custDataLst>
          </p:nvPr>
        </p:nvSpPr>
        <p:spPr bwMode="auto">
          <a:xfrm>
            <a:off x="9166225" y="5792788"/>
            <a:ext cx="985838"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6E0693F1-59EF-4F70-94F5-48EA6DC5A9CD}" type="datetime'N''eg''''oti''atio''n'' ''&amp;'''' c''''lo''''si''''''''''''ng'''">
              <a:rPr lang="en-US" altLang="en-US" sz="1400" b="1" smtClean="0">
                <a:solidFill>
                  <a:schemeClr val="tx1"/>
                </a:solidFill>
              </a:rPr>
              <a:pPr/>
              <a:t>Negotiation &amp; closing</a:t>
            </a:fld>
            <a:endParaRPr lang="en-US" sz="1400" b="1" dirty="0">
              <a:solidFill>
                <a:schemeClr val="tx1"/>
              </a:solidFill>
            </a:endParaRPr>
          </a:p>
        </p:txBody>
      </p:sp>
      <p:sp>
        <p:nvSpPr>
          <p:cNvPr id="29" name="Rectangle 28">
            <a:extLst>
              <a:ext uri="{FF2B5EF4-FFF2-40B4-BE49-F238E27FC236}">
                <a16:creationId xmlns:a16="http://schemas.microsoft.com/office/drawing/2014/main" id="{F9139269-1D7A-8FB4-7A89-B11793ED1BC1}"/>
              </a:ext>
            </a:extLst>
          </p:cNvPr>
          <p:cNvSpPr/>
          <p:nvPr>
            <p:custDataLst>
              <p:tags r:id="rId9"/>
            </p:custDataLst>
          </p:nvPr>
        </p:nvSpPr>
        <p:spPr bwMode="auto">
          <a:xfrm>
            <a:off x="10420350" y="5792788"/>
            <a:ext cx="1049338"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27DC1BF9-DADF-4D9E-A9EF-EADEDCD1CDCF}" type="datetime'Pos''''t'' me''rg''er ''in''t''''e''gra''''''tio''n'">
              <a:rPr lang="en-US" altLang="en-US" sz="1400" b="1" smtClean="0">
                <a:solidFill>
                  <a:schemeClr val="tx1"/>
                </a:solidFill>
              </a:rPr>
              <a:pPr/>
              <a:t>Post merger integration</a:t>
            </a:fld>
            <a:endParaRPr lang="en-US" sz="1400" b="1" dirty="0">
              <a:solidFill>
                <a:schemeClr val="tx1"/>
              </a:solidFill>
            </a:endParaRPr>
          </a:p>
        </p:txBody>
      </p:sp>
      <p:sp>
        <p:nvSpPr>
          <p:cNvPr id="35" name="Footer Placeholder 34">
            <a:extLst>
              <a:ext uri="{FF2B5EF4-FFF2-40B4-BE49-F238E27FC236}">
                <a16:creationId xmlns:a16="http://schemas.microsoft.com/office/drawing/2014/main" id="{4AF438C2-A980-0627-D791-0FB30DF23878}"/>
              </a:ext>
            </a:extLst>
          </p:cNvPr>
          <p:cNvSpPr>
            <a:spLocks noGrp="1"/>
          </p:cNvSpPr>
          <p:nvPr>
            <p:ph type="ftr" sz="quarter" idx="3"/>
          </p:nvPr>
        </p:nvSpPr>
        <p:spPr/>
        <p:txBody>
          <a:bodyPr/>
          <a:lstStyle/>
          <a:p>
            <a:r>
              <a:rPr lang="en-US"/>
              <a:t>Domont Consulting</a:t>
            </a:r>
            <a:endParaRPr lang="en-US" dirty="0"/>
          </a:p>
        </p:txBody>
      </p:sp>
      <p:sp>
        <p:nvSpPr>
          <p:cNvPr id="36" name="Slide Number Placeholder 35">
            <a:extLst>
              <a:ext uri="{FF2B5EF4-FFF2-40B4-BE49-F238E27FC236}">
                <a16:creationId xmlns:a16="http://schemas.microsoft.com/office/drawing/2014/main" id="{81774BFB-91FB-38BA-2C79-287C61E5617C}"/>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283964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1333478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ex-JP Morgan Investment Bankers, and McKinsey &amp; Deloitte Consultants created an M&amp;A Toolkit to increase your odds of success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former JP Morgan Investment Bankers, and McKinsey &amp; Deloitte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4" name="Footer Placeholder 3">
            <a:extLst>
              <a:ext uri="{FF2B5EF4-FFF2-40B4-BE49-F238E27FC236}">
                <a16:creationId xmlns:a16="http://schemas.microsoft.com/office/drawing/2014/main" id="{41593030-CADA-1B93-9D31-2CC8829C26BA}"/>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A717ECE1-27E7-7903-99BF-F83316C6FC19}"/>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8145394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47879"/>
            <a:ext cx="11094412" cy="5070619"/>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350" b="1" dirty="0">
                <a:solidFill>
                  <a:srgbClr val="002060"/>
                </a:solidFill>
                <a:latin typeface="Arial (Body)"/>
              </a:rPr>
              <a:t>The M&amp;A Toolkit includes frameworks, tools, templates, tutorials, real-life examples, video training, and best practices to help you:</a:t>
            </a:r>
          </a:p>
          <a:p>
            <a:pPr marL="265113" marR="0" lvl="1" indent="-174625" algn="l" defTabSz="914400" eaLnBrk="1" fontAlgn="auto" latinLnBrk="0" hangingPunct="1">
              <a:spcBef>
                <a:spcPts val="300"/>
              </a:spcBef>
              <a:spcAft>
                <a:spcPts val="300"/>
              </a:spcAft>
              <a:buClrTx/>
              <a:buSzTx/>
              <a:buFont typeface="Arial" panose="020B0604020202020204" pitchFamily="34" charset="0"/>
              <a:buChar char="•"/>
              <a:tabLst/>
              <a:defRPr/>
            </a:pPr>
            <a:r>
              <a:rPr lang="en-US" sz="1350" b="1" dirty="0">
                <a:solidFill>
                  <a:srgbClr val="002060"/>
                </a:solidFill>
                <a:latin typeface="Arial (Body)"/>
              </a:rPr>
              <a:t>Improve the M&amp;A capability of your organization and boost your personal career with our 7-phase approach: </a:t>
            </a:r>
            <a:r>
              <a:rPr lang="en-US" sz="1350" dirty="0">
                <a:solidFill>
                  <a:srgbClr val="002060"/>
                </a:solidFill>
                <a:latin typeface="Arial (Body)"/>
              </a:rPr>
              <a:t>(I) Define your M&amp;A Strategy, (II) Identify Target Companies, (III) Build a Business Case and Financial Model, (IV) Conduct a Due Diligence, (V) Execute Transaction, (VI) Conduct the Post Merger Integration, (VII) Activities specific to Carve-outs</a:t>
            </a:r>
          </a:p>
          <a:p>
            <a:pPr marL="265113" marR="0" lvl="1" indent="-174625" algn="l" defTabSz="914400" eaLnBrk="1" fontAlgn="auto" latinLnBrk="0" hangingPunct="1">
              <a:spcBef>
                <a:spcPts val="300"/>
              </a:spcBef>
              <a:spcAft>
                <a:spcPts val="300"/>
              </a:spcAft>
              <a:buClrTx/>
              <a:buSzTx/>
              <a:buFont typeface="Arial" panose="020B0604020202020204" pitchFamily="34" charset="0"/>
              <a:buChar char="•"/>
              <a:tabLst/>
              <a:defRPr/>
            </a:pPr>
            <a:r>
              <a:rPr lang="en-US" sz="1350" b="1" dirty="0">
                <a:solidFill>
                  <a:srgbClr val="002060"/>
                </a:solidFill>
                <a:latin typeface="Arial (Body)"/>
              </a:rPr>
              <a:t>(I) Define your M&amp;A Strategy: </a:t>
            </a:r>
            <a:r>
              <a:rPr lang="en-US" sz="1350" dirty="0">
                <a:solidFill>
                  <a:srgbClr val="002060"/>
                </a:solidFill>
                <a:latin typeface="Arial (Body)"/>
              </a:rPr>
              <a:t>(1) Company mission, vision and values, (2) M&amp;A key considerations, (3) M&amp;A strategic objectives and key performance indicators, (4) M&amp;A team, (5) M&amp;A guiding principles, (6) Target screening criteria, (7) Current M&amp;A pipeline</a:t>
            </a:r>
          </a:p>
          <a:p>
            <a:pPr marL="265113" lvl="1" indent="-174625">
              <a:spcBef>
                <a:spcPts val="300"/>
              </a:spcBef>
              <a:spcAft>
                <a:spcPts val="300"/>
              </a:spcAft>
              <a:buFont typeface="Arial" panose="020B0604020202020204" pitchFamily="34" charset="0"/>
              <a:buChar char="•"/>
              <a:defRPr/>
            </a:pPr>
            <a:r>
              <a:rPr lang="en-US" sz="1350" b="1" dirty="0">
                <a:solidFill>
                  <a:srgbClr val="002060"/>
                </a:solidFill>
                <a:latin typeface="Arial (Body)"/>
              </a:rPr>
              <a:t>(II) Identify Target Companies: </a:t>
            </a:r>
            <a:r>
              <a:rPr lang="en-US" sz="1350" dirty="0">
                <a:solidFill>
                  <a:srgbClr val="002060"/>
                </a:solidFill>
                <a:latin typeface="Arial (Body)"/>
              </a:rPr>
              <a:t>(1) Potential target companies and data collection, (2) High-level assessment of potential target companies, (3) Shortlisted potential targets, (4) Financial statements analysis, (5) Valuation: DCF model, comparable company analysis, and precedent transaction analysis, (6) Targets approved for the business case phase</a:t>
            </a:r>
          </a:p>
          <a:p>
            <a:pPr marL="265113" lvl="1" indent="-174625">
              <a:spcBef>
                <a:spcPts val="300"/>
              </a:spcBef>
              <a:spcAft>
                <a:spcPts val="300"/>
              </a:spcAft>
              <a:buFont typeface="Arial" panose="020B0604020202020204" pitchFamily="34" charset="0"/>
              <a:buChar char="•"/>
              <a:defRPr/>
            </a:pPr>
            <a:r>
              <a:rPr lang="en-US" sz="1350" b="1" dirty="0">
                <a:solidFill>
                  <a:srgbClr val="002060"/>
                </a:solidFill>
                <a:latin typeface="Arial (Body)"/>
              </a:rPr>
              <a:t>(III) Build a Business Case and Financial Model: </a:t>
            </a:r>
            <a:r>
              <a:rPr lang="en-US" sz="1350" dirty="0">
                <a:solidFill>
                  <a:srgbClr val="002060"/>
                </a:solidFill>
                <a:latin typeface="Arial (Body)"/>
              </a:rPr>
              <a:t>(1) Strategic benefit, (2) Feasibility, (3) Financial benefit, (4) Comprehensive M&amp;A financial model including acquirer model, target model, merger assumptions &amp; analysis, and pro forma model, (5) Simple Financial model including integration cost, revenue synergy, cost synergy, NPV, ROI, and IRR, (6) Letter of intent or term sheet</a:t>
            </a:r>
          </a:p>
          <a:p>
            <a:pPr marL="265113" lvl="1" indent="-174625">
              <a:spcBef>
                <a:spcPts val="300"/>
              </a:spcBef>
              <a:spcAft>
                <a:spcPts val="300"/>
              </a:spcAft>
              <a:buFont typeface="Arial" panose="020B0604020202020204" pitchFamily="34" charset="0"/>
              <a:buChar char="•"/>
              <a:defRPr/>
            </a:pPr>
            <a:r>
              <a:rPr lang="en-US" sz="1350" b="1" dirty="0">
                <a:solidFill>
                  <a:srgbClr val="002060"/>
                </a:solidFill>
                <a:latin typeface="Arial (Body)"/>
              </a:rPr>
              <a:t>(IV) Conduct a Due Diligence: </a:t>
            </a:r>
            <a:r>
              <a:rPr lang="en-US" sz="1350" dirty="0">
                <a:solidFill>
                  <a:srgbClr val="002060"/>
                </a:solidFill>
                <a:latin typeface="Arial (Body)"/>
              </a:rPr>
              <a:t>(1) Data room and clean room, (2) Work plan including key business case hypotheses &amp; assumptions, (3) Due diligence to validate key hypotheses and assumptions, (4) Updated valuation, business case, and financial model, (5) Recommendation to make (or not) a formal offer to acquire the target company</a:t>
            </a:r>
          </a:p>
          <a:p>
            <a:pPr marL="265113" lvl="1" indent="-174625">
              <a:spcBef>
                <a:spcPts val="300"/>
              </a:spcBef>
              <a:spcAft>
                <a:spcPts val="300"/>
              </a:spcAft>
              <a:buFont typeface="Arial" panose="020B0604020202020204" pitchFamily="34" charset="0"/>
              <a:buChar char="•"/>
              <a:defRPr/>
            </a:pPr>
            <a:r>
              <a:rPr lang="en-US" sz="1350" b="1" dirty="0">
                <a:solidFill>
                  <a:srgbClr val="002060"/>
                </a:solidFill>
                <a:latin typeface="Arial (Body)"/>
              </a:rPr>
              <a:t>(V) Execute Transaction: </a:t>
            </a:r>
            <a:r>
              <a:rPr lang="en-US" sz="1350" dirty="0">
                <a:solidFill>
                  <a:srgbClr val="002060"/>
                </a:solidFill>
                <a:latin typeface="Arial (Body)"/>
              </a:rPr>
              <a:t>(1) Deal structure, (2) Sale and purchase agreement (SPA), (3) M&amp;A negotiations, (4) Signing and closing the M&amp;A deal</a:t>
            </a:r>
          </a:p>
          <a:p>
            <a:pPr marL="265113" lvl="1" indent="-174625">
              <a:spcBef>
                <a:spcPts val="300"/>
              </a:spcBef>
              <a:spcAft>
                <a:spcPts val="300"/>
              </a:spcAft>
              <a:buFont typeface="Arial" panose="020B0604020202020204" pitchFamily="34" charset="0"/>
              <a:buChar char="•"/>
              <a:defRPr/>
            </a:pPr>
            <a:r>
              <a:rPr lang="en-US" sz="1350" b="1" dirty="0">
                <a:solidFill>
                  <a:srgbClr val="002060"/>
                </a:solidFill>
                <a:latin typeface="Arial (Body)"/>
              </a:rPr>
              <a:t>(VI) Conduct the Post Merger Integration: </a:t>
            </a:r>
            <a:r>
              <a:rPr lang="en-US" sz="1350" dirty="0">
                <a:solidFill>
                  <a:srgbClr val="002060"/>
                </a:solidFill>
                <a:latin typeface="Arial (Body)"/>
              </a:rPr>
              <a:t>(1) Integration strategy, (2) Integration &amp; synergy initiatives, (3) Detailed Plans, (4) Implementation &amp; Monitoring, (5) Change Management and Internal Communication, (6) Stakeholder Engagement</a:t>
            </a:r>
          </a:p>
          <a:p>
            <a:pPr marL="265113" lvl="1" indent="-174625">
              <a:spcBef>
                <a:spcPts val="300"/>
              </a:spcBef>
              <a:spcAft>
                <a:spcPts val="300"/>
              </a:spcAft>
              <a:buFont typeface="Arial" panose="020B0604020202020204" pitchFamily="34" charset="0"/>
              <a:buChar char="•"/>
              <a:defRPr/>
            </a:pPr>
            <a:r>
              <a:rPr lang="en-US" sz="1350" b="1" dirty="0">
                <a:solidFill>
                  <a:srgbClr val="002060"/>
                </a:solidFill>
                <a:latin typeface="Arial (Body)"/>
              </a:rPr>
              <a:t>(VII) Activities specific to Carve-outs: </a:t>
            </a:r>
            <a:r>
              <a:rPr lang="en-US" sz="1350" dirty="0">
                <a:solidFill>
                  <a:srgbClr val="002060"/>
                </a:solidFill>
                <a:latin typeface="Arial (Body)"/>
              </a:rPr>
              <a:t>(1) Exit readiness, (2) Transaction perimeter , (3) Separation concepts, (4) Management presentation, (5) Legal entity, (6) Separation execution</a:t>
            </a:r>
            <a:endParaRPr lang="en-US" sz="1400" dirty="0">
              <a:solidFill>
                <a:srgbClr val="002060"/>
              </a:solidFill>
              <a:latin typeface="Arial (Body)"/>
            </a:endParaRPr>
          </a:p>
        </p:txBody>
      </p:sp>
      <p:sp>
        <p:nvSpPr>
          <p:cNvPr id="26" name="Footer Placeholder 25">
            <a:extLst>
              <a:ext uri="{FF2B5EF4-FFF2-40B4-BE49-F238E27FC236}">
                <a16:creationId xmlns:a16="http://schemas.microsoft.com/office/drawing/2014/main" id="{25144047-AFC3-5A74-18DB-9126E1A1E921}"/>
              </a:ext>
            </a:extLst>
          </p:cNvPr>
          <p:cNvSpPr>
            <a:spLocks noGrp="1"/>
          </p:cNvSpPr>
          <p:nvPr>
            <p:ph type="ftr" sz="quarter" idx="3"/>
          </p:nvPr>
        </p:nvSpPr>
        <p:spPr/>
        <p:txBody>
          <a:bodyPr/>
          <a:lstStyle/>
          <a:p>
            <a:r>
              <a:rPr lang="en-US"/>
              <a:t>Domont Consulting</a:t>
            </a:r>
            <a:endParaRPr lang="en-US" dirty="0"/>
          </a:p>
        </p:txBody>
      </p:sp>
      <p:sp>
        <p:nvSpPr>
          <p:cNvPr id="27" name="Slide Number Placeholder 26">
            <a:extLst>
              <a:ext uri="{FF2B5EF4-FFF2-40B4-BE49-F238E27FC236}">
                <a16:creationId xmlns:a16="http://schemas.microsoft.com/office/drawing/2014/main" id="{43E8C352-933D-2E44-BCBD-BF4A40DD04DB}"/>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7</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https://youtu.be/ewTytjEdvS8</a:t>
            </a:r>
            <a:r>
              <a:rPr lang="en-US" sz="1600" dirty="0"/>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1A50BA00-D2FF-19F6-7E9C-F3016CE99778}"/>
              </a:ext>
            </a:extLst>
          </p:cNvPr>
          <p:cNvPicPr>
            <a:picLocks noChangeAspect="1"/>
          </p:cNvPicPr>
          <p:nvPr/>
        </p:nvPicPr>
        <p:blipFill>
          <a:blip r:embed="rId7"/>
          <a:stretch>
            <a:fillRect/>
          </a:stretch>
        </p:blipFill>
        <p:spPr>
          <a:xfrm>
            <a:off x="6476568" y="2080436"/>
            <a:ext cx="5110999" cy="285056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9211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458103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The Toolkit includes a 7-phase approach that we have built and refined over the past 20 years through constant trial and error</a:t>
            </a:r>
          </a:p>
        </p:txBody>
      </p:sp>
      <p:sp>
        <p:nvSpPr>
          <p:cNvPr id="3" name="Chevron 10">
            <a:extLst>
              <a:ext uri="{FF2B5EF4-FFF2-40B4-BE49-F238E27FC236}">
                <a16:creationId xmlns:a16="http://schemas.microsoft.com/office/drawing/2014/main" id="{A9AD3861-6FA4-B3F4-F334-05F47222B5A4}"/>
              </a:ext>
            </a:extLst>
          </p:cNvPr>
          <p:cNvSpPr/>
          <p:nvPr/>
        </p:nvSpPr>
        <p:spPr bwMode="auto">
          <a:xfrm>
            <a:off x="2346706"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rtl="0" fontAlgn="base">
              <a:spcBef>
                <a:spcPts val="600"/>
              </a:spcBef>
              <a:spcAft>
                <a:spcPts val="600"/>
              </a:spcAft>
              <a:buClr>
                <a:srgbClr val="000000"/>
              </a:buClr>
            </a:pPr>
            <a:r>
              <a:rPr lang="en-US" sz="1200" b="1" kern="1200" dirty="0">
                <a:solidFill>
                  <a:schemeClr val="bg1"/>
                </a:solidFill>
                <a:ea typeface="+mn-ea"/>
                <a:cs typeface="Times New Roman" pitchFamily="18" charset="0"/>
              </a:rPr>
              <a:t>Identify Target </a:t>
            </a:r>
            <a:r>
              <a:rPr lang="en-US" sz="1200" b="1" dirty="0">
                <a:solidFill>
                  <a:schemeClr val="bg1"/>
                </a:solidFill>
                <a:cs typeface="Times New Roman" pitchFamily="18" charset="0"/>
              </a:rPr>
              <a:t>C</a:t>
            </a:r>
            <a:r>
              <a:rPr lang="en-US" sz="1200" b="1" kern="1200" dirty="0">
                <a:solidFill>
                  <a:schemeClr val="bg1"/>
                </a:solidFill>
                <a:ea typeface="+mn-ea"/>
                <a:cs typeface="Times New Roman" pitchFamily="18" charset="0"/>
              </a:rPr>
              <a:t>ompanies</a:t>
            </a:r>
          </a:p>
        </p:txBody>
      </p:sp>
      <p:sp>
        <p:nvSpPr>
          <p:cNvPr id="4" name="Chevron 12">
            <a:extLst>
              <a:ext uri="{FF2B5EF4-FFF2-40B4-BE49-F238E27FC236}">
                <a16:creationId xmlns:a16="http://schemas.microsoft.com/office/drawing/2014/main" id="{B2CAF000-1C65-ED69-7914-DC9BE4ABCFAB}"/>
              </a:ext>
            </a:extLst>
          </p:cNvPr>
          <p:cNvSpPr/>
          <p:nvPr/>
        </p:nvSpPr>
        <p:spPr bwMode="auto">
          <a:xfrm>
            <a:off x="4170648"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5" name="Chevron 14">
            <a:extLst>
              <a:ext uri="{FF2B5EF4-FFF2-40B4-BE49-F238E27FC236}">
                <a16:creationId xmlns:a16="http://schemas.microsoft.com/office/drawing/2014/main" id="{736E5DD6-0DCB-801F-5229-3552AFBAD71D}"/>
              </a:ext>
            </a:extLst>
          </p:cNvPr>
          <p:cNvSpPr/>
          <p:nvPr/>
        </p:nvSpPr>
        <p:spPr bwMode="auto">
          <a:xfrm>
            <a:off x="5994590"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7" name="Chevron 17">
            <a:extLst>
              <a:ext uri="{FF2B5EF4-FFF2-40B4-BE49-F238E27FC236}">
                <a16:creationId xmlns:a16="http://schemas.microsoft.com/office/drawing/2014/main" id="{51CEF7F3-3EA5-A7E9-CD47-74CEF1CBD3AA}"/>
              </a:ext>
            </a:extLst>
          </p:cNvPr>
          <p:cNvSpPr/>
          <p:nvPr/>
        </p:nvSpPr>
        <p:spPr bwMode="auto">
          <a:xfrm>
            <a:off x="7818532"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0" name="Chevron 103">
            <a:extLst>
              <a:ext uri="{FF2B5EF4-FFF2-40B4-BE49-F238E27FC236}">
                <a16:creationId xmlns:a16="http://schemas.microsoft.com/office/drawing/2014/main" id="{9D924D83-E0FB-A14F-5F7E-459DC94AF895}"/>
              </a:ext>
            </a:extLst>
          </p:cNvPr>
          <p:cNvSpPr/>
          <p:nvPr/>
        </p:nvSpPr>
        <p:spPr bwMode="auto">
          <a:xfrm>
            <a:off x="9642473" y="2046324"/>
            <a:ext cx="2005499" cy="648000"/>
          </a:xfrm>
          <a:prstGeom prst="chevron">
            <a:avLst>
              <a:gd name="adj" fmla="val 31818"/>
            </a:avLst>
          </a:prstGeom>
          <a:solidFill>
            <a:schemeClr val="tx1"/>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endParaRPr lang="en-US" sz="1200" b="1" kern="1200" dirty="0">
              <a:solidFill>
                <a:schemeClr val="bg1"/>
              </a:solidFill>
              <a:cs typeface="Times New Roman" pitchFamily="18" charset="0"/>
            </a:endParaRPr>
          </a:p>
        </p:txBody>
      </p:sp>
      <p:cxnSp>
        <p:nvCxnSpPr>
          <p:cNvPr id="17" name="Straight Connector 16">
            <a:extLst>
              <a:ext uri="{FF2B5EF4-FFF2-40B4-BE49-F238E27FC236}">
                <a16:creationId xmlns:a16="http://schemas.microsoft.com/office/drawing/2014/main" id="{D133D4C6-3F08-8AFC-9CCF-AE3A535CDF20}"/>
              </a:ext>
            </a:extLst>
          </p:cNvPr>
          <p:cNvCxnSpPr>
            <a:cxnSpLocks/>
          </p:cNvCxnSpPr>
          <p:nvPr/>
        </p:nvCxnSpPr>
        <p:spPr>
          <a:xfrm>
            <a:off x="2319474" y="2787036"/>
            <a:ext cx="0" cy="3312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30C521-61FD-44C6-3FE2-9F7D0440BF98}"/>
              </a:ext>
            </a:extLst>
          </p:cNvPr>
          <p:cNvCxnSpPr>
            <a:cxnSpLocks/>
          </p:cNvCxnSpPr>
          <p:nvPr/>
        </p:nvCxnSpPr>
        <p:spPr>
          <a:xfrm>
            <a:off x="4172636" y="2787036"/>
            <a:ext cx="0" cy="3312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FF09F6-FC9D-118E-2BE9-8FA80AD42AC4}"/>
              </a:ext>
            </a:extLst>
          </p:cNvPr>
          <p:cNvCxnSpPr>
            <a:cxnSpLocks/>
          </p:cNvCxnSpPr>
          <p:nvPr/>
        </p:nvCxnSpPr>
        <p:spPr>
          <a:xfrm>
            <a:off x="5958851" y="2787036"/>
            <a:ext cx="0" cy="3312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1420269-1FD9-2098-9AF3-FF2DE59AD89E}"/>
              </a:ext>
            </a:extLst>
          </p:cNvPr>
          <p:cNvCxnSpPr>
            <a:cxnSpLocks/>
          </p:cNvCxnSpPr>
          <p:nvPr/>
        </p:nvCxnSpPr>
        <p:spPr>
          <a:xfrm>
            <a:off x="7767769" y="2787036"/>
            <a:ext cx="0" cy="3312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C852D80-58BB-FD8F-BBDE-109FBF9575C2}"/>
              </a:ext>
            </a:extLst>
          </p:cNvPr>
          <p:cNvCxnSpPr>
            <a:cxnSpLocks/>
          </p:cNvCxnSpPr>
          <p:nvPr/>
        </p:nvCxnSpPr>
        <p:spPr>
          <a:xfrm>
            <a:off x="9608346" y="2787036"/>
            <a:ext cx="0" cy="3312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AC2EE0FE-7F2E-7FC2-1816-49176A3E26E1}"/>
              </a:ext>
            </a:extLst>
          </p:cNvPr>
          <p:cNvSpPr/>
          <p:nvPr/>
        </p:nvSpPr>
        <p:spPr>
          <a:xfrm>
            <a:off x="601844" y="2729018"/>
            <a:ext cx="1711407" cy="3011081"/>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100" dirty="0">
                <a:solidFill>
                  <a:srgbClr val="002776"/>
                </a:solidFill>
              </a:rPr>
              <a:t>Company mission, vision and values</a:t>
            </a:r>
          </a:p>
          <a:p>
            <a:pPr marL="169863" indent="-169863">
              <a:spcBef>
                <a:spcPts val="400"/>
              </a:spcBef>
              <a:spcAft>
                <a:spcPts val="400"/>
              </a:spcAft>
              <a:buFont typeface="+mj-lt"/>
              <a:buAutoNum type="arabicPeriod"/>
              <a:defRPr/>
            </a:pPr>
            <a:r>
              <a:rPr lang="en-US" sz="1100" dirty="0">
                <a:solidFill>
                  <a:srgbClr val="002776"/>
                </a:solidFill>
              </a:rPr>
              <a:t>M&amp;A key considerations</a:t>
            </a:r>
          </a:p>
          <a:p>
            <a:pPr marL="169863" indent="-169863">
              <a:spcBef>
                <a:spcPts val="400"/>
              </a:spcBef>
              <a:spcAft>
                <a:spcPts val="400"/>
              </a:spcAft>
              <a:buFont typeface="+mj-lt"/>
              <a:buAutoNum type="arabicPeriod"/>
              <a:defRPr/>
            </a:pPr>
            <a:r>
              <a:rPr lang="en-US" sz="1100" dirty="0">
                <a:solidFill>
                  <a:srgbClr val="002776"/>
                </a:solidFill>
              </a:rPr>
              <a:t>M&amp;A strategic objectives and key performance indicators</a:t>
            </a:r>
          </a:p>
          <a:p>
            <a:pPr marL="169863" indent="-169863">
              <a:spcBef>
                <a:spcPts val="400"/>
              </a:spcBef>
              <a:spcAft>
                <a:spcPts val="400"/>
              </a:spcAft>
              <a:buFont typeface="+mj-lt"/>
              <a:buAutoNum type="arabicPeriod"/>
              <a:defRPr/>
            </a:pPr>
            <a:r>
              <a:rPr lang="en-US" sz="1100" dirty="0">
                <a:solidFill>
                  <a:srgbClr val="002776"/>
                </a:solidFill>
              </a:rPr>
              <a:t>M&amp;A team</a:t>
            </a:r>
          </a:p>
          <a:p>
            <a:pPr marL="169863" indent="-169863">
              <a:spcBef>
                <a:spcPts val="400"/>
              </a:spcBef>
              <a:spcAft>
                <a:spcPts val="400"/>
              </a:spcAft>
              <a:buFont typeface="+mj-lt"/>
              <a:buAutoNum type="arabicPeriod"/>
              <a:defRPr/>
            </a:pPr>
            <a:r>
              <a:rPr lang="en-US" sz="1100" dirty="0">
                <a:solidFill>
                  <a:srgbClr val="002776"/>
                </a:solidFill>
              </a:rPr>
              <a:t>M&amp;A guiding principles</a:t>
            </a:r>
          </a:p>
          <a:p>
            <a:pPr marL="169863" indent="-169863">
              <a:spcBef>
                <a:spcPts val="400"/>
              </a:spcBef>
              <a:spcAft>
                <a:spcPts val="400"/>
              </a:spcAft>
              <a:buFont typeface="+mj-lt"/>
              <a:buAutoNum type="arabicPeriod"/>
              <a:defRPr/>
            </a:pPr>
            <a:r>
              <a:rPr lang="en-US" sz="1100" dirty="0">
                <a:solidFill>
                  <a:srgbClr val="002776"/>
                </a:solidFill>
              </a:rPr>
              <a:t>Target screening criteria</a:t>
            </a:r>
          </a:p>
          <a:p>
            <a:pPr marL="169863" indent="-169863">
              <a:spcBef>
                <a:spcPts val="400"/>
              </a:spcBef>
              <a:spcAft>
                <a:spcPts val="400"/>
              </a:spcAft>
              <a:buFont typeface="+mj-lt"/>
              <a:buAutoNum type="arabicPeriod"/>
              <a:defRPr/>
            </a:pPr>
            <a:r>
              <a:rPr lang="en-US" sz="1100" dirty="0">
                <a:solidFill>
                  <a:srgbClr val="002776"/>
                </a:solidFill>
              </a:rPr>
              <a:t>Current M&amp;A pipeline</a:t>
            </a:r>
          </a:p>
          <a:p>
            <a:pPr>
              <a:spcBef>
                <a:spcPts val="400"/>
              </a:spcBef>
              <a:spcAft>
                <a:spcPts val="400"/>
              </a:spcAft>
              <a:defRPr/>
            </a:pPr>
            <a:endParaRPr lang="en-US" sz="1100" dirty="0">
              <a:solidFill>
                <a:srgbClr val="002776"/>
              </a:solidFill>
            </a:endParaRPr>
          </a:p>
        </p:txBody>
      </p:sp>
      <p:sp>
        <p:nvSpPr>
          <p:cNvPr id="26" name="Rectangle 25">
            <a:extLst>
              <a:ext uri="{FF2B5EF4-FFF2-40B4-BE49-F238E27FC236}">
                <a16:creationId xmlns:a16="http://schemas.microsoft.com/office/drawing/2014/main" id="{F8D08909-F9C5-66B9-DBE5-21AF395F294F}"/>
              </a:ext>
            </a:extLst>
          </p:cNvPr>
          <p:cNvSpPr/>
          <p:nvPr/>
        </p:nvSpPr>
        <p:spPr>
          <a:xfrm>
            <a:off x="9669303" y="2729018"/>
            <a:ext cx="2005498" cy="2492990"/>
          </a:xfrm>
          <a:prstGeom prst="rect">
            <a:avLst/>
          </a:prstGeom>
          <a:effectLst/>
        </p:spPr>
        <p:txBody>
          <a:bodyPr wrap="square" lIns="0">
            <a:spAutoFit/>
          </a:bodyPr>
          <a:lstStyle/>
          <a:p>
            <a:pPr marL="169863" indent="-169863">
              <a:spcBef>
                <a:spcPts val="300"/>
              </a:spcBef>
              <a:spcAft>
                <a:spcPts val="300"/>
              </a:spcAft>
              <a:buFont typeface="+mj-lt"/>
              <a:buAutoNum type="arabicPeriod"/>
              <a:defRPr/>
            </a:pPr>
            <a:r>
              <a:rPr lang="en-US" sz="1100" dirty="0">
                <a:solidFill>
                  <a:srgbClr val="002776"/>
                </a:solidFill>
              </a:rPr>
              <a:t>Integration strategy</a:t>
            </a:r>
          </a:p>
          <a:p>
            <a:pPr marL="169863" indent="-169863">
              <a:spcBef>
                <a:spcPts val="300"/>
              </a:spcBef>
              <a:spcAft>
                <a:spcPts val="300"/>
              </a:spcAft>
              <a:buFont typeface="+mj-lt"/>
              <a:buAutoNum type="arabicPeriod"/>
              <a:defRPr/>
            </a:pPr>
            <a:r>
              <a:rPr lang="en-US" sz="1100" dirty="0">
                <a:solidFill>
                  <a:srgbClr val="002776"/>
                </a:solidFill>
              </a:rPr>
              <a:t>Integration &amp; synergy initiatives</a:t>
            </a:r>
          </a:p>
          <a:p>
            <a:pPr marL="169863" indent="-169863">
              <a:spcBef>
                <a:spcPts val="300"/>
              </a:spcBef>
              <a:spcAft>
                <a:spcPts val="300"/>
              </a:spcAft>
              <a:buFont typeface="+mj-lt"/>
              <a:buAutoNum type="arabicPeriod"/>
              <a:defRPr/>
            </a:pPr>
            <a:r>
              <a:rPr lang="en-US" sz="1100" dirty="0">
                <a:solidFill>
                  <a:srgbClr val="002776"/>
                </a:solidFill>
              </a:rPr>
              <a:t>Detailed Plans</a:t>
            </a:r>
          </a:p>
          <a:p>
            <a:pPr marL="169863" indent="-169863">
              <a:spcBef>
                <a:spcPts val="300"/>
              </a:spcBef>
              <a:spcAft>
                <a:spcPts val="300"/>
              </a:spcAft>
              <a:buFont typeface="+mj-lt"/>
              <a:buAutoNum type="arabicPeriod"/>
              <a:defRPr/>
            </a:pPr>
            <a:r>
              <a:rPr lang="en-US" sz="1100" dirty="0">
                <a:solidFill>
                  <a:srgbClr val="002776"/>
                </a:solidFill>
              </a:rPr>
              <a:t>Implementation &amp; Monitoring</a:t>
            </a:r>
          </a:p>
          <a:p>
            <a:pPr marL="169863" indent="-169863">
              <a:spcBef>
                <a:spcPts val="300"/>
              </a:spcBef>
              <a:spcAft>
                <a:spcPts val="300"/>
              </a:spcAft>
              <a:buFont typeface="+mj-lt"/>
              <a:buAutoNum type="arabicPeriod"/>
              <a:defRPr/>
            </a:pPr>
            <a:r>
              <a:rPr lang="en-US" sz="1100" dirty="0">
                <a:solidFill>
                  <a:srgbClr val="002776"/>
                </a:solidFill>
              </a:rPr>
              <a:t>Change Management and Internal Communication</a:t>
            </a:r>
          </a:p>
          <a:p>
            <a:pPr marL="169863" indent="-169863">
              <a:spcBef>
                <a:spcPts val="300"/>
              </a:spcBef>
              <a:spcAft>
                <a:spcPts val="300"/>
              </a:spcAft>
              <a:buFont typeface="+mj-lt"/>
              <a:buAutoNum type="arabicPeriod"/>
              <a:defRPr/>
            </a:pPr>
            <a:r>
              <a:rPr lang="en-US" sz="1100" dirty="0">
                <a:solidFill>
                  <a:srgbClr val="002776"/>
                </a:solidFill>
              </a:rPr>
              <a:t>Stakeholder Engagement</a:t>
            </a:r>
          </a:p>
          <a:p>
            <a:pPr marL="169863" indent="-169863">
              <a:spcBef>
                <a:spcPts val="300"/>
              </a:spcBef>
              <a:spcAft>
                <a:spcPts val="300"/>
              </a:spcAft>
              <a:buFont typeface="+mj-lt"/>
              <a:buAutoNum type="arabicPeriod"/>
              <a:defRPr/>
            </a:pPr>
            <a:endParaRPr lang="en-US" sz="1100" dirty="0">
              <a:solidFill>
                <a:srgbClr val="002776"/>
              </a:solidFill>
            </a:endParaRPr>
          </a:p>
          <a:p>
            <a:pPr marL="169863" indent="-169863">
              <a:spcBef>
                <a:spcPts val="300"/>
              </a:spcBef>
              <a:spcAft>
                <a:spcPts val="300"/>
              </a:spcAft>
              <a:buFont typeface="+mj-lt"/>
              <a:buAutoNum type="arabicPeriod"/>
              <a:defRPr/>
            </a:pPr>
            <a:endParaRPr lang="en-US" sz="1100" dirty="0">
              <a:solidFill>
                <a:srgbClr val="002776"/>
              </a:solidFill>
            </a:endParaRPr>
          </a:p>
        </p:txBody>
      </p:sp>
      <p:sp>
        <p:nvSpPr>
          <p:cNvPr id="27" name="Rectangle 26">
            <a:extLst>
              <a:ext uri="{FF2B5EF4-FFF2-40B4-BE49-F238E27FC236}">
                <a16:creationId xmlns:a16="http://schemas.microsoft.com/office/drawing/2014/main" id="{E76FFC16-84F0-0AD9-5B09-C2EBCFB94C77}"/>
              </a:ext>
            </a:extLst>
          </p:cNvPr>
          <p:cNvSpPr/>
          <p:nvPr/>
        </p:nvSpPr>
        <p:spPr>
          <a:xfrm>
            <a:off x="6019837" y="2729018"/>
            <a:ext cx="1711407" cy="3380413"/>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100" dirty="0">
                <a:solidFill>
                  <a:srgbClr val="002776"/>
                </a:solidFill>
              </a:rPr>
              <a:t>Data room and clean room</a:t>
            </a:r>
          </a:p>
          <a:p>
            <a:pPr marL="169863" indent="-169863">
              <a:spcBef>
                <a:spcPts val="400"/>
              </a:spcBef>
              <a:spcAft>
                <a:spcPts val="400"/>
              </a:spcAft>
              <a:buFont typeface="+mj-lt"/>
              <a:buAutoNum type="arabicPeriod"/>
              <a:defRPr/>
            </a:pPr>
            <a:r>
              <a:rPr lang="en-US" sz="1100" dirty="0">
                <a:solidFill>
                  <a:srgbClr val="002776"/>
                </a:solidFill>
              </a:rPr>
              <a:t>Work plan including key business case hypotheses &amp; assumptions</a:t>
            </a:r>
          </a:p>
          <a:p>
            <a:pPr marL="169863" indent="-169863">
              <a:spcBef>
                <a:spcPts val="400"/>
              </a:spcBef>
              <a:spcAft>
                <a:spcPts val="400"/>
              </a:spcAft>
              <a:buFont typeface="+mj-lt"/>
              <a:buAutoNum type="arabicPeriod"/>
              <a:defRPr/>
            </a:pPr>
            <a:r>
              <a:rPr lang="en-US" sz="1100" dirty="0">
                <a:solidFill>
                  <a:srgbClr val="002776"/>
                </a:solidFill>
              </a:rPr>
              <a:t>Due diligence to validate key hypotheses and assumptions</a:t>
            </a:r>
          </a:p>
          <a:p>
            <a:pPr marL="169863" indent="-169863">
              <a:spcBef>
                <a:spcPts val="400"/>
              </a:spcBef>
              <a:spcAft>
                <a:spcPts val="400"/>
              </a:spcAft>
              <a:buFont typeface="+mj-lt"/>
              <a:buAutoNum type="arabicPeriod"/>
              <a:defRPr/>
            </a:pPr>
            <a:r>
              <a:rPr lang="en-US" sz="1100" dirty="0">
                <a:solidFill>
                  <a:srgbClr val="002776"/>
                </a:solidFill>
              </a:rPr>
              <a:t>Updated valuation, business case, and financial model</a:t>
            </a:r>
          </a:p>
          <a:p>
            <a:pPr marL="169863" indent="-169863">
              <a:spcBef>
                <a:spcPts val="400"/>
              </a:spcBef>
              <a:spcAft>
                <a:spcPts val="400"/>
              </a:spcAft>
              <a:buFont typeface="+mj-lt"/>
              <a:buAutoNum type="arabicPeriod"/>
              <a:defRPr/>
            </a:pPr>
            <a:r>
              <a:rPr lang="en-US" sz="1100" dirty="0">
                <a:solidFill>
                  <a:srgbClr val="002776"/>
                </a:solidFill>
              </a:rPr>
              <a:t>Recommendation to make (or not) a formal offer to acquire the target company</a:t>
            </a:r>
          </a:p>
        </p:txBody>
      </p:sp>
      <p:sp>
        <p:nvSpPr>
          <p:cNvPr id="29" name="Rectangle 28">
            <a:extLst>
              <a:ext uri="{FF2B5EF4-FFF2-40B4-BE49-F238E27FC236}">
                <a16:creationId xmlns:a16="http://schemas.microsoft.com/office/drawing/2014/main" id="{CAA519A6-F8B8-612B-8DEC-2C1A98832D6D}"/>
              </a:ext>
            </a:extLst>
          </p:cNvPr>
          <p:cNvSpPr/>
          <p:nvPr/>
        </p:nvSpPr>
        <p:spPr>
          <a:xfrm>
            <a:off x="7850363" y="2729018"/>
            <a:ext cx="1711407" cy="1415772"/>
          </a:xfrm>
          <a:prstGeom prst="rect">
            <a:avLst/>
          </a:prstGeom>
          <a:effectLst/>
        </p:spPr>
        <p:txBody>
          <a:bodyPr wrap="square" lIns="0">
            <a:spAutoFit/>
          </a:bodyPr>
          <a:lstStyle/>
          <a:p>
            <a:pPr marL="169863" indent="-169863">
              <a:spcBef>
                <a:spcPts val="400"/>
              </a:spcBef>
              <a:spcAft>
                <a:spcPts val="400"/>
              </a:spcAft>
              <a:buFont typeface="+mj-lt"/>
              <a:buAutoNum type="arabicPeriod"/>
              <a:defRPr/>
            </a:pPr>
            <a:r>
              <a:rPr lang="en-US" sz="1100" dirty="0">
                <a:solidFill>
                  <a:srgbClr val="002776"/>
                </a:solidFill>
              </a:rPr>
              <a:t>Deal structure</a:t>
            </a:r>
          </a:p>
          <a:p>
            <a:pPr marL="169863" indent="-169863">
              <a:spcBef>
                <a:spcPts val="400"/>
              </a:spcBef>
              <a:spcAft>
                <a:spcPts val="400"/>
              </a:spcAft>
              <a:buFont typeface="+mj-lt"/>
              <a:buAutoNum type="arabicPeriod"/>
              <a:defRPr/>
            </a:pPr>
            <a:r>
              <a:rPr lang="en-US" sz="1100" dirty="0">
                <a:solidFill>
                  <a:srgbClr val="002776"/>
                </a:solidFill>
              </a:rPr>
              <a:t>Sale and purchase agreement (SPA)</a:t>
            </a:r>
          </a:p>
          <a:p>
            <a:pPr marL="169863" indent="-169863">
              <a:spcBef>
                <a:spcPts val="400"/>
              </a:spcBef>
              <a:spcAft>
                <a:spcPts val="400"/>
              </a:spcAft>
              <a:buFont typeface="+mj-lt"/>
              <a:buAutoNum type="arabicPeriod"/>
              <a:defRPr/>
            </a:pPr>
            <a:r>
              <a:rPr lang="en-US" sz="1100" dirty="0">
                <a:solidFill>
                  <a:srgbClr val="002776"/>
                </a:solidFill>
              </a:rPr>
              <a:t>M&amp;A negotiations</a:t>
            </a:r>
          </a:p>
          <a:p>
            <a:pPr marL="169863" indent="-169863">
              <a:spcBef>
                <a:spcPts val="400"/>
              </a:spcBef>
              <a:spcAft>
                <a:spcPts val="400"/>
              </a:spcAft>
              <a:buFont typeface="+mj-lt"/>
              <a:buAutoNum type="arabicPeriod"/>
              <a:defRPr/>
            </a:pPr>
            <a:r>
              <a:rPr lang="en-US" sz="1100" dirty="0">
                <a:solidFill>
                  <a:srgbClr val="002776"/>
                </a:solidFill>
              </a:rPr>
              <a:t>Signing and closing the M&amp;A deal</a:t>
            </a:r>
          </a:p>
        </p:txBody>
      </p:sp>
      <p:sp>
        <p:nvSpPr>
          <p:cNvPr id="31" name="Rectangle 30">
            <a:extLst>
              <a:ext uri="{FF2B5EF4-FFF2-40B4-BE49-F238E27FC236}">
                <a16:creationId xmlns:a16="http://schemas.microsoft.com/office/drawing/2014/main" id="{1AC81146-0B13-8BA0-615D-4F2970937EC0}"/>
              </a:ext>
            </a:extLst>
          </p:cNvPr>
          <p:cNvSpPr/>
          <p:nvPr/>
        </p:nvSpPr>
        <p:spPr>
          <a:xfrm>
            <a:off x="4233622" y="2729019"/>
            <a:ext cx="1711407" cy="3328125"/>
          </a:xfrm>
          <a:prstGeom prst="rect">
            <a:avLst/>
          </a:prstGeom>
          <a:effectLst/>
        </p:spPr>
        <p:txBody>
          <a:bodyPr wrap="square" lIns="0">
            <a:noAutofit/>
          </a:bodyPr>
          <a:lstStyle/>
          <a:p>
            <a:pPr marL="169863" indent="-169863">
              <a:spcBef>
                <a:spcPts val="300"/>
              </a:spcBef>
              <a:spcAft>
                <a:spcPts val="300"/>
              </a:spcAft>
              <a:buFont typeface="+mj-lt"/>
              <a:buAutoNum type="arabicPeriod"/>
              <a:defRPr/>
            </a:pPr>
            <a:r>
              <a:rPr lang="en-US" sz="1100" dirty="0">
                <a:solidFill>
                  <a:srgbClr val="002776"/>
                </a:solidFill>
              </a:rPr>
              <a:t>Strategic benefit </a:t>
            </a:r>
          </a:p>
          <a:p>
            <a:pPr marL="169863" indent="-169863">
              <a:spcBef>
                <a:spcPts val="300"/>
              </a:spcBef>
              <a:spcAft>
                <a:spcPts val="300"/>
              </a:spcAft>
              <a:buFont typeface="+mj-lt"/>
              <a:buAutoNum type="arabicPeriod"/>
              <a:defRPr/>
            </a:pPr>
            <a:r>
              <a:rPr lang="en-US" sz="1100" dirty="0">
                <a:solidFill>
                  <a:srgbClr val="002776"/>
                </a:solidFill>
              </a:rPr>
              <a:t>Feasibility</a:t>
            </a:r>
          </a:p>
          <a:p>
            <a:pPr marL="169863" indent="-169863">
              <a:spcBef>
                <a:spcPts val="300"/>
              </a:spcBef>
              <a:spcAft>
                <a:spcPts val="300"/>
              </a:spcAft>
              <a:buFont typeface="+mj-lt"/>
              <a:buAutoNum type="arabicPeriod"/>
              <a:defRPr/>
            </a:pPr>
            <a:r>
              <a:rPr lang="en-US" sz="1100" dirty="0">
                <a:solidFill>
                  <a:srgbClr val="002776"/>
                </a:solidFill>
              </a:rPr>
              <a:t>Financial benefit</a:t>
            </a:r>
          </a:p>
          <a:p>
            <a:pPr marL="169863" indent="-169863">
              <a:spcBef>
                <a:spcPts val="300"/>
              </a:spcBef>
              <a:spcAft>
                <a:spcPts val="300"/>
              </a:spcAft>
              <a:buFont typeface="+mj-lt"/>
              <a:buAutoNum type="arabicPeriod"/>
              <a:defRPr/>
            </a:pPr>
            <a:r>
              <a:rPr lang="en-US" sz="1100" dirty="0">
                <a:solidFill>
                  <a:srgbClr val="002776"/>
                </a:solidFill>
              </a:rPr>
              <a:t>Comprehensive M&amp;A financial model including acquirer model, target model, merger assumptions &amp; analysis, and pro forma model</a:t>
            </a:r>
          </a:p>
          <a:p>
            <a:pPr marL="169863" indent="-169863">
              <a:spcBef>
                <a:spcPts val="300"/>
              </a:spcBef>
              <a:spcAft>
                <a:spcPts val="300"/>
              </a:spcAft>
              <a:buFont typeface="+mj-lt"/>
              <a:buAutoNum type="arabicPeriod"/>
              <a:defRPr/>
            </a:pPr>
            <a:r>
              <a:rPr lang="en-US" sz="1100" dirty="0">
                <a:solidFill>
                  <a:srgbClr val="002776"/>
                </a:solidFill>
              </a:rPr>
              <a:t>Simple Financial model including integration cost, revenue synergy, cost synergy, NPV, ROI, and IRR</a:t>
            </a:r>
          </a:p>
          <a:p>
            <a:pPr marL="169863" indent="-169863">
              <a:spcBef>
                <a:spcPts val="300"/>
              </a:spcBef>
              <a:spcAft>
                <a:spcPts val="300"/>
              </a:spcAft>
              <a:buFont typeface="+mj-lt"/>
              <a:buAutoNum type="arabicPeriod"/>
              <a:defRPr/>
            </a:pPr>
            <a:r>
              <a:rPr lang="en-US" sz="1100" dirty="0">
                <a:solidFill>
                  <a:srgbClr val="002776"/>
                </a:solidFill>
              </a:rPr>
              <a:t>Letter of intent or term sheet</a:t>
            </a:r>
          </a:p>
        </p:txBody>
      </p:sp>
      <p:sp>
        <p:nvSpPr>
          <p:cNvPr id="32" name="Arrow: Pentagon 31">
            <a:extLst>
              <a:ext uri="{FF2B5EF4-FFF2-40B4-BE49-F238E27FC236}">
                <a16:creationId xmlns:a16="http://schemas.microsoft.com/office/drawing/2014/main" id="{0B568A61-60CB-105A-C975-F0A6785BA5E7}"/>
              </a:ext>
            </a:extLst>
          </p:cNvPr>
          <p:cNvSpPr/>
          <p:nvPr/>
        </p:nvSpPr>
        <p:spPr>
          <a:xfrm>
            <a:off x="609813" y="2046324"/>
            <a:ext cx="1918450" cy="648000"/>
          </a:xfrm>
          <a:prstGeom prst="homePlate">
            <a:avLst>
              <a:gd name="adj" fmla="val 31705"/>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33" name="Graphic 32" descr="Clipboard Partially Checked outline">
            <a:extLst>
              <a:ext uri="{FF2B5EF4-FFF2-40B4-BE49-F238E27FC236}">
                <a16:creationId xmlns:a16="http://schemas.microsoft.com/office/drawing/2014/main" id="{DF0C8681-5664-343F-E57E-55EBFDD011F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60698" y="1536203"/>
            <a:ext cx="473281" cy="473281"/>
          </a:xfrm>
          <a:prstGeom prst="rect">
            <a:avLst/>
          </a:prstGeom>
        </p:spPr>
      </p:pic>
      <p:pic>
        <p:nvPicPr>
          <p:cNvPr id="34" name="Graphic 33" descr="Research outline">
            <a:extLst>
              <a:ext uri="{FF2B5EF4-FFF2-40B4-BE49-F238E27FC236}">
                <a16:creationId xmlns:a16="http://schemas.microsoft.com/office/drawing/2014/main" id="{6A9E2613-5D3A-EF9E-6E81-7A3C9A9E821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33423" y="1568184"/>
            <a:ext cx="432064" cy="432064"/>
          </a:xfrm>
          <a:prstGeom prst="rect">
            <a:avLst/>
          </a:prstGeom>
        </p:spPr>
      </p:pic>
      <p:pic>
        <p:nvPicPr>
          <p:cNvPr id="35" name="Graphic 34" descr="Lightbulb and pencil outline">
            <a:extLst>
              <a:ext uri="{FF2B5EF4-FFF2-40B4-BE49-F238E27FC236}">
                <a16:creationId xmlns:a16="http://schemas.microsoft.com/office/drawing/2014/main" id="{8009742A-D2C3-8E9D-C38C-62AE6707463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61536" y="1576714"/>
            <a:ext cx="415003" cy="415003"/>
          </a:xfrm>
          <a:prstGeom prst="rect">
            <a:avLst/>
          </a:prstGeom>
        </p:spPr>
      </p:pic>
      <p:pic>
        <p:nvPicPr>
          <p:cNvPr id="36" name="Graphic 35" descr="Handshake outline">
            <a:extLst>
              <a:ext uri="{FF2B5EF4-FFF2-40B4-BE49-F238E27FC236}">
                <a16:creationId xmlns:a16="http://schemas.microsoft.com/office/drawing/2014/main" id="{6A87401D-A304-27FE-BD74-EEB89412129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54574" y="1514937"/>
            <a:ext cx="579698" cy="579698"/>
          </a:xfrm>
          <a:prstGeom prst="rect">
            <a:avLst/>
          </a:prstGeom>
        </p:spPr>
      </p:pic>
      <p:pic>
        <p:nvPicPr>
          <p:cNvPr id="37" name="Graphic 36" descr="Bar chart outline">
            <a:extLst>
              <a:ext uri="{FF2B5EF4-FFF2-40B4-BE49-F238E27FC236}">
                <a16:creationId xmlns:a16="http://schemas.microsoft.com/office/drawing/2014/main" id="{0C1B899D-2DFE-AE2B-A925-494CA67290A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981520" y="1578049"/>
            <a:ext cx="473281" cy="473281"/>
          </a:xfrm>
          <a:prstGeom prst="rect">
            <a:avLst/>
          </a:prstGeom>
        </p:spPr>
      </p:pic>
      <p:pic>
        <p:nvPicPr>
          <p:cNvPr id="39" name="Graphic 38" descr="Puzzle pieces outline">
            <a:extLst>
              <a:ext uri="{FF2B5EF4-FFF2-40B4-BE49-F238E27FC236}">
                <a16:creationId xmlns:a16="http://schemas.microsoft.com/office/drawing/2014/main" id="{9E0B16A8-256E-E36A-0A8F-5B985565836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398985" y="1524900"/>
            <a:ext cx="492474" cy="492474"/>
          </a:xfrm>
          <a:prstGeom prst="rect">
            <a:avLst/>
          </a:prstGeom>
        </p:spPr>
      </p:pic>
      <p:sp>
        <p:nvSpPr>
          <p:cNvPr id="40" name="Oval 39">
            <a:extLst>
              <a:ext uri="{FF2B5EF4-FFF2-40B4-BE49-F238E27FC236}">
                <a16:creationId xmlns:a16="http://schemas.microsoft.com/office/drawing/2014/main" id="{C71F5E4B-A265-CD5B-9011-6417C628431E}"/>
              </a:ext>
            </a:extLst>
          </p:cNvPr>
          <p:cNvSpPr/>
          <p:nvPr/>
        </p:nvSpPr>
        <p:spPr>
          <a:xfrm>
            <a:off x="518943"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1" name="Oval 40">
            <a:extLst>
              <a:ext uri="{FF2B5EF4-FFF2-40B4-BE49-F238E27FC236}">
                <a16:creationId xmlns:a16="http://schemas.microsoft.com/office/drawing/2014/main" id="{6A2738C6-A615-733B-B594-EE20B9CD6746}"/>
              </a:ext>
            </a:extLst>
          </p:cNvPr>
          <p:cNvSpPr/>
          <p:nvPr/>
        </p:nvSpPr>
        <p:spPr>
          <a:xfrm>
            <a:off x="2349845"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42" name="Oval 41">
            <a:extLst>
              <a:ext uri="{FF2B5EF4-FFF2-40B4-BE49-F238E27FC236}">
                <a16:creationId xmlns:a16="http://schemas.microsoft.com/office/drawing/2014/main" id="{72BBCDC9-C214-08F4-C81B-E13DCBE9F6FE}"/>
              </a:ext>
            </a:extLst>
          </p:cNvPr>
          <p:cNvSpPr/>
          <p:nvPr/>
        </p:nvSpPr>
        <p:spPr>
          <a:xfrm>
            <a:off x="4166415"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43" name="Oval 42">
            <a:extLst>
              <a:ext uri="{FF2B5EF4-FFF2-40B4-BE49-F238E27FC236}">
                <a16:creationId xmlns:a16="http://schemas.microsoft.com/office/drawing/2014/main" id="{AA421F85-19F6-9C35-A2B1-57E421C18C7B}"/>
              </a:ext>
            </a:extLst>
          </p:cNvPr>
          <p:cNvSpPr/>
          <p:nvPr/>
        </p:nvSpPr>
        <p:spPr>
          <a:xfrm>
            <a:off x="5998298"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44" name="Oval 43">
            <a:extLst>
              <a:ext uri="{FF2B5EF4-FFF2-40B4-BE49-F238E27FC236}">
                <a16:creationId xmlns:a16="http://schemas.microsoft.com/office/drawing/2014/main" id="{1DDDCA4A-2B6F-BA1F-8278-26F3AADC1750}"/>
              </a:ext>
            </a:extLst>
          </p:cNvPr>
          <p:cNvSpPr/>
          <p:nvPr/>
        </p:nvSpPr>
        <p:spPr>
          <a:xfrm>
            <a:off x="7829200"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45" name="Oval 44">
            <a:extLst>
              <a:ext uri="{FF2B5EF4-FFF2-40B4-BE49-F238E27FC236}">
                <a16:creationId xmlns:a16="http://schemas.microsoft.com/office/drawing/2014/main" id="{772776BA-6100-A528-72EA-3B777185EB2E}"/>
              </a:ext>
            </a:extLst>
          </p:cNvPr>
          <p:cNvSpPr/>
          <p:nvPr/>
        </p:nvSpPr>
        <p:spPr>
          <a:xfrm>
            <a:off x="9645770"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46" name="Rectangle 45">
            <a:extLst>
              <a:ext uri="{FF2B5EF4-FFF2-40B4-BE49-F238E27FC236}">
                <a16:creationId xmlns:a16="http://schemas.microsoft.com/office/drawing/2014/main" id="{31AA689B-8955-ED5A-4B2D-E38A169F1CCC}"/>
              </a:ext>
            </a:extLst>
          </p:cNvPr>
          <p:cNvSpPr/>
          <p:nvPr/>
        </p:nvSpPr>
        <p:spPr>
          <a:xfrm>
            <a:off x="2396645" y="2729018"/>
            <a:ext cx="1711407" cy="3344964"/>
          </a:xfrm>
          <a:prstGeom prst="rect">
            <a:avLst/>
          </a:prstGeom>
          <a:effectLst/>
        </p:spPr>
        <p:txBody>
          <a:bodyPr wrap="square" lIns="0">
            <a:noAutofit/>
          </a:bodyPr>
          <a:lstStyle/>
          <a:p>
            <a:pPr marL="169863" indent="-169863">
              <a:spcBef>
                <a:spcPts val="200"/>
              </a:spcBef>
              <a:spcAft>
                <a:spcPts val="200"/>
              </a:spcAft>
              <a:buFont typeface="+mj-lt"/>
              <a:buAutoNum type="arabicPeriod"/>
              <a:defRPr/>
            </a:pPr>
            <a:r>
              <a:rPr lang="en-US" sz="1100" dirty="0">
                <a:solidFill>
                  <a:srgbClr val="002776"/>
                </a:solidFill>
              </a:rPr>
              <a:t>Potential target companies and data collection</a:t>
            </a:r>
          </a:p>
          <a:p>
            <a:pPr marL="169863" indent="-169863">
              <a:spcBef>
                <a:spcPts val="200"/>
              </a:spcBef>
              <a:spcAft>
                <a:spcPts val="200"/>
              </a:spcAft>
              <a:buFont typeface="+mj-lt"/>
              <a:buAutoNum type="arabicPeriod"/>
              <a:defRPr/>
            </a:pPr>
            <a:r>
              <a:rPr lang="en-US" sz="1100" dirty="0">
                <a:solidFill>
                  <a:srgbClr val="002776"/>
                </a:solidFill>
              </a:rPr>
              <a:t>High-level assessment of potential target companies</a:t>
            </a:r>
          </a:p>
          <a:p>
            <a:pPr marL="169863" indent="-169863">
              <a:spcBef>
                <a:spcPts val="200"/>
              </a:spcBef>
              <a:spcAft>
                <a:spcPts val="200"/>
              </a:spcAft>
              <a:buFont typeface="+mj-lt"/>
              <a:buAutoNum type="arabicPeriod"/>
              <a:defRPr/>
            </a:pPr>
            <a:r>
              <a:rPr lang="en-US" sz="1100" dirty="0">
                <a:solidFill>
                  <a:srgbClr val="002776"/>
                </a:solidFill>
              </a:rPr>
              <a:t>Shortlisted potential targets</a:t>
            </a:r>
          </a:p>
          <a:p>
            <a:pPr marL="169863" indent="-169863">
              <a:spcBef>
                <a:spcPts val="200"/>
              </a:spcBef>
              <a:spcAft>
                <a:spcPts val="200"/>
              </a:spcAft>
              <a:buFont typeface="+mj-lt"/>
              <a:buAutoNum type="arabicPeriod"/>
              <a:defRPr/>
            </a:pPr>
            <a:r>
              <a:rPr lang="en-US" sz="1100" dirty="0">
                <a:solidFill>
                  <a:srgbClr val="002776"/>
                </a:solidFill>
              </a:rPr>
              <a:t>Financial statements analysis</a:t>
            </a:r>
          </a:p>
          <a:p>
            <a:pPr marL="169863" indent="-169863">
              <a:spcBef>
                <a:spcPts val="200"/>
              </a:spcBef>
              <a:spcAft>
                <a:spcPts val="200"/>
              </a:spcAft>
              <a:buFont typeface="+mj-lt"/>
              <a:buAutoNum type="arabicPeriod"/>
              <a:defRPr/>
            </a:pPr>
            <a:r>
              <a:rPr lang="en-US" sz="1100" dirty="0">
                <a:solidFill>
                  <a:srgbClr val="002776"/>
                </a:solidFill>
              </a:rPr>
              <a:t>Valuation: DCF model, comparable company analysis, and precedent transaction analysis</a:t>
            </a:r>
          </a:p>
          <a:p>
            <a:pPr marL="169863" indent="-169863">
              <a:spcBef>
                <a:spcPts val="200"/>
              </a:spcBef>
              <a:spcAft>
                <a:spcPts val="200"/>
              </a:spcAft>
              <a:buFont typeface="+mj-lt"/>
              <a:buAutoNum type="arabicPeriod"/>
              <a:defRPr/>
            </a:pPr>
            <a:r>
              <a:rPr lang="en-US" sz="1100" dirty="0">
                <a:solidFill>
                  <a:srgbClr val="002776"/>
                </a:solidFill>
              </a:rPr>
              <a:t>Targets approved for the business case phase</a:t>
            </a:r>
          </a:p>
        </p:txBody>
      </p:sp>
      <p:sp>
        <p:nvSpPr>
          <p:cNvPr id="13" name="Arrow: Pentagon 12">
            <a:extLst>
              <a:ext uri="{FF2B5EF4-FFF2-40B4-BE49-F238E27FC236}">
                <a16:creationId xmlns:a16="http://schemas.microsoft.com/office/drawing/2014/main" id="{B0B67E99-DDD5-B3B0-8358-C2D579D3C6D1}"/>
              </a:ext>
            </a:extLst>
          </p:cNvPr>
          <p:cNvSpPr/>
          <p:nvPr/>
        </p:nvSpPr>
        <p:spPr>
          <a:xfrm>
            <a:off x="609811" y="6162834"/>
            <a:ext cx="11052000" cy="381028"/>
          </a:xfrm>
          <a:prstGeom prst="homePlate">
            <a:avLst>
              <a:gd name="adj" fmla="val 31705"/>
            </a:avLst>
          </a:prstGeom>
          <a:solidFill>
            <a:schemeClr val="tx1"/>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16" name="Oval 15">
            <a:extLst>
              <a:ext uri="{FF2B5EF4-FFF2-40B4-BE49-F238E27FC236}">
                <a16:creationId xmlns:a16="http://schemas.microsoft.com/office/drawing/2014/main" id="{388553C4-D6EA-A8A7-B651-E82BA0DB0480}"/>
              </a:ext>
            </a:extLst>
          </p:cNvPr>
          <p:cNvSpPr/>
          <p:nvPr/>
        </p:nvSpPr>
        <p:spPr>
          <a:xfrm>
            <a:off x="518943" y="5976302"/>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21" name="Rectangle: Rounded Corners 20">
            <a:extLst>
              <a:ext uri="{FF2B5EF4-FFF2-40B4-BE49-F238E27FC236}">
                <a16:creationId xmlns:a16="http://schemas.microsoft.com/office/drawing/2014/main" id="{09C86D38-0597-742B-C33D-8F244E1CF2C7}"/>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1.Exit readiness</a:t>
            </a:r>
          </a:p>
        </p:txBody>
      </p:sp>
      <p:sp>
        <p:nvSpPr>
          <p:cNvPr id="22" name="Rectangle: Rounded Corners 21">
            <a:extLst>
              <a:ext uri="{FF2B5EF4-FFF2-40B4-BE49-F238E27FC236}">
                <a16:creationId xmlns:a16="http://schemas.microsoft.com/office/drawing/2014/main" id="{012BA78B-FA3C-012F-F9A9-78B59FE7FA64}"/>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2.Transaction perimeter </a:t>
            </a:r>
          </a:p>
        </p:txBody>
      </p:sp>
      <p:sp>
        <p:nvSpPr>
          <p:cNvPr id="24" name="Rectangle: Rounded Corners 23">
            <a:extLst>
              <a:ext uri="{FF2B5EF4-FFF2-40B4-BE49-F238E27FC236}">
                <a16:creationId xmlns:a16="http://schemas.microsoft.com/office/drawing/2014/main" id="{F037AC9E-1ED9-DEF0-F514-3E9F432FEF26}"/>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3.Separation concepts</a:t>
            </a:r>
          </a:p>
        </p:txBody>
      </p:sp>
      <p:sp>
        <p:nvSpPr>
          <p:cNvPr id="28" name="Rectangle: Rounded Corners 27">
            <a:extLst>
              <a:ext uri="{FF2B5EF4-FFF2-40B4-BE49-F238E27FC236}">
                <a16:creationId xmlns:a16="http://schemas.microsoft.com/office/drawing/2014/main" id="{BBC89092-1176-2B8C-0694-1252D6EC5BB8}"/>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4.Management presentation</a:t>
            </a:r>
          </a:p>
        </p:txBody>
      </p:sp>
      <p:sp>
        <p:nvSpPr>
          <p:cNvPr id="30" name="Rectangle: Rounded Corners 29">
            <a:extLst>
              <a:ext uri="{FF2B5EF4-FFF2-40B4-BE49-F238E27FC236}">
                <a16:creationId xmlns:a16="http://schemas.microsoft.com/office/drawing/2014/main" id="{C1F9CCFD-18AB-188E-7DD7-ABE2BE75DBE7}"/>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5.Legal entity</a:t>
            </a:r>
          </a:p>
        </p:txBody>
      </p:sp>
      <p:sp>
        <p:nvSpPr>
          <p:cNvPr id="38" name="Rectangle: Rounded Corners 37">
            <a:extLst>
              <a:ext uri="{FF2B5EF4-FFF2-40B4-BE49-F238E27FC236}">
                <a16:creationId xmlns:a16="http://schemas.microsoft.com/office/drawing/2014/main" id="{242492B8-FCBB-3640-C0E5-BBE2D6EA634B}"/>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6.Separation execution</a:t>
            </a:r>
          </a:p>
        </p:txBody>
      </p:sp>
      <p:sp>
        <p:nvSpPr>
          <p:cNvPr id="15" name="Footer Placeholder 14">
            <a:extLst>
              <a:ext uri="{FF2B5EF4-FFF2-40B4-BE49-F238E27FC236}">
                <a16:creationId xmlns:a16="http://schemas.microsoft.com/office/drawing/2014/main" id="{AB842759-F2F2-3267-EBB6-DAE71B327138}"/>
              </a:ext>
            </a:extLst>
          </p:cNvPr>
          <p:cNvSpPr>
            <a:spLocks noGrp="1"/>
          </p:cNvSpPr>
          <p:nvPr>
            <p:ph type="ftr" sz="quarter" idx="3"/>
          </p:nvPr>
        </p:nvSpPr>
        <p:spPr/>
        <p:txBody>
          <a:bodyPr/>
          <a:lstStyle/>
          <a:p>
            <a:r>
              <a:rPr lang="en-US"/>
              <a:t>Domont Consulting</a:t>
            </a:r>
            <a:endParaRPr lang="en-US" dirty="0"/>
          </a:p>
        </p:txBody>
      </p:sp>
      <p:sp>
        <p:nvSpPr>
          <p:cNvPr id="47" name="Slide Number Placeholder 46">
            <a:extLst>
              <a:ext uri="{FF2B5EF4-FFF2-40B4-BE49-F238E27FC236}">
                <a16:creationId xmlns:a16="http://schemas.microsoft.com/office/drawing/2014/main" id="{E389EA17-D7F7-3A16-93C9-8BE208AB171C}"/>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937810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1765505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307926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72" name="Picture 71">
            <a:extLst>
              <a:ext uri="{FF2B5EF4-FFF2-40B4-BE49-F238E27FC236}">
                <a16:creationId xmlns:a16="http://schemas.microsoft.com/office/drawing/2014/main" id="{6F7D33C8-7691-B2E0-D5EF-F53AC07C8005}"/>
              </a:ext>
            </a:extLst>
          </p:cNvPr>
          <p:cNvPicPr>
            <a:picLocks noChangeAspect="1"/>
          </p:cNvPicPr>
          <p:nvPr/>
        </p:nvPicPr>
        <p:blipFill>
          <a:blip r:embed="rId5"/>
          <a:stretch>
            <a:fillRect/>
          </a:stretch>
        </p:blipFill>
        <p:spPr>
          <a:xfrm>
            <a:off x="8057394" y="3564506"/>
            <a:ext cx="3238400" cy="1821600"/>
          </a:xfrm>
          <a:prstGeom prst="rect">
            <a:avLst/>
          </a:prstGeom>
          <a:effectLst>
            <a:outerShdw blurRad="50800" dist="38100" dir="5400000" algn="t" rotWithShape="0">
              <a:prstClr val="black">
                <a:alpha val="40000"/>
              </a:prstClr>
            </a:outerShdw>
          </a:effectLst>
        </p:spPr>
      </p:pic>
      <p:pic>
        <p:nvPicPr>
          <p:cNvPr id="68" name="Picture 67">
            <a:extLst>
              <a:ext uri="{FF2B5EF4-FFF2-40B4-BE49-F238E27FC236}">
                <a16:creationId xmlns:a16="http://schemas.microsoft.com/office/drawing/2014/main" id="{81241835-4670-A14C-F193-2314E7C2A222}"/>
              </a:ext>
            </a:extLst>
          </p:cNvPr>
          <p:cNvPicPr>
            <a:picLocks noChangeAspect="1"/>
          </p:cNvPicPr>
          <p:nvPr/>
        </p:nvPicPr>
        <p:blipFill>
          <a:blip r:embed="rId6"/>
          <a:stretch>
            <a:fillRect/>
          </a:stretch>
        </p:blipFill>
        <p:spPr>
          <a:xfrm>
            <a:off x="4479704" y="3564506"/>
            <a:ext cx="3238400" cy="1821600"/>
          </a:xfrm>
          <a:prstGeom prst="rect">
            <a:avLst/>
          </a:prstGeom>
          <a:effectLst>
            <a:outerShdw blurRad="50800" dist="38100" dir="5400000" algn="t" rotWithShape="0">
              <a:prstClr val="black">
                <a:alpha val="40000"/>
              </a:prstClr>
            </a:outerShdw>
          </a:effectLst>
        </p:spPr>
      </p:pic>
      <p:pic>
        <p:nvPicPr>
          <p:cNvPr id="70" name="Picture 69">
            <a:extLst>
              <a:ext uri="{FF2B5EF4-FFF2-40B4-BE49-F238E27FC236}">
                <a16:creationId xmlns:a16="http://schemas.microsoft.com/office/drawing/2014/main" id="{5298C205-F98A-C6D4-67A3-E36595A9EC4E}"/>
              </a:ext>
            </a:extLst>
          </p:cNvPr>
          <p:cNvPicPr>
            <a:picLocks noChangeAspect="1"/>
          </p:cNvPicPr>
          <p:nvPr/>
        </p:nvPicPr>
        <p:blipFill>
          <a:blip r:embed="rId7"/>
          <a:stretch>
            <a:fillRect/>
          </a:stretch>
        </p:blipFill>
        <p:spPr>
          <a:xfrm>
            <a:off x="893956" y="3567365"/>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1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rtl="0" fontAlgn="base">
              <a:spcBef>
                <a:spcPts val="600"/>
              </a:spcBef>
              <a:spcAft>
                <a:spcPts val="600"/>
              </a:spcAft>
              <a:buClr>
                <a:srgbClr val="000000"/>
              </a:buClr>
            </a:pPr>
            <a:r>
              <a:rPr lang="en-US" sz="1200" b="1" kern="1200" dirty="0">
                <a:solidFill>
                  <a:schemeClr val="bg1"/>
                </a:solidFill>
                <a:ea typeface="+mn-ea"/>
                <a:cs typeface="Times New Roman" pitchFamily="18" charset="0"/>
              </a:rPr>
              <a:t>Identify Target </a:t>
            </a:r>
            <a:r>
              <a:rPr lang="en-US" sz="1200" b="1" dirty="0">
                <a:solidFill>
                  <a:schemeClr val="bg1"/>
                </a:solidFill>
                <a:cs typeface="Times New Roman" pitchFamily="18" charset="0"/>
              </a:rPr>
              <a:t>C</a:t>
            </a:r>
            <a:r>
              <a:rPr lang="en-US" sz="1200" b="1" kern="1200" dirty="0">
                <a:solidFill>
                  <a:schemeClr val="bg1"/>
                </a:solidFill>
                <a:ea typeface="+mn-ea"/>
                <a:cs typeface="Times New Roman" pitchFamily="18" charset="0"/>
              </a:rPr>
              <a:t>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bg1">
              <a:lumMod val="75000"/>
            </a:schemeClr>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endParaRPr lang="en-US" sz="1200" b="1" kern="1200" dirty="0">
              <a:solidFill>
                <a:schemeClr val="bg1"/>
              </a:solidFill>
              <a:cs typeface="Times New Roman" pitchFamily="18" charset="0"/>
            </a:endParaRP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bg1">
              <a:lumMod val="75000"/>
            </a:schemeClr>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6.Separation execution</a:t>
            </a:r>
          </a:p>
        </p:txBody>
      </p:sp>
      <p:sp>
        <p:nvSpPr>
          <p:cNvPr id="64" name="Arrow: Down 63">
            <a:extLst>
              <a:ext uri="{FF2B5EF4-FFF2-40B4-BE49-F238E27FC236}">
                <a16:creationId xmlns:a16="http://schemas.microsoft.com/office/drawing/2014/main" id="{1D624C76-C652-0C18-7D07-75B7BC9D646C}"/>
              </a:ext>
            </a:extLst>
          </p:cNvPr>
          <p:cNvSpPr/>
          <p:nvPr/>
        </p:nvSpPr>
        <p:spPr>
          <a:xfrm>
            <a:off x="1279812" y="2756507"/>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3" name="Footer Placeholder 72">
            <a:extLst>
              <a:ext uri="{FF2B5EF4-FFF2-40B4-BE49-F238E27FC236}">
                <a16:creationId xmlns:a16="http://schemas.microsoft.com/office/drawing/2014/main" id="{AE7E9E8A-9289-8581-E1F1-6EAC955CF0A0}"/>
              </a:ext>
            </a:extLst>
          </p:cNvPr>
          <p:cNvSpPr>
            <a:spLocks noGrp="1"/>
          </p:cNvSpPr>
          <p:nvPr>
            <p:ph type="ftr" sz="quarter" idx="3"/>
          </p:nvPr>
        </p:nvSpPr>
        <p:spPr/>
        <p:txBody>
          <a:bodyPr/>
          <a:lstStyle/>
          <a:p>
            <a:r>
              <a:rPr lang="en-US"/>
              <a:t>Domont Consulting</a:t>
            </a:r>
            <a:endParaRPr lang="en-US" dirty="0"/>
          </a:p>
        </p:txBody>
      </p:sp>
      <p:sp>
        <p:nvSpPr>
          <p:cNvPr id="74" name="Slide Number Placeholder 73">
            <a:extLst>
              <a:ext uri="{FF2B5EF4-FFF2-40B4-BE49-F238E27FC236}">
                <a16:creationId xmlns:a16="http://schemas.microsoft.com/office/drawing/2014/main" id="{390B88F0-ADCA-0592-C6E8-4596C04CBBF6}"/>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866409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691539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307926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1" name="Picture 20">
            <a:extLst>
              <a:ext uri="{FF2B5EF4-FFF2-40B4-BE49-F238E27FC236}">
                <a16:creationId xmlns:a16="http://schemas.microsoft.com/office/drawing/2014/main" id="{3B340BCD-B423-A789-B57E-1D78853CD1C5}"/>
              </a:ext>
            </a:extLst>
          </p:cNvPr>
          <p:cNvPicPr>
            <a:picLocks noChangeAspect="1"/>
          </p:cNvPicPr>
          <p:nvPr/>
        </p:nvPicPr>
        <p:blipFill>
          <a:blip r:embed="rId5"/>
          <a:stretch>
            <a:fillRect/>
          </a:stretch>
        </p:blipFill>
        <p:spPr>
          <a:xfrm>
            <a:off x="4471646" y="3562744"/>
            <a:ext cx="3238400" cy="1821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3A5E94A6-FE11-68EF-64EA-51EC247B0B75}"/>
              </a:ext>
            </a:extLst>
          </p:cNvPr>
          <p:cNvPicPr>
            <a:picLocks noChangeAspect="1"/>
          </p:cNvPicPr>
          <p:nvPr/>
        </p:nvPicPr>
        <p:blipFill>
          <a:blip r:embed="rId6"/>
          <a:stretch>
            <a:fillRect/>
          </a:stretch>
        </p:blipFill>
        <p:spPr>
          <a:xfrm>
            <a:off x="893956" y="3562744"/>
            <a:ext cx="3238400" cy="18216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738E9DEF-8A38-5A0A-2374-459BBA1C5EAE}"/>
              </a:ext>
            </a:extLst>
          </p:cNvPr>
          <p:cNvPicPr>
            <a:picLocks noChangeAspect="1"/>
          </p:cNvPicPr>
          <p:nvPr/>
        </p:nvPicPr>
        <p:blipFill rotWithShape="1">
          <a:blip r:embed="rId7"/>
          <a:srcRect r="16726"/>
          <a:stretch/>
        </p:blipFill>
        <p:spPr>
          <a:xfrm>
            <a:off x="8057394" y="3562744"/>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2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rtl="0" fontAlgn="base">
              <a:spcBef>
                <a:spcPts val="600"/>
              </a:spcBef>
              <a:spcAft>
                <a:spcPts val="600"/>
              </a:spcAft>
              <a:buClr>
                <a:srgbClr val="000000"/>
              </a:buClr>
            </a:pPr>
            <a:r>
              <a:rPr lang="en-US" sz="1200" b="1" kern="1200" dirty="0">
                <a:solidFill>
                  <a:schemeClr val="bg1"/>
                </a:solidFill>
                <a:ea typeface="+mn-ea"/>
                <a:cs typeface="Times New Roman" pitchFamily="18" charset="0"/>
              </a:rPr>
              <a:t>Identify Target </a:t>
            </a:r>
            <a:r>
              <a:rPr lang="en-US" sz="1200" b="1" dirty="0">
                <a:solidFill>
                  <a:schemeClr val="bg1"/>
                </a:solidFill>
                <a:cs typeface="Times New Roman" pitchFamily="18" charset="0"/>
              </a:rPr>
              <a:t>C</a:t>
            </a:r>
            <a:r>
              <a:rPr lang="en-US" sz="1200" b="1" kern="1200" dirty="0">
                <a:solidFill>
                  <a:schemeClr val="bg1"/>
                </a:solidFill>
                <a:ea typeface="+mn-ea"/>
                <a:cs typeface="Times New Roman" pitchFamily="18" charset="0"/>
              </a:rPr>
              <a:t>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bg1">
              <a:lumMod val="75000"/>
            </a:schemeClr>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endParaRPr lang="en-US" sz="1200" b="1" kern="1200" dirty="0">
              <a:solidFill>
                <a:schemeClr val="bg1"/>
              </a:solidFill>
              <a:cs typeface="Times New Roman" pitchFamily="18" charset="0"/>
            </a:endParaRP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bg1">
              <a:lumMod val="75000"/>
            </a:schemeClr>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6.Separation execution</a:t>
            </a:r>
          </a:p>
        </p:txBody>
      </p:sp>
      <p:sp>
        <p:nvSpPr>
          <p:cNvPr id="5" name="Arrow: Down 4">
            <a:extLst>
              <a:ext uri="{FF2B5EF4-FFF2-40B4-BE49-F238E27FC236}">
                <a16:creationId xmlns:a16="http://schemas.microsoft.com/office/drawing/2014/main" id="{D071070B-2741-A326-795C-F1C2DA6D529F}"/>
              </a:ext>
            </a:extLst>
          </p:cNvPr>
          <p:cNvSpPr/>
          <p:nvPr/>
        </p:nvSpPr>
        <p:spPr>
          <a:xfrm>
            <a:off x="3140185" y="2756507"/>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Footer Placeholder 21">
            <a:extLst>
              <a:ext uri="{FF2B5EF4-FFF2-40B4-BE49-F238E27FC236}">
                <a16:creationId xmlns:a16="http://schemas.microsoft.com/office/drawing/2014/main" id="{14F55747-BE26-E5D9-22FC-7F9CB3BF38E9}"/>
              </a:ext>
            </a:extLst>
          </p:cNvPr>
          <p:cNvSpPr>
            <a:spLocks noGrp="1"/>
          </p:cNvSpPr>
          <p:nvPr>
            <p:ph type="ftr" sz="quarter" idx="3"/>
          </p:nvPr>
        </p:nvSpPr>
        <p:spPr/>
        <p:txBody>
          <a:bodyPr/>
          <a:lstStyle/>
          <a:p>
            <a:r>
              <a:rPr lang="en-US"/>
              <a:t>Domont Consulting</a:t>
            </a:r>
            <a:endParaRPr lang="en-US" dirty="0"/>
          </a:p>
        </p:txBody>
      </p:sp>
      <p:sp>
        <p:nvSpPr>
          <p:cNvPr id="23" name="Slide Number Placeholder 22">
            <a:extLst>
              <a:ext uri="{FF2B5EF4-FFF2-40B4-BE49-F238E27FC236}">
                <a16:creationId xmlns:a16="http://schemas.microsoft.com/office/drawing/2014/main" id="{B2018379-E143-613D-2994-6BD69E409445}"/>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789226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715606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307926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2" name="Picture 21">
            <a:extLst>
              <a:ext uri="{FF2B5EF4-FFF2-40B4-BE49-F238E27FC236}">
                <a16:creationId xmlns:a16="http://schemas.microsoft.com/office/drawing/2014/main" id="{6BCEE1C7-DF30-3DF6-190B-DD5FC2BB2C78}"/>
              </a:ext>
            </a:extLst>
          </p:cNvPr>
          <p:cNvPicPr>
            <a:picLocks noChangeAspect="1"/>
          </p:cNvPicPr>
          <p:nvPr/>
        </p:nvPicPr>
        <p:blipFill rotWithShape="1">
          <a:blip r:embed="rId5"/>
          <a:srcRect r="7326"/>
          <a:stretch/>
        </p:blipFill>
        <p:spPr>
          <a:xfrm>
            <a:off x="8057395" y="3562744"/>
            <a:ext cx="3238400" cy="18216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06F37D6C-B731-A2E5-9DE9-97B2EEF8E173}"/>
              </a:ext>
            </a:extLst>
          </p:cNvPr>
          <p:cNvPicPr>
            <a:picLocks noChangeAspect="1"/>
          </p:cNvPicPr>
          <p:nvPr/>
        </p:nvPicPr>
        <p:blipFill>
          <a:blip r:embed="rId6"/>
          <a:stretch>
            <a:fillRect/>
          </a:stretch>
        </p:blipFill>
        <p:spPr>
          <a:xfrm>
            <a:off x="893956" y="3562744"/>
            <a:ext cx="3238400" cy="18216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8745A994-C7AF-1BAB-1728-3C202470843B}"/>
              </a:ext>
            </a:extLst>
          </p:cNvPr>
          <p:cNvPicPr>
            <a:picLocks noChangeAspect="1"/>
          </p:cNvPicPr>
          <p:nvPr/>
        </p:nvPicPr>
        <p:blipFill rotWithShape="1">
          <a:blip r:embed="rId7"/>
          <a:srcRect r="5970"/>
          <a:stretch/>
        </p:blipFill>
        <p:spPr>
          <a:xfrm>
            <a:off x="4471646" y="3567958"/>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3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Identify Target Companies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bg1">
              <a:lumMod val="75000"/>
            </a:schemeClr>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endParaRPr lang="en-US" sz="1200" b="1" kern="1200" dirty="0">
              <a:solidFill>
                <a:schemeClr val="bg1"/>
              </a:solidFill>
              <a:cs typeface="Times New Roman" pitchFamily="18" charset="0"/>
            </a:endParaRP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bg1">
              <a:lumMod val="75000"/>
            </a:schemeClr>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6.Separation execution</a:t>
            </a:r>
          </a:p>
        </p:txBody>
      </p:sp>
      <p:sp>
        <p:nvSpPr>
          <p:cNvPr id="3" name="Arrow: Down 2">
            <a:extLst>
              <a:ext uri="{FF2B5EF4-FFF2-40B4-BE49-F238E27FC236}">
                <a16:creationId xmlns:a16="http://schemas.microsoft.com/office/drawing/2014/main" id="{9F68DDDE-799C-9A68-B06B-145290DF9881}"/>
              </a:ext>
            </a:extLst>
          </p:cNvPr>
          <p:cNvSpPr/>
          <p:nvPr/>
        </p:nvSpPr>
        <p:spPr>
          <a:xfrm>
            <a:off x="4981520" y="2756507"/>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Footer Placeholder 24">
            <a:extLst>
              <a:ext uri="{FF2B5EF4-FFF2-40B4-BE49-F238E27FC236}">
                <a16:creationId xmlns:a16="http://schemas.microsoft.com/office/drawing/2014/main" id="{C4F36508-159B-8447-4146-4258B1C8F101}"/>
              </a:ext>
            </a:extLst>
          </p:cNvPr>
          <p:cNvSpPr>
            <a:spLocks noGrp="1"/>
          </p:cNvSpPr>
          <p:nvPr>
            <p:ph type="ftr" sz="quarter" idx="3"/>
          </p:nvPr>
        </p:nvSpPr>
        <p:spPr/>
        <p:txBody>
          <a:bodyPr/>
          <a:lstStyle/>
          <a:p>
            <a:r>
              <a:rPr lang="en-US"/>
              <a:t>Domont Consulting</a:t>
            </a:r>
            <a:endParaRPr lang="en-US" dirty="0"/>
          </a:p>
        </p:txBody>
      </p:sp>
      <p:sp>
        <p:nvSpPr>
          <p:cNvPr id="26" name="Slide Number Placeholder 25">
            <a:extLst>
              <a:ext uri="{FF2B5EF4-FFF2-40B4-BE49-F238E27FC236}">
                <a16:creationId xmlns:a16="http://schemas.microsoft.com/office/drawing/2014/main" id="{0021D756-9CDD-C5D1-7759-5F9FF43D658E}"/>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3487455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835883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307926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5" name="Picture 14">
            <a:extLst>
              <a:ext uri="{FF2B5EF4-FFF2-40B4-BE49-F238E27FC236}">
                <a16:creationId xmlns:a16="http://schemas.microsoft.com/office/drawing/2014/main" id="{DA3B4149-BA65-292C-B8BE-F62095E404B0}"/>
              </a:ext>
            </a:extLst>
          </p:cNvPr>
          <p:cNvPicPr>
            <a:picLocks noChangeAspect="1"/>
          </p:cNvPicPr>
          <p:nvPr/>
        </p:nvPicPr>
        <p:blipFill>
          <a:blip r:embed="rId5"/>
          <a:stretch>
            <a:fillRect/>
          </a:stretch>
        </p:blipFill>
        <p:spPr>
          <a:xfrm>
            <a:off x="885897" y="3559979"/>
            <a:ext cx="3238400" cy="1821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093497E4-9115-1ED4-9FAC-41155C8830EA}"/>
              </a:ext>
            </a:extLst>
          </p:cNvPr>
          <p:cNvPicPr>
            <a:picLocks noChangeAspect="1"/>
          </p:cNvPicPr>
          <p:nvPr/>
        </p:nvPicPr>
        <p:blipFill>
          <a:blip r:embed="rId6"/>
          <a:stretch>
            <a:fillRect/>
          </a:stretch>
        </p:blipFill>
        <p:spPr>
          <a:xfrm>
            <a:off x="4471646" y="3559979"/>
            <a:ext cx="3238400" cy="18216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A683F349-C3EF-A260-1C28-929AEF27BE69}"/>
              </a:ext>
            </a:extLst>
          </p:cNvPr>
          <p:cNvPicPr>
            <a:picLocks noChangeAspect="1"/>
          </p:cNvPicPr>
          <p:nvPr/>
        </p:nvPicPr>
        <p:blipFill>
          <a:blip r:embed="rId7"/>
          <a:stretch>
            <a:fillRect/>
          </a:stretch>
        </p:blipFill>
        <p:spPr>
          <a:xfrm>
            <a:off x="8080536" y="3559979"/>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4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Identify Target Companies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bg1">
              <a:lumMod val="75000"/>
            </a:schemeClr>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endParaRPr lang="en-US" sz="1200" b="1" kern="1200" dirty="0">
              <a:solidFill>
                <a:schemeClr val="bg1"/>
              </a:solidFill>
              <a:cs typeface="Times New Roman" pitchFamily="18" charset="0"/>
            </a:endParaRP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bg1">
              <a:lumMod val="75000"/>
            </a:schemeClr>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6.Separation execution</a:t>
            </a:r>
          </a:p>
        </p:txBody>
      </p:sp>
      <p:sp>
        <p:nvSpPr>
          <p:cNvPr id="14" name="Arrow: Down 13">
            <a:extLst>
              <a:ext uri="{FF2B5EF4-FFF2-40B4-BE49-F238E27FC236}">
                <a16:creationId xmlns:a16="http://schemas.microsoft.com/office/drawing/2014/main" id="{3C71312C-E2BC-74DD-9295-2018FC524E14}"/>
              </a:ext>
            </a:extLst>
          </p:cNvPr>
          <p:cNvSpPr/>
          <p:nvPr/>
        </p:nvSpPr>
        <p:spPr>
          <a:xfrm>
            <a:off x="6785180" y="2756507"/>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Footer Placeholder 20">
            <a:extLst>
              <a:ext uri="{FF2B5EF4-FFF2-40B4-BE49-F238E27FC236}">
                <a16:creationId xmlns:a16="http://schemas.microsoft.com/office/drawing/2014/main" id="{6F0B96B2-838D-CAEC-EAB3-8D2D34F8B8A5}"/>
              </a:ext>
            </a:extLst>
          </p:cNvPr>
          <p:cNvSpPr>
            <a:spLocks noGrp="1"/>
          </p:cNvSpPr>
          <p:nvPr>
            <p:ph type="ftr" sz="quarter" idx="3"/>
          </p:nvPr>
        </p:nvSpPr>
        <p:spPr/>
        <p:txBody>
          <a:bodyPr/>
          <a:lstStyle/>
          <a:p>
            <a:r>
              <a:rPr lang="en-US"/>
              <a:t>Domont Consulting</a:t>
            </a:r>
            <a:endParaRPr lang="en-US" dirty="0"/>
          </a:p>
        </p:txBody>
      </p:sp>
      <p:sp>
        <p:nvSpPr>
          <p:cNvPr id="24" name="Slide Number Placeholder 23">
            <a:extLst>
              <a:ext uri="{FF2B5EF4-FFF2-40B4-BE49-F238E27FC236}">
                <a16:creationId xmlns:a16="http://schemas.microsoft.com/office/drawing/2014/main" id="{3DBFF0E1-B53D-DA8D-E124-81A9DA80CE0D}"/>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385067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6256971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307926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 name="Picture 4">
            <a:extLst>
              <a:ext uri="{FF2B5EF4-FFF2-40B4-BE49-F238E27FC236}">
                <a16:creationId xmlns:a16="http://schemas.microsoft.com/office/drawing/2014/main" id="{19172897-890B-A6EB-8B96-15EE95A42A25}"/>
              </a:ext>
            </a:extLst>
          </p:cNvPr>
          <p:cNvPicPr>
            <a:picLocks noChangeAspect="1"/>
          </p:cNvPicPr>
          <p:nvPr/>
        </p:nvPicPr>
        <p:blipFill>
          <a:blip r:embed="rId5"/>
          <a:stretch>
            <a:fillRect/>
          </a:stretch>
        </p:blipFill>
        <p:spPr>
          <a:xfrm>
            <a:off x="868669" y="3559979"/>
            <a:ext cx="3238400" cy="18216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1F5E4E64-9143-4DB1-3ABC-6FA70E4F2FB6}"/>
              </a:ext>
            </a:extLst>
          </p:cNvPr>
          <p:cNvPicPr>
            <a:picLocks noChangeAspect="1"/>
          </p:cNvPicPr>
          <p:nvPr/>
        </p:nvPicPr>
        <p:blipFill>
          <a:blip r:embed="rId6"/>
          <a:stretch>
            <a:fillRect/>
          </a:stretch>
        </p:blipFill>
        <p:spPr>
          <a:xfrm>
            <a:off x="4460004" y="3559979"/>
            <a:ext cx="3238400" cy="18216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1A78AC96-D545-5C40-F424-B1ECA54290F2}"/>
              </a:ext>
            </a:extLst>
          </p:cNvPr>
          <p:cNvPicPr>
            <a:picLocks noChangeAspect="1"/>
          </p:cNvPicPr>
          <p:nvPr/>
        </p:nvPicPr>
        <p:blipFill>
          <a:blip r:embed="rId7"/>
          <a:stretch>
            <a:fillRect/>
          </a:stretch>
        </p:blipFill>
        <p:spPr>
          <a:xfrm>
            <a:off x="8080536" y="3559979"/>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5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Identify Target Companies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bg1">
              <a:lumMod val="75000"/>
            </a:schemeClr>
          </a:solidFill>
          <a:ln>
            <a:noFill/>
          </a:ln>
          <a:effectLst/>
        </p:spPr>
        <p:txBody>
          <a:bodyPr wrap="square" lIns="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endParaRPr lang="en-US" sz="1200" b="1" kern="1200" dirty="0">
              <a:solidFill>
                <a:schemeClr val="bg1"/>
              </a:solidFill>
              <a:cs typeface="Times New Roman" pitchFamily="18" charset="0"/>
            </a:endParaRP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bg1">
              <a:lumMod val="75000"/>
            </a:schemeClr>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6.Separation execution</a:t>
            </a:r>
          </a:p>
        </p:txBody>
      </p:sp>
      <p:sp>
        <p:nvSpPr>
          <p:cNvPr id="3" name="Arrow: Down 2">
            <a:extLst>
              <a:ext uri="{FF2B5EF4-FFF2-40B4-BE49-F238E27FC236}">
                <a16:creationId xmlns:a16="http://schemas.microsoft.com/office/drawing/2014/main" id="{824379B8-73CC-9E82-F955-ACB72294696F}"/>
              </a:ext>
            </a:extLst>
          </p:cNvPr>
          <p:cNvSpPr/>
          <p:nvPr/>
        </p:nvSpPr>
        <p:spPr>
          <a:xfrm>
            <a:off x="8608630" y="2756507"/>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Footer Placeholder 20">
            <a:extLst>
              <a:ext uri="{FF2B5EF4-FFF2-40B4-BE49-F238E27FC236}">
                <a16:creationId xmlns:a16="http://schemas.microsoft.com/office/drawing/2014/main" id="{7A0200BE-C083-4C36-84AB-E1904B297534}"/>
              </a:ext>
            </a:extLst>
          </p:cNvPr>
          <p:cNvSpPr>
            <a:spLocks noGrp="1"/>
          </p:cNvSpPr>
          <p:nvPr>
            <p:ph type="ftr" sz="quarter" idx="3"/>
          </p:nvPr>
        </p:nvSpPr>
        <p:spPr/>
        <p:txBody>
          <a:bodyPr/>
          <a:lstStyle/>
          <a:p>
            <a:r>
              <a:rPr lang="en-US"/>
              <a:t>Domont Consulting</a:t>
            </a:r>
            <a:endParaRPr lang="en-US" dirty="0"/>
          </a:p>
        </p:txBody>
      </p:sp>
      <p:sp>
        <p:nvSpPr>
          <p:cNvPr id="22" name="Slide Number Placeholder 21">
            <a:extLst>
              <a:ext uri="{FF2B5EF4-FFF2-40B4-BE49-F238E27FC236}">
                <a16:creationId xmlns:a16="http://schemas.microsoft.com/office/drawing/2014/main" id="{005D4603-7B01-7140-08E5-D77D3C4A53E2}"/>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182838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243206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307926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5" name="Picture 14">
            <a:extLst>
              <a:ext uri="{FF2B5EF4-FFF2-40B4-BE49-F238E27FC236}">
                <a16:creationId xmlns:a16="http://schemas.microsoft.com/office/drawing/2014/main" id="{1E2557DD-8A9A-7B14-54D9-16A5F08E2761}"/>
              </a:ext>
            </a:extLst>
          </p:cNvPr>
          <p:cNvPicPr>
            <a:picLocks noChangeAspect="1"/>
          </p:cNvPicPr>
          <p:nvPr/>
        </p:nvPicPr>
        <p:blipFill>
          <a:blip r:embed="rId5"/>
          <a:stretch>
            <a:fillRect/>
          </a:stretch>
        </p:blipFill>
        <p:spPr>
          <a:xfrm>
            <a:off x="868669" y="3555007"/>
            <a:ext cx="3238400" cy="18216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7B80AFD2-0AC0-F43F-2040-5CC84332ADE5}"/>
              </a:ext>
            </a:extLst>
          </p:cNvPr>
          <p:cNvPicPr>
            <a:picLocks noChangeAspect="1"/>
          </p:cNvPicPr>
          <p:nvPr/>
        </p:nvPicPr>
        <p:blipFill rotWithShape="1">
          <a:blip r:embed="rId6"/>
          <a:srcRect r="10634"/>
          <a:stretch/>
        </p:blipFill>
        <p:spPr>
          <a:xfrm>
            <a:off x="4471475" y="3555007"/>
            <a:ext cx="3243883" cy="18216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F3652C73-1C31-06E6-7120-EE73FFF6EFC5}"/>
              </a:ext>
            </a:extLst>
          </p:cNvPr>
          <p:cNvPicPr>
            <a:picLocks noChangeAspect="1"/>
          </p:cNvPicPr>
          <p:nvPr/>
        </p:nvPicPr>
        <p:blipFill>
          <a:blip r:embed="rId7"/>
          <a:stretch>
            <a:fillRect/>
          </a:stretch>
        </p:blipFill>
        <p:spPr>
          <a:xfrm>
            <a:off x="8079764" y="3555007"/>
            <a:ext cx="3260381"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6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Identify Target Companies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bg1">
              <a:lumMod val="75000"/>
            </a:schemeClr>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bg1">
                    <a:lumMod val="65000"/>
                  </a:schemeClr>
                </a:solidFill>
              </a:rPr>
              <a:t>6.Separation execution</a:t>
            </a:r>
          </a:p>
        </p:txBody>
      </p:sp>
      <p:sp>
        <p:nvSpPr>
          <p:cNvPr id="14" name="Arrow: Down 13">
            <a:extLst>
              <a:ext uri="{FF2B5EF4-FFF2-40B4-BE49-F238E27FC236}">
                <a16:creationId xmlns:a16="http://schemas.microsoft.com/office/drawing/2014/main" id="{0DE83000-CB99-12DB-E264-8D14F5E5E546}"/>
              </a:ext>
            </a:extLst>
          </p:cNvPr>
          <p:cNvSpPr/>
          <p:nvPr/>
        </p:nvSpPr>
        <p:spPr>
          <a:xfrm>
            <a:off x="10432571" y="2756507"/>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8" name="Footer Placeholder 27">
            <a:extLst>
              <a:ext uri="{FF2B5EF4-FFF2-40B4-BE49-F238E27FC236}">
                <a16:creationId xmlns:a16="http://schemas.microsoft.com/office/drawing/2014/main" id="{71638BE2-0D79-940C-89B0-7AC60F65B192}"/>
              </a:ext>
            </a:extLst>
          </p:cNvPr>
          <p:cNvSpPr>
            <a:spLocks noGrp="1"/>
          </p:cNvSpPr>
          <p:nvPr>
            <p:ph type="ftr" sz="quarter" idx="3"/>
          </p:nvPr>
        </p:nvSpPr>
        <p:spPr/>
        <p:txBody>
          <a:bodyPr/>
          <a:lstStyle/>
          <a:p>
            <a:r>
              <a:rPr lang="en-US"/>
              <a:t>Domont Consulting</a:t>
            </a:r>
            <a:endParaRPr lang="en-US" dirty="0"/>
          </a:p>
        </p:txBody>
      </p:sp>
      <p:sp>
        <p:nvSpPr>
          <p:cNvPr id="29" name="Slide Number Placeholder 28">
            <a:extLst>
              <a:ext uri="{FF2B5EF4-FFF2-40B4-BE49-F238E27FC236}">
                <a16:creationId xmlns:a16="http://schemas.microsoft.com/office/drawing/2014/main" id="{4DC3E2C7-B0B2-633B-1085-01726AB88BE1}"/>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2332475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199750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3" name="Rectangle 62">
            <a:extLst>
              <a:ext uri="{FF2B5EF4-FFF2-40B4-BE49-F238E27FC236}">
                <a16:creationId xmlns:a16="http://schemas.microsoft.com/office/drawing/2014/main" id="{0C5DD8EE-9AD6-12FD-0FA6-686C0CC3A978}"/>
              </a:ext>
            </a:extLst>
          </p:cNvPr>
          <p:cNvSpPr/>
          <p:nvPr/>
        </p:nvSpPr>
        <p:spPr>
          <a:xfrm>
            <a:off x="613321" y="2989614"/>
            <a:ext cx="10960193" cy="2799574"/>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2" name="Picture 11">
            <a:extLst>
              <a:ext uri="{FF2B5EF4-FFF2-40B4-BE49-F238E27FC236}">
                <a16:creationId xmlns:a16="http://schemas.microsoft.com/office/drawing/2014/main" id="{C9B015EF-1615-82BE-BD79-C4CC944D939D}"/>
              </a:ext>
            </a:extLst>
          </p:cNvPr>
          <p:cNvPicPr>
            <a:picLocks noChangeAspect="1"/>
          </p:cNvPicPr>
          <p:nvPr/>
        </p:nvPicPr>
        <p:blipFill>
          <a:blip r:embed="rId5"/>
          <a:stretch>
            <a:fillRect/>
          </a:stretch>
        </p:blipFill>
        <p:spPr>
          <a:xfrm>
            <a:off x="868669" y="3459686"/>
            <a:ext cx="3238400" cy="18216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D80402A3-A3E1-3623-EE3E-D06EF1D79092}"/>
              </a:ext>
            </a:extLst>
          </p:cNvPr>
          <p:cNvPicPr>
            <a:picLocks noChangeAspect="1"/>
          </p:cNvPicPr>
          <p:nvPr/>
        </p:nvPicPr>
        <p:blipFill>
          <a:blip r:embed="rId6"/>
          <a:stretch>
            <a:fillRect/>
          </a:stretch>
        </p:blipFill>
        <p:spPr>
          <a:xfrm>
            <a:off x="4474216" y="3458351"/>
            <a:ext cx="3238400" cy="1821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60C5E862-0D8D-845A-175A-CAEBA9F792B9}"/>
              </a:ext>
            </a:extLst>
          </p:cNvPr>
          <p:cNvPicPr>
            <a:picLocks noChangeAspect="1"/>
          </p:cNvPicPr>
          <p:nvPr/>
        </p:nvPicPr>
        <p:blipFill>
          <a:blip r:embed="rId7"/>
          <a:stretch>
            <a:fillRect/>
          </a:stretch>
        </p:blipFill>
        <p:spPr>
          <a:xfrm>
            <a:off x="8077022" y="3457002"/>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7 small preview</a:t>
            </a:r>
          </a:p>
        </p:txBody>
      </p:sp>
      <p:sp>
        <p:nvSpPr>
          <p:cNvPr id="4" name="Chevron 10">
            <a:extLst>
              <a:ext uri="{FF2B5EF4-FFF2-40B4-BE49-F238E27FC236}">
                <a16:creationId xmlns:a16="http://schemas.microsoft.com/office/drawing/2014/main" id="{5BAEEE08-9D4A-5D0D-E3C0-CCE5ACE9E78D}"/>
              </a:ext>
            </a:extLst>
          </p:cNvPr>
          <p:cNvSpPr/>
          <p:nvPr/>
        </p:nvSpPr>
        <p:spPr bwMode="auto">
          <a:xfrm>
            <a:off x="2346706"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Identify Target Companies</a:t>
            </a:r>
          </a:p>
        </p:txBody>
      </p:sp>
      <p:sp>
        <p:nvSpPr>
          <p:cNvPr id="7" name="Chevron 12">
            <a:extLst>
              <a:ext uri="{FF2B5EF4-FFF2-40B4-BE49-F238E27FC236}">
                <a16:creationId xmlns:a16="http://schemas.microsoft.com/office/drawing/2014/main" id="{A71D7F04-AF62-0E5F-DAF4-7EADF7E3D62E}"/>
              </a:ext>
            </a:extLst>
          </p:cNvPr>
          <p:cNvSpPr/>
          <p:nvPr/>
        </p:nvSpPr>
        <p:spPr bwMode="auto">
          <a:xfrm>
            <a:off x="4170648"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Build a Business Case and Financial Model</a:t>
            </a:r>
          </a:p>
        </p:txBody>
      </p:sp>
      <p:sp>
        <p:nvSpPr>
          <p:cNvPr id="8" name="Chevron 14">
            <a:extLst>
              <a:ext uri="{FF2B5EF4-FFF2-40B4-BE49-F238E27FC236}">
                <a16:creationId xmlns:a16="http://schemas.microsoft.com/office/drawing/2014/main" id="{CC6A5CC5-68A7-C560-0EA8-402FA71E0F5F}"/>
              </a:ext>
            </a:extLst>
          </p:cNvPr>
          <p:cNvSpPr/>
          <p:nvPr/>
        </p:nvSpPr>
        <p:spPr bwMode="auto">
          <a:xfrm>
            <a:off x="5994590"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a Due Diligence</a:t>
            </a:r>
          </a:p>
        </p:txBody>
      </p:sp>
      <p:sp>
        <p:nvSpPr>
          <p:cNvPr id="11" name="Chevron 17">
            <a:extLst>
              <a:ext uri="{FF2B5EF4-FFF2-40B4-BE49-F238E27FC236}">
                <a16:creationId xmlns:a16="http://schemas.microsoft.com/office/drawing/2014/main" id="{DD226037-C7BD-6974-C302-6F760DE47795}"/>
              </a:ext>
            </a:extLst>
          </p:cNvPr>
          <p:cNvSpPr/>
          <p:nvPr/>
        </p:nvSpPr>
        <p:spPr bwMode="auto">
          <a:xfrm>
            <a:off x="7818532"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Execute Transaction</a:t>
            </a:r>
          </a:p>
        </p:txBody>
      </p:sp>
      <p:sp>
        <p:nvSpPr>
          <p:cNvPr id="13" name="Chevron 103">
            <a:extLst>
              <a:ext uri="{FF2B5EF4-FFF2-40B4-BE49-F238E27FC236}">
                <a16:creationId xmlns:a16="http://schemas.microsoft.com/office/drawing/2014/main" id="{81E50E94-59AF-7538-6EC8-E52549CD82A1}"/>
              </a:ext>
            </a:extLst>
          </p:cNvPr>
          <p:cNvSpPr/>
          <p:nvPr/>
        </p:nvSpPr>
        <p:spPr bwMode="auto">
          <a:xfrm>
            <a:off x="9642473" y="2046324"/>
            <a:ext cx="2005499" cy="648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Conduct the Post Merger Integration</a:t>
            </a:r>
          </a:p>
        </p:txBody>
      </p:sp>
      <p:sp>
        <p:nvSpPr>
          <p:cNvPr id="41" name="Arrow: Pentagon 40">
            <a:extLst>
              <a:ext uri="{FF2B5EF4-FFF2-40B4-BE49-F238E27FC236}">
                <a16:creationId xmlns:a16="http://schemas.microsoft.com/office/drawing/2014/main" id="{C396774C-F01D-C2DF-79E6-9AC5E8C0F563}"/>
              </a:ext>
            </a:extLst>
          </p:cNvPr>
          <p:cNvSpPr/>
          <p:nvPr/>
        </p:nvSpPr>
        <p:spPr>
          <a:xfrm>
            <a:off x="609813" y="2046324"/>
            <a:ext cx="1918450" cy="648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Define your M&amp;A Strategy</a:t>
            </a:r>
          </a:p>
        </p:txBody>
      </p:sp>
      <p:pic>
        <p:nvPicPr>
          <p:cNvPr id="42" name="Graphic 41" descr="Clipboard Partially Checked outline">
            <a:extLst>
              <a:ext uri="{FF2B5EF4-FFF2-40B4-BE49-F238E27FC236}">
                <a16:creationId xmlns:a16="http://schemas.microsoft.com/office/drawing/2014/main" id="{2097B415-DC9B-1353-B090-2E7EA14102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60698" y="1536203"/>
            <a:ext cx="473281" cy="473281"/>
          </a:xfrm>
          <a:prstGeom prst="rect">
            <a:avLst/>
          </a:prstGeom>
        </p:spPr>
      </p:pic>
      <p:pic>
        <p:nvPicPr>
          <p:cNvPr id="43" name="Graphic 42" descr="Research outline">
            <a:extLst>
              <a:ext uri="{FF2B5EF4-FFF2-40B4-BE49-F238E27FC236}">
                <a16:creationId xmlns:a16="http://schemas.microsoft.com/office/drawing/2014/main" id="{C16E71A4-33E5-D20D-2E0B-D5D33CA6A3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33423" y="1568184"/>
            <a:ext cx="432064" cy="432064"/>
          </a:xfrm>
          <a:prstGeom prst="rect">
            <a:avLst/>
          </a:prstGeom>
        </p:spPr>
      </p:pic>
      <p:pic>
        <p:nvPicPr>
          <p:cNvPr id="44" name="Graphic 43" descr="Lightbulb and pencil outline">
            <a:extLst>
              <a:ext uri="{FF2B5EF4-FFF2-40B4-BE49-F238E27FC236}">
                <a16:creationId xmlns:a16="http://schemas.microsoft.com/office/drawing/2014/main" id="{8B13AF54-2310-FEF3-C824-336DB5176D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1536" y="1576714"/>
            <a:ext cx="415003" cy="415003"/>
          </a:xfrm>
          <a:prstGeom prst="rect">
            <a:avLst/>
          </a:prstGeom>
        </p:spPr>
      </p:pic>
      <p:pic>
        <p:nvPicPr>
          <p:cNvPr id="45" name="Graphic 44" descr="Handshake outline">
            <a:extLst>
              <a:ext uri="{FF2B5EF4-FFF2-40B4-BE49-F238E27FC236}">
                <a16:creationId xmlns:a16="http://schemas.microsoft.com/office/drawing/2014/main" id="{6F911E5B-DC12-BD65-37F9-E5C5098E3D6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54574" y="1514937"/>
            <a:ext cx="579698" cy="579698"/>
          </a:xfrm>
          <a:prstGeom prst="rect">
            <a:avLst/>
          </a:prstGeom>
        </p:spPr>
      </p:pic>
      <p:pic>
        <p:nvPicPr>
          <p:cNvPr id="46" name="Graphic 45" descr="Bar chart outline">
            <a:extLst>
              <a:ext uri="{FF2B5EF4-FFF2-40B4-BE49-F238E27FC236}">
                <a16:creationId xmlns:a16="http://schemas.microsoft.com/office/drawing/2014/main" id="{3799B094-372D-BCE1-B9D6-B9537692351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981520" y="1578049"/>
            <a:ext cx="473281" cy="473281"/>
          </a:xfrm>
          <a:prstGeom prst="rect">
            <a:avLst/>
          </a:prstGeom>
        </p:spPr>
      </p:pic>
      <p:pic>
        <p:nvPicPr>
          <p:cNvPr id="47" name="Graphic 46" descr="Puzzle pieces outline">
            <a:extLst>
              <a:ext uri="{FF2B5EF4-FFF2-40B4-BE49-F238E27FC236}">
                <a16:creationId xmlns:a16="http://schemas.microsoft.com/office/drawing/2014/main" id="{64DC5BB6-3E3D-9182-7BCF-124280054A5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98985" y="1524900"/>
            <a:ext cx="492474" cy="492474"/>
          </a:xfrm>
          <a:prstGeom prst="rect">
            <a:avLst/>
          </a:prstGeom>
        </p:spPr>
      </p:pic>
      <p:sp>
        <p:nvSpPr>
          <p:cNvPr id="48" name="Oval 47">
            <a:extLst>
              <a:ext uri="{FF2B5EF4-FFF2-40B4-BE49-F238E27FC236}">
                <a16:creationId xmlns:a16="http://schemas.microsoft.com/office/drawing/2014/main" id="{0605B4C0-5A50-03AB-7F67-C1B630B55DF4}"/>
              </a:ext>
            </a:extLst>
          </p:cNvPr>
          <p:cNvSpPr/>
          <p:nvPr/>
        </p:nvSpPr>
        <p:spPr>
          <a:xfrm>
            <a:off x="518943"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49" name="Oval 48">
            <a:extLst>
              <a:ext uri="{FF2B5EF4-FFF2-40B4-BE49-F238E27FC236}">
                <a16:creationId xmlns:a16="http://schemas.microsoft.com/office/drawing/2014/main" id="{7B702526-8198-20A2-235E-2FB256FF9213}"/>
              </a:ext>
            </a:extLst>
          </p:cNvPr>
          <p:cNvSpPr/>
          <p:nvPr/>
        </p:nvSpPr>
        <p:spPr>
          <a:xfrm>
            <a:off x="234984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50" name="Oval 49">
            <a:extLst>
              <a:ext uri="{FF2B5EF4-FFF2-40B4-BE49-F238E27FC236}">
                <a16:creationId xmlns:a16="http://schemas.microsoft.com/office/drawing/2014/main" id="{DD2E214A-1538-46DB-25B5-1D4EB7FDCB4C}"/>
              </a:ext>
            </a:extLst>
          </p:cNvPr>
          <p:cNvSpPr/>
          <p:nvPr/>
        </p:nvSpPr>
        <p:spPr>
          <a:xfrm>
            <a:off x="4166415"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51" name="Oval 50">
            <a:extLst>
              <a:ext uri="{FF2B5EF4-FFF2-40B4-BE49-F238E27FC236}">
                <a16:creationId xmlns:a16="http://schemas.microsoft.com/office/drawing/2014/main" id="{92CDBF9B-0C50-D17F-42D6-F078222087EF}"/>
              </a:ext>
            </a:extLst>
          </p:cNvPr>
          <p:cNvSpPr/>
          <p:nvPr/>
        </p:nvSpPr>
        <p:spPr>
          <a:xfrm>
            <a:off x="5998298"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52" name="Oval 51">
            <a:extLst>
              <a:ext uri="{FF2B5EF4-FFF2-40B4-BE49-F238E27FC236}">
                <a16:creationId xmlns:a16="http://schemas.microsoft.com/office/drawing/2014/main" id="{BDE0D438-02DE-E828-7F46-C6CC1BF5A66A}"/>
              </a:ext>
            </a:extLst>
          </p:cNvPr>
          <p:cNvSpPr/>
          <p:nvPr/>
        </p:nvSpPr>
        <p:spPr>
          <a:xfrm>
            <a:off x="782920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53" name="Oval 52">
            <a:extLst>
              <a:ext uri="{FF2B5EF4-FFF2-40B4-BE49-F238E27FC236}">
                <a16:creationId xmlns:a16="http://schemas.microsoft.com/office/drawing/2014/main" id="{F89207CB-D561-AEB6-FF98-54032847D0F9}"/>
              </a:ext>
            </a:extLst>
          </p:cNvPr>
          <p:cNvSpPr/>
          <p:nvPr/>
        </p:nvSpPr>
        <p:spPr>
          <a:xfrm>
            <a:off x="9645770" y="1860795"/>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5" name="Arrow: Pentagon 54">
            <a:extLst>
              <a:ext uri="{FF2B5EF4-FFF2-40B4-BE49-F238E27FC236}">
                <a16:creationId xmlns:a16="http://schemas.microsoft.com/office/drawing/2014/main" id="{2E261385-C53E-0C9D-F39B-EC3D219B1556}"/>
              </a:ext>
            </a:extLst>
          </p:cNvPr>
          <p:cNvSpPr/>
          <p:nvPr/>
        </p:nvSpPr>
        <p:spPr>
          <a:xfrm>
            <a:off x="609811" y="6162834"/>
            <a:ext cx="11052000" cy="381028"/>
          </a:xfrm>
          <a:prstGeom prst="homePlate">
            <a:avLst>
              <a:gd name="adj" fmla="val 31705"/>
            </a:avLst>
          </a:prstGeom>
          <a:solidFill>
            <a:schemeClr val="accent1"/>
          </a:solidFill>
          <a:ln>
            <a:noFill/>
          </a:ln>
          <a:effectLst/>
        </p:spPr>
        <p:txBody>
          <a:bodyPr wrap="square" lIns="180000" tIns="45715" rIns="0" bIns="45715" rtlCol="0" anchor="ctr">
            <a:noAutofit/>
          </a:bodyPr>
          <a:lstStyle/>
          <a:p>
            <a:pPr defTabSz="623853" fontAlgn="base">
              <a:spcBef>
                <a:spcPts val="600"/>
              </a:spcBef>
              <a:spcAft>
                <a:spcPts val="600"/>
              </a:spcAft>
              <a:buClr>
                <a:srgbClr val="000000"/>
              </a:buClr>
            </a:pPr>
            <a:r>
              <a:rPr lang="en-US" sz="1200" b="1" dirty="0">
                <a:solidFill>
                  <a:schemeClr val="bg1"/>
                </a:solidFill>
                <a:cs typeface="Times New Roman" pitchFamily="18" charset="0"/>
              </a:rPr>
              <a:t>Activities specific to Carve-outs: </a:t>
            </a:r>
          </a:p>
        </p:txBody>
      </p:sp>
      <p:sp>
        <p:nvSpPr>
          <p:cNvPr id="56" name="Oval 55">
            <a:extLst>
              <a:ext uri="{FF2B5EF4-FFF2-40B4-BE49-F238E27FC236}">
                <a16:creationId xmlns:a16="http://schemas.microsoft.com/office/drawing/2014/main" id="{79329747-6027-41A5-FF9D-0EDB7E8E9C8A}"/>
              </a:ext>
            </a:extLst>
          </p:cNvPr>
          <p:cNvSpPr/>
          <p:nvPr/>
        </p:nvSpPr>
        <p:spPr>
          <a:xfrm>
            <a:off x="518943" y="5976302"/>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7</a:t>
            </a:r>
          </a:p>
        </p:txBody>
      </p:sp>
      <p:sp>
        <p:nvSpPr>
          <p:cNvPr id="57" name="Rectangle: Rounded Corners 56">
            <a:extLst>
              <a:ext uri="{FF2B5EF4-FFF2-40B4-BE49-F238E27FC236}">
                <a16:creationId xmlns:a16="http://schemas.microsoft.com/office/drawing/2014/main" id="{BE2BED56-78BF-4216-2061-5198C8E11619}"/>
              </a:ext>
            </a:extLst>
          </p:cNvPr>
          <p:cNvSpPr/>
          <p:nvPr/>
        </p:nvSpPr>
        <p:spPr>
          <a:xfrm>
            <a:off x="3186697" y="6251891"/>
            <a:ext cx="104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1.Exit readiness</a:t>
            </a:r>
          </a:p>
        </p:txBody>
      </p:sp>
      <p:sp>
        <p:nvSpPr>
          <p:cNvPr id="58" name="Rectangle: Rounded Corners 57">
            <a:extLst>
              <a:ext uri="{FF2B5EF4-FFF2-40B4-BE49-F238E27FC236}">
                <a16:creationId xmlns:a16="http://schemas.microsoft.com/office/drawing/2014/main" id="{9DD9CE6E-1437-14B2-1637-7BB1BB32160B}"/>
              </a:ext>
            </a:extLst>
          </p:cNvPr>
          <p:cNvSpPr/>
          <p:nvPr/>
        </p:nvSpPr>
        <p:spPr>
          <a:xfrm>
            <a:off x="4277625" y="6251891"/>
            <a:ext cx="1512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2.Transaction perimeter </a:t>
            </a:r>
          </a:p>
        </p:txBody>
      </p:sp>
      <p:sp>
        <p:nvSpPr>
          <p:cNvPr id="59" name="Rectangle: Rounded Corners 58">
            <a:extLst>
              <a:ext uri="{FF2B5EF4-FFF2-40B4-BE49-F238E27FC236}">
                <a16:creationId xmlns:a16="http://schemas.microsoft.com/office/drawing/2014/main" id="{1145FDD5-3CBB-FBD1-6553-6665A1E847A7}"/>
              </a:ext>
            </a:extLst>
          </p:cNvPr>
          <p:cNvSpPr/>
          <p:nvPr/>
        </p:nvSpPr>
        <p:spPr>
          <a:xfrm>
            <a:off x="5836553" y="6251891"/>
            <a:ext cx="144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3.Separation concepts</a:t>
            </a:r>
          </a:p>
        </p:txBody>
      </p:sp>
      <p:sp>
        <p:nvSpPr>
          <p:cNvPr id="60" name="Rectangle: Rounded Corners 59">
            <a:extLst>
              <a:ext uri="{FF2B5EF4-FFF2-40B4-BE49-F238E27FC236}">
                <a16:creationId xmlns:a16="http://schemas.microsoft.com/office/drawing/2014/main" id="{53505F24-23ED-D755-95D4-22CE7B39761A}"/>
              </a:ext>
            </a:extLst>
          </p:cNvPr>
          <p:cNvSpPr/>
          <p:nvPr/>
        </p:nvSpPr>
        <p:spPr>
          <a:xfrm>
            <a:off x="7323481" y="6251891"/>
            <a:ext cx="1764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4.Management presentation</a:t>
            </a:r>
          </a:p>
        </p:txBody>
      </p:sp>
      <p:sp>
        <p:nvSpPr>
          <p:cNvPr id="61" name="Rectangle: Rounded Corners 60">
            <a:extLst>
              <a:ext uri="{FF2B5EF4-FFF2-40B4-BE49-F238E27FC236}">
                <a16:creationId xmlns:a16="http://schemas.microsoft.com/office/drawing/2014/main" id="{6BFB62C0-4426-DBFD-A7B1-600A4829AD64}"/>
              </a:ext>
            </a:extLst>
          </p:cNvPr>
          <p:cNvSpPr/>
          <p:nvPr/>
        </p:nvSpPr>
        <p:spPr>
          <a:xfrm>
            <a:off x="9134409" y="6251891"/>
            <a:ext cx="900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5.Legal entity</a:t>
            </a:r>
          </a:p>
        </p:txBody>
      </p:sp>
      <p:sp>
        <p:nvSpPr>
          <p:cNvPr id="62" name="Rectangle: Rounded Corners 61">
            <a:extLst>
              <a:ext uri="{FF2B5EF4-FFF2-40B4-BE49-F238E27FC236}">
                <a16:creationId xmlns:a16="http://schemas.microsoft.com/office/drawing/2014/main" id="{FD38F023-F0BF-522F-86E2-F3C7A6E41460}"/>
              </a:ext>
            </a:extLst>
          </p:cNvPr>
          <p:cNvSpPr/>
          <p:nvPr/>
        </p:nvSpPr>
        <p:spPr>
          <a:xfrm>
            <a:off x="10081339" y="6251891"/>
            <a:ext cx="1476000" cy="215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r>
              <a:rPr lang="en-US" sz="1050" dirty="0">
                <a:solidFill>
                  <a:schemeClr val="tx1"/>
                </a:solidFill>
              </a:rPr>
              <a:t>6.Separation execution</a:t>
            </a:r>
          </a:p>
        </p:txBody>
      </p:sp>
      <p:sp>
        <p:nvSpPr>
          <p:cNvPr id="5" name="Arrow: Down 4">
            <a:extLst>
              <a:ext uri="{FF2B5EF4-FFF2-40B4-BE49-F238E27FC236}">
                <a16:creationId xmlns:a16="http://schemas.microsoft.com/office/drawing/2014/main" id="{51774C74-5177-2301-7FC8-9B2520470EC5}"/>
              </a:ext>
            </a:extLst>
          </p:cNvPr>
          <p:cNvSpPr/>
          <p:nvPr/>
        </p:nvSpPr>
        <p:spPr>
          <a:xfrm rot="10800000">
            <a:off x="5963496" y="5837045"/>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Footer Placeholder 18">
            <a:extLst>
              <a:ext uri="{FF2B5EF4-FFF2-40B4-BE49-F238E27FC236}">
                <a16:creationId xmlns:a16="http://schemas.microsoft.com/office/drawing/2014/main" id="{ABF6E0D4-52D6-A796-EF42-41E4D0D2BF1C}"/>
              </a:ext>
            </a:extLst>
          </p:cNvPr>
          <p:cNvSpPr>
            <a:spLocks noGrp="1"/>
          </p:cNvSpPr>
          <p:nvPr>
            <p:ph type="ftr" sz="quarter" idx="3"/>
          </p:nvPr>
        </p:nvSpPr>
        <p:spPr/>
        <p:txBody>
          <a:bodyPr/>
          <a:lstStyle/>
          <a:p>
            <a:r>
              <a:rPr lang="en-US"/>
              <a:t>Domont Consulting</a:t>
            </a:r>
            <a:endParaRPr lang="en-US" dirty="0"/>
          </a:p>
        </p:txBody>
      </p:sp>
      <p:sp>
        <p:nvSpPr>
          <p:cNvPr id="20" name="Slide Number Placeholder 19">
            <a:extLst>
              <a:ext uri="{FF2B5EF4-FFF2-40B4-BE49-F238E27FC236}">
                <a16:creationId xmlns:a16="http://schemas.microsoft.com/office/drawing/2014/main" id="{BDEEA03C-77E8-B5F9-0F28-8D8197708B60}"/>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436104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38F4D8DD-8613-44FF-977A-5BA6866F4E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6" name="Object 15" hidden="1">
                        <a:extLst>
                          <a:ext uri="{FF2B5EF4-FFF2-40B4-BE49-F238E27FC236}">
                            <a16:creationId xmlns:a16="http://schemas.microsoft.com/office/drawing/2014/main" id="{38F4D8DD-8613-44FF-977A-5BA6866F4E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Rectangle 16" hidden="1">
            <a:extLst>
              <a:ext uri="{FF2B5EF4-FFF2-40B4-BE49-F238E27FC236}">
                <a16:creationId xmlns:a16="http://schemas.microsoft.com/office/drawing/2014/main" id="{73B060D7-2450-410C-BE6C-7648B3CE12E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kumimoji="0" lang="en-US" sz="2400" b="1" u="none" strike="noStrike" kern="1200" cap="none" spc="0" normalizeH="0" noProof="0" dirty="0">
              <a:ln>
                <a:noFill/>
              </a:ln>
              <a:solidFill>
                <a:srgbClr val="FFFFFF"/>
              </a:solidFill>
              <a:effectLst/>
              <a:uLnTx/>
              <a:uFillTx/>
              <a:latin typeface="Arial" panose="020B0604020202020204" pitchFamily="34" charset="0"/>
              <a:ea typeface="+mj-ea"/>
              <a:cs typeface="Arial" panose="020B0604020202020204" pitchFamily="34" charset="0"/>
              <a:sym typeface="Arial" panose="020B0604020202020204" pitchFamily="34" charset="0"/>
            </a:endParaRPr>
          </a:p>
        </p:txBody>
      </p:sp>
      <p:sp>
        <p:nvSpPr>
          <p:cNvPr id="14" name="Title 13">
            <a:extLst>
              <a:ext uri="{FF2B5EF4-FFF2-40B4-BE49-F238E27FC236}">
                <a16:creationId xmlns:a16="http://schemas.microsoft.com/office/drawing/2014/main" id="{C9800183-F524-4412-AB39-A6E1A21FF0B3}"/>
              </a:ext>
            </a:extLst>
          </p:cNvPr>
          <p:cNvSpPr>
            <a:spLocks noGrp="1"/>
          </p:cNvSpPr>
          <p:nvPr>
            <p:ph type="title"/>
          </p:nvPr>
        </p:nvSpPr>
        <p:spPr/>
        <p:txBody>
          <a:bodyPr vert="horz"/>
          <a:lstStyle/>
          <a:p>
            <a:r>
              <a:rPr lang="en-GB" dirty="0"/>
              <a:t>Examples of companies that have executed successful mergers and acquisitions (M&amp;A) strategies</a:t>
            </a:r>
            <a:endParaRPr lang="en-US" dirty="0"/>
          </a:p>
        </p:txBody>
      </p:sp>
      <p:grpSp>
        <p:nvGrpSpPr>
          <p:cNvPr id="12" name="Group 11">
            <a:extLst>
              <a:ext uri="{FF2B5EF4-FFF2-40B4-BE49-F238E27FC236}">
                <a16:creationId xmlns:a16="http://schemas.microsoft.com/office/drawing/2014/main" id="{E4FEC146-CE18-C53A-C288-A2BD6EC23E6B}"/>
              </a:ext>
            </a:extLst>
          </p:cNvPr>
          <p:cNvGrpSpPr/>
          <p:nvPr/>
        </p:nvGrpSpPr>
        <p:grpSpPr>
          <a:xfrm>
            <a:off x="579514" y="1853937"/>
            <a:ext cx="3475664" cy="342424"/>
            <a:chOff x="570004" y="1667129"/>
            <a:chExt cx="5156439" cy="342424"/>
          </a:xfrm>
        </p:grpSpPr>
        <p:cxnSp>
          <p:nvCxnSpPr>
            <p:cNvPr id="13" name="Straight Connector 12">
              <a:extLst>
                <a:ext uri="{FF2B5EF4-FFF2-40B4-BE49-F238E27FC236}">
                  <a16:creationId xmlns:a16="http://schemas.microsoft.com/office/drawing/2014/main" id="{FA5801C2-A5E5-3839-0A14-0903CF26B6C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DF07A36-D747-1634-475C-779369270A70}"/>
                </a:ext>
              </a:extLst>
            </p:cNvPr>
            <p:cNvSpPr txBox="1"/>
            <p:nvPr/>
          </p:nvSpPr>
          <p:spPr>
            <a:xfrm>
              <a:off x="570004" y="1667129"/>
              <a:ext cx="5127265" cy="323165"/>
            </a:xfrm>
            <a:prstGeom prst="rect">
              <a:avLst/>
            </a:prstGeom>
            <a:noFill/>
          </p:spPr>
          <p:txBody>
            <a:bodyPr wrap="square" rtlCol="0">
              <a:spAutoFit/>
            </a:bodyPr>
            <a:lstStyle/>
            <a:p>
              <a:r>
                <a:rPr lang="en-GB" sz="1500" b="1" dirty="0"/>
                <a:t>Disney’s Acquisition of Pixar</a:t>
              </a:r>
              <a:endParaRPr lang="en-US" sz="1500" b="1" dirty="0"/>
            </a:p>
          </p:txBody>
        </p:sp>
      </p:grpSp>
      <p:sp>
        <p:nvSpPr>
          <p:cNvPr id="7" name="TextBox 6">
            <a:extLst>
              <a:ext uri="{FF2B5EF4-FFF2-40B4-BE49-F238E27FC236}">
                <a16:creationId xmlns:a16="http://schemas.microsoft.com/office/drawing/2014/main" id="{6733090B-4974-7EFD-6169-CF63A471B43F}"/>
              </a:ext>
            </a:extLst>
          </p:cNvPr>
          <p:cNvSpPr txBox="1"/>
          <p:nvPr/>
        </p:nvSpPr>
        <p:spPr>
          <a:xfrm>
            <a:off x="599177" y="2234867"/>
            <a:ext cx="3445711" cy="3824517"/>
          </a:xfrm>
          <a:prstGeom prst="rect">
            <a:avLst/>
          </a:prstGeom>
          <a:noFill/>
        </p:spPr>
        <p:txBody>
          <a:bodyPr wrap="square" lIns="91440" tIns="91440" rIns="91440" bIns="91440" rtlCol="0">
            <a:noAutofit/>
          </a:bodyPr>
          <a:lstStyle>
            <a:defPPr>
              <a:defRPr lang="da-DK"/>
            </a:defPPr>
            <a:lvl1pPr indent="-457200">
              <a:lnSpc>
                <a:spcPct val="90000"/>
              </a:lnSpc>
              <a:spcBef>
                <a:spcPts val="750"/>
              </a:spcBef>
              <a:buSzPct val="100000"/>
              <a:defRPr sz="1100">
                <a:latin typeface="Segoe UI" panose="020B0502040204020203" pitchFamily="34" charset="0"/>
              </a:defRPr>
            </a:lvl1pPr>
            <a:lvl2pPr marL="171450" lvl="1" indent="-171450">
              <a:lnSpc>
                <a:spcPct val="90000"/>
              </a:lnSpc>
              <a:spcBef>
                <a:spcPts val="750"/>
              </a:spcBef>
              <a:buSzPct val="100000"/>
              <a:buFont typeface="Wingdings" panose="05000000000000000000" pitchFamily="2" charset="2"/>
              <a:buChar char="§"/>
              <a:defRPr sz="1100">
                <a:latin typeface="Segoe UI" panose="020B0502040204020203" pitchFamily="34" charset="0"/>
              </a:defRPr>
            </a:lvl2pPr>
            <a:lvl3pPr marL="514350" lvl="2" indent="-171450">
              <a:lnSpc>
                <a:spcPct val="90000"/>
              </a:lnSpc>
              <a:spcBef>
                <a:spcPts val="375"/>
              </a:spcBef>
              <a:buSzPct val="100000"/>
              <a:buFont typeface="Calibri" panose="020F0502020204030204" pitchFamily="34" charset="0"/>
              <a:buChar char="­"/>
              <a:defRPr sz="1100">
                <a:latin typeface="Segoe UI" panose="020B0502040204020203" pitchFamily="34" charset="0"/>
              </a:defRPr>
            </a:lvl3pPr>
            <a:lvl4pPr marL="857250" lvl="3" indent="-171450">
              <a:lnSpc>
                <a:spcPct val="90000"/>
              </a:lnSpc>
              <a:spcBef>
                <a:spcPts val="375"/>
              </a:spcBef>
              <a:buSzPct val="100000"/>
              <a:buFont typeface="Courier New" panose="02070309020205020404" pitchFamily="49" charset="0"/>
              <a:buChar char="o"/>
              <a:defRPr sz="1100">
                <a:latin typeface="Segoe UI" panose="020B0502040204020203" pitchFamily="34" charset="0"/>
              </a:defRPr>
            </a:lvl4pPr>
            <a:lvl5pPr marL="1200150" lvl="4" indent="-171450">
              <a:lnSpc>
                <a:spcPct val="90000"/>
              </a:lnSpc>
              <a:spcBef>
                <a:spcPts val="375"/>
              </a:spcBef>
              <a:buSzPct val="100000"/>
              <a:buFont typeface="Arial" panose="020B0604020202020204" pitchFamily="34" charset="0"/>
              <a:buChar char="•"/>
              <a:defRPr sz="1100">
                <a:latin typeface="Segoe UI" panose="020B0502040204020203" pitchFamily="34" charset="0"/>
              </a:defRPr>
            </a:lvl5pPr>
          </a:lstStyle>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Year: </a:t>
            </a:r>
            <a:r>
              <a:rPr lang="en-GB" sz="1400" dirty="0">
                <a:latin typeface="+mn-lt"/>
              </a:rPr>
              <a:t>2006</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Deal Value: </a:t>
            </a:r>
            <a:r>
              <a:rPr lang="en-GB" sz="1400" dirty="0">
                <a:latin typeface="+mn-lt"/>
              </a:rPr>
              <a:t>Approximately $7.4 billion.</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Context: </a:t>
            </a:r>
            <a:r>
              <a:rPr lang="en-GB" sz="1400" dirty="0">
                <a:latin typeface="+mn-lt"/>
              </a:rPr>
              <a:t>The Walt Disney Company acquired Pixar Animation Studios, a pioneer in computer-generated animation.</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Outcome: </a:t>
            </a:r>
            <a:r>
              <a:rPr lang="en-GB" sz="1400" dirty="0">
                <a:latin typeface="+mn-lt"/>
              </a:rPr>
              <a:t>This strategic move allowed Disney to strengthen its animation capabilities significantly. Pixar’s creative talent and successful film franchises (such as “Toy Story,” “Finding Nemo,” and “The Incredibles”) became integral to Disney’s continued success in the animation industry.</a:t>
            </a:r>
            <a:endParaRPr lang="en-US" sz="1400" dirty="0">
              <a:latin typeface="+mn-lt"/>
            </a:endParaRPr>
          </a:p>
        </p:txBody>
      </p:sp>
      <p:grpSp>
        <p:nvGrpSpPr>
          <p:cNvPr id="5" name="Group 4">
            <a:extLst>
              <a:ext uri="{FF2B5EF4-FFF2-40B4-BE49-F238E27FC236}">
                <a16:creationId xmlns:a16="http://schemas.microsoft.com/office/drawing/2014/main" id="{AB5C25A9-0C15-C966-0789-ED3E1EB5ED26}"/>
              </a:ext>
            </a:extLst>
          </p:cNvPr>
          <p:cNvGrpSpPr/>
          <p:nvPr/>
        </p:nvGrpSpPr>
        <p:grpSpPr>
          <a:xfrm>
            <a:off x="4335434" y="1853937"/>
            <a:ext cx="3781726" cy="342424"/>
            <a:chOff x="570004" y="1667129"/>
            <a:chExt cx="5610507" cy="342424"/>
          </a:xfrm>
        </p:grpSpPr>
        <p:cxnSp>
          <p:nvCxnSpPr>
            <p:cNvPr id="6" name="Straight Connector 5">
              <a:extLst>
                <a:ext uri="{FF2B5EF4-FFF2-40B4-BE49-F238E27FC236}">
                  <a16:creationId xmlns:a16="http://schemas.microsoft.com/office/drawing/2014/main" id="{709F5ED0-03E3-CB89-F532-D735145C807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697CE2C-1816-FD3F-2E56-D69F62CC78F4}"/>
                </a:ext>
              </a:extLst>
            </p:cNvPr>
            <p:cNvSpPr txBox="1"/>
            <p:nvPr/>
          </p:nvSpPr>
          <p:spPr>
            <a:xfrm>
              <a:off x="570004" y="1667129"/>
              <a:ext cx="5610507" cy="323165"/>
            </a:xfrm>
            <a:prstGeom prst="rect">
              <a:avLst/>
            </a:prstGeom>
            <a:noFill/>
          </p:spPr>
          <p:txBody>
            <a:bodyPr wrap="square" rtlCol="0">
              <a:spAutoFit/>
            </a:bodyPr>
            <a:lstStyle/>
            <a:p>
              <a:r>
                <a:rPr lang="en-GB" sz="1500" b="1" dirty="0"/>
                <a:t>Facebook’s Acquisition of Instagram</a:t>
              </a:r>
              <a:endParaRPr lang="en-US" sz="1500" b="1" dirty="0"/>
            </a:p>
          </p:txBody>
        </p:sp>
      </p:grpSp>
      <p:sp>
        <p:nvSpPr>
          <p:cNvPr id="11" name="TextBox 10">
            <a:extLst>
              <a:ext uri="{FF2B5EF4-FFF2-40B4-BE49-F238E27FC236}">
                <a16:creationId xmlns:a16="http://schemas.microsoft.com/office/drawing/2014/main" id="{72B669CD-F5C4-AAE0-8F06-16345029FE49}"/>
              </a:ext>
            </a:extLst>
          </p:cNvPr>
          <p:cNvSpPr txBox="1"/>
          <p:nvPr/>
        </p:nvSpPr>
        <p:spPr>
          <a:xfrm>
            <a:off x="4355097" y="2234867"/>
            <a:ext cx="3445711" cy="3824517"/>
          </a:xfrm>
          <a:prstGeom prst="rect">
            <a:avLst/>
          </a:prstGeom>
          <a:noFill/>
        </p:spPr>
        <p:txBody>
          <a:bodyPr wrap="square" lIns="91440" tIns="91440" rIns="91440" bIns="91440" rtlCol="0">
            <a:noAutofit/>
          </a:bodyPr>
          <a:lstStyle>
            <a:defPPr>
              <a:defRPr lang="da-DK"/>
            </a:defPPr>
            <a:lvl1pPr indent="-457200">
              <a:lnSpc>
                <a:spcPct val="90000"/>
              </a:lnSpc>
              <a:spcBef>
                <a:spcPts val="750"/>
              </a:spcBef>
              <a:buSzPct val="100000"/>
              <a:defRPr sz="1100">
                <a:latin typeface="Segoe UI" panose="020B0502040204020203" pitchFamily="34" charset="0"/>
              </a:defRPr>
            </a:lvl1pPr>
            <a:lvl2pPr marL="171450" lvl="1" indent="-171450">
              <a:lnSpc>
                <a:spcPct val="90000"/>
              </a:lnSpc>
              <a:spcBef>
                <a:spcPts val="750"/>
              </a:spcBef>
              <a:buSzPct val="100000"/>
              <a:buFont typeface="Wingdings" panose="05000000000000000000" pitchFamily="2" charset="2"/>
              <a:buChar char="§"/>
              <a:defRPr sz="1100">
                <a:latin typeface="Segoe UI" panose="020B0502040204020203" pitchFamily="34" charset="0"/>
              </a:defRPr>
            </a:lvl2pPr>
            <a:lvl3pPr marL="514350" lvl="2" indent="-171450">
              <a:lnSpc>
                <a:spcPct val="90000"/>
              </a:lnSpc>
              <a:spcBef>
                <a:spcPts val="375"/>
              </a:spcBef>
              <a:buSzPct val="100000"/>
              <a:buFont typeface="Calibri" panose="020F0502020204030204" pitchFamily="34" charset="0"/>
              <a:buChar char="­"/>
              <a:defRPr sz="1100">
                <a:latin typeface="Segoe UI" panose="020B0502040204020203" pitchFamily="34" charset="0"/>
              </a:defRPr>
            </a:lvl3pPr>
            <a:lvl4pPr marL="857250" lvl="3" indent="-171450">
              <a:lnSpc>
                <a:spcPct val="90000"/>
              </a:lnSpc>
              <a:spcBef>
                <a:spcPts val="375"/>
              </a:spcBef>
              <a:buSzPct val="100000"/>
              <a:buFont typeface="Courier New" panose="02070309020205020404" pitchFamily="49" charset="0"/>
              <a:buChar char="o"/>
              <a:defRPr sz="1100">
                <a:latin typeface="Segoe UI" panose="020B0502040204020203" pitchFamily="34" charset="0"/>
              </a:defRPr>
            </a:lvl4pPr>
            <a:lvl5pPr marL="1200150" lvl="4" indent="-171450">
              <a:lnSpc>
                <a:spcPct val="90000"/>
              </a:lnSpc>
              <a:spcBef>
                <a:spcPts val="375"/>
              </a:spcBef>
              <a:buSzPct val="100000"/>
              <a:buFont typeface="Arial" panose="020B0604020202020204" pitchFamily="34" charset="0"/>
              <a:buChar char="•"/>
              <a:defRPr sz="1100">
                <a:latin typeface="Segoe UI" panose="020B0502040204020203" pitchFamily="34" charset="0"/>
              </a:defRPr>
            </a:lvl5pPr>
          </a:lstStyle>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Year: </a:t>
            </a:r>
            <a:r>
              <a:rPr lang="en-GB" sz="1400" dirty="0">
                <a:latin typeface="+mn-lt"/>
              </a:rPr>
              <a:t>2012</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Deal Value: </a:t>
            </a:r>
            <a:r>
              <a:rPr lang="en-GB" sz="1400" dirty="0">
                <a:latin typeface="+mn-lt"/>
              </a:rPr>
              <a:t>Approximately $1 billion.</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Context: </a:t>
            </a:r>
            <a:r>
              <a:rPr lang="en-GB" sz="1400" dirty="0">
                <a:latin typeface="+mn-lt"/>
              </a:rPr>
              <a:t>Facebook acquired Instagram, a popular photo-sharing app with a rapidly growing user base.</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Outcome: </a:t>
            </a:r>
            <a:r>
              <a:rPr lang="en-GB" sz="1400" dirty="0">
                <a:latin typeface="+mn-lt"/>
              </a:rPr>
              <a:t>The acquisition allowed Facebook to expand its social media ecosystem and tap into Instagram’s younger user demographic. Instagram continued to thrive independently while benefiting from Facebook’s resources and expertise.</a:t>
            </a:r>
            <a:endParaRPr lang="en-US" sz="1400" dirty="0">
              <a:latin typeface="+mn-lt"/>
            </a:endParaRPr>
          </a:p>
        </p:txBody>
      </p:sp>
      <p:grpSp>
        <p:nvGrpSpPr>
          <p:cNvPr id="18" name="Group 17">
            <a:extLst>
              <a:ext uri="{FF2B5EF4-FFF2-40B4-BE49-F238E27FC236}">
                <a16:creationId xmlns:a16="http://schemas.microsoft.com/office/drawing/2014/main" id="{D3407581-3121-6004-49F5-A4DC19B96C76}"/>
              </a:ext>
            </a:extLst>
          </p:cNvPr>
          <p:cNvGrpSpPr/>
          <p:nvPr/>
        </p:nvGrpSpPr>
        <p:grpSpPr>
          <a:xfrm>
            <a:off x="8108479" y="1853937"/>
            <a:ext cx="3781726" cy="342424"/>
            <a:chOff x="570004" y="1667129"/>
            <a:chExt cx="5610507" cy="342424"/>
          </a:xfrm>
        </p:grpSpPr>
        <p:cxnSp>
          <p:nvCxnSpPr>
            <p:cNvPr id="19" name="Straight Connector 18">
              <a:extLst>
                <a:ext uri="{FF2B5EF4-FFF2-40B4-BE49-F238E27FC236}">
                  <a16:creationId xmlns:a16="http://schemas.microsoft.com/office/drawing/2014/main" id="{8CC3B9DE-E758-95C7-4529-FBC6BB909194}"/>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E9D530D-AF93-4C39-747B-64D99CBDD5EE}"/>
                </a:ext>
              </a:extLst>
            </p:cNvPr>
            <p:cNvSpPr txBox="1"/>
            <p:nvPr/>
          </p:nvSpPr>
          <p:spPr>
            <a:xfrm>
              <a:off x="570004" y="1667129"/>
              <a:ext cx="5610507" cy="323165"/>
            </a:xfrm>
            <a:prstGeom prst="rect">
              <a:avLst/>
            </a:prstGeom>
            <a:noFill/>
          </p:spPr>
          <p:txBody>
            <a:bodyPr wrap="square" rtlCol="0">
              <a:spAutoFit/>
            </a:bodyPr>
            <a:lstStyle/>
            <a:p>
              <a:r>
                <a:rPr lang="en-GB" sz="1500" b="1" dirty="0"/>
                <a:t>Salesforce and Slack Acquisition</a:t>
              </a:r>
              <a:endParaRPr lang="en-US" sz="1500" b="1" dirty="0"/>
            </a:p>
          </p:txBody>
        </p:sp>
      </p:grpSp>
      <p:sp>
        <p:nvSpPr>
          <p:cNvPr id="27" name="TextBox 26">
            <a:extLst>
              <a:ext uri="{FF2B5EF4-FFF2-40B4-BE49-F238E27FC236}">
                <a16:creationId xmlns:a16="http://schemas.microsoft.com/office/drawing/2014/main" id="{CD15AFC1-314F-1213-DC4D-DAE0435C3268}"/>
              </a:ext>
            </a:extLst>
          </p:cNvPr>
          <p:cNvSpPr txBox="1"/>
          <p:nvPr/>
        </p:nvSpPr>
        <p:spPr>
          <a:xfrm>
            <a:off x="8128142" y="2234867"/>
            <a:ext cx="3445711" cy="3824517"/>
          </a:xfrm>
          <a:prstGeom prst="rect">
            <a:avLst/>
          </a:prstGeom>
          <a:noFill/>
        </p:spPr>
        <p:txBody>
          <a:bodyPr wrap="square" lIns="91440" tIns="91440" rIns="91440" bIns="91440" rtlCol="0">
            <a:noAutofit/>
          </a:bodyPr>
          <a:lstStyle>
            <a:defPPr>
              <a:defRPr lang="da-DK"/>
            </a:defPPr>
            <a:lvl1pPr indent="-457200">
              <a:lnSpc>
                <a:spcPct val="90000"/>
              </a:lnSpc>
              <a:spcBef>
                <a:spcPts val="750"/>
              </a:spcBef>
              <a:buSzPct val="100000"/>
              <a:defRPr sz="1100">
                <a:latin typeface="Segoe UI" panose="020B0502040204020203" pitchFamily="34" charset="0"/>
              </a:defRPr>
            </a:lvl1pPr>
            <a:lvl2pPr marL="171450" lvl="1" indent="-171450">
              <a:lnSpc>
                <a:spcPct val="90000"/>
              </a:lnSpc>
              <a:spcBef>
                <a:spcPts val="750"/>
              </a:spcBef>
              <a:buSzPct val="100000"/>
              <a:buFont typeface="Wingdings" panose="05000000000000000000" pitchFamily="2" charset="2"/>
              <a:buChar char="§"/>
              <a:defRPr sz="1100">
                <a:latin typeface="Segoe UI" panose="020B0502040204020203" pitchFamily="34" charset="0"/>
              </a:defRPr>
            </a:lvl2pPr>
            <a:lvl3pPr marL="514350" lvl="2" indent="-171450">
              <a:lnSpc>
                <a:spcPct val="90000"/>
              </a:lnSpc>
              <a:spcBef>
                <a:spcPts val="375"/>
              </a:spcBef>
              <a:buSzPct val="100000"/>
              <a:buFont typeface="Calibri" panose="020F0502020204030204" pitchFamily="34" charset="0"/>
              <a:buChar char="­"/>
              <a:defRPr sz="1100">
                <a:latin typeface="Segoe UI" panose="020B0502040204020203" pitchFamily="34" charset="0"/>
              </a:defRPr>
            </a:lvl3pPr>
            <a:lvl4pPr marL="857250" lvl="3" indent="-171450">
              <a:lnSpc>
                <a:spcPct val="90000"/>
              </a:lnSpc>
              <a:spcBef>
                <a:spcPts val="375"/>
              </a:spcBef>
              <a:buSzPct val="100000"/>
              <a:buFont typeface="Courier New" panose="02070309020205020404" pitchFamily="49" charset="0"/>
              <a:buChar char="o"/>
              <a:defRPr sz="1100">
                <a:latin typeface="Segoe UI" panose="020B0502040204020203" pitchFamily="34" charset="0"/>
              </a:defRPr>
            </a:lvl4pPr>
            <a:lvl5pPr marL="1200150" lvl="4" indent="-171450">
              <a:lnSpc>
                <a:spcPct val="90000"/>
              </a:lnSpc>
              <a:spcBef>
                <a:spcPts val="375"/>
              </a:spcBef>
              <a:buSzPct val="100000"/>
              <a:buFont typeface="Arial" panose="020B0604020202020204" pitchFamily="34" charset="0"/>
              <a:buChar char="•"/>
              <a:defRPr sz="1100">
                <a:latin typeface="Segoe UI" panose="020B0502040204020203" pitchFamily="34" charset="0"/>
              </a:defRPr>
            </a:lvl5pPr>
          </a:lstStyle>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Year: </a:t>
            </a:r>
            <a:r>
              <a:rPr lang="en-GB" sz="1400" dirty="0">
                <a:latin typeface="+mn-lt"/>
              </a:rPr>
              <a:t>2021</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Deal Value: </a:t>
            </a:r>
            <a:r>
              <a:rPr lang="en-GB" sz="1400" dirty="0">
                <a:latin typeface="+mn-lt"/>
              </a:rPr>
              <a:t>Approximately $27.7 billion.</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Context: </a:t>
            </a:r>
            <a:r>
              <a:rPr lang="en-GB" sz="1400" dirty="0">
                <a:latin typeface="+mn-lt"/>
              </a:rPr>
              <a:t>Salesforce, a cloud-based software company, acquired Slack, a popular collaboration platform.</a:t>
            </a:r>
          </a:p>
          <a:p>
            <a:pPr lvl="1">
              <a:lnSpc>
                <a:spcPct val="100000"/>
              </a:lnSpc>
              <a:spcBef>
                <a:spcPts val="300"/>
              </a:spcBef>
              <a:spcAft>
                <a:spcPts val="300"/>
              </a:spcAft>
              <a:buClr>
                <a:schemeClr val="tx1"/>
              </a:buClr>
              <a:buFont typeface="Arial" panose="020B0604020202020204" pitchFamily="34" charset="0"/>
              <a:buChar char="•"/>
            </a:pPr>
            <a:r>
              <a:rPr lang="en-GB" sz="1400" b="1" dirty="0">
                <a:latin typeface="+mn-lt"/>
              </a:rPr>
              <a:t>Outcome: </a:t>
            </a:r>
            <a:r>
              <a:rPr lang="en-GB" sz="1400" dirty="0">
                <a:latin typeface="+mn-lt"/>
              </a:rPr>
              <a:t>The acquisition strengthened Salesforce’s position in the enterprise software market and expanded its offerings to include team communication and collaboration tools.</a:t>
            </a:r>
            <a:endParaRPr lang="en-US" sz="1400" dirty="0">
              <a:latin typeface="+mn-lt"/>
            </a:endParaRPr>
          </a:p>
        </p:txBody>
      </p:sp>
      <p:sp>
        <p:nvSpPr>
          <p:cNvPr id="2" name="Footer Placeholder 1">
            <a:extLst>
              <a:ext uri="{FF2B5EF4-FFF2-40B4-BE49-F238E27FC236}">
                <a16:creationId xmlns:a16="http://schemas.microsoft.com/office/drawing/2014/main" id="{9D735741-4FEE-9CC0-1A61-5A3040D403C8}"/>
              </a:ext>
            </a:extLst>
          </p:cNvPr>
          <p:cNvSpPr>
            <a:spLocks noGrp="1"/>
          </p:cNvSpPr>
          <p:nvPr>
            <p:ph type="ftr" sz="quarter" idx="3"/>
          </p:nvPr>
        </p:nvSpPr>
        <p:spPr/>
        <p:txBody>
          <a:bodyPr/>
          <a:lstStyle/>
          <a:p>
            <a:r>
              <a:rPr lang="en-US"/>
              <a:t>Domont Consulting</a:t>
            </a:r>
            <a:endParaRPr lang="en-US" dirty="0"/>
          </a:p>
        </p:txBody>
      </p:sp>
      <p:sp>
        <p:nvSpPr>
          <p:cNvPr id="3" name="Slide Number Placeholder 2">
            <a:extLst>
              <a:ext uri="{FF2B5EF4-FFF2-40B4-BE49-F238E27FC236}">
                <a16:creationId xmlns:a16="http://schemas.microsoft.com/office/drawing/2014/main" id="{561232C2-3233-6AC6-896C-DDDADC8913AC}"/>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61937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04435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2" name="Rectangle: Rounded Corners 1">
            <a:extLst>
              <a:ext uri="{FF2B5EF4-FFF2-40B4-BE49-F238E27FC236}">
                <a16:creationId xmlns:a16="http://schemas.microsoft.com/office/drawing/2014/main" id="{C81C3AD0-7341-521C-D39E-8FB63DCBE544}"/>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6F05D5EC-757E-41D6-4307-FADAC7F39107}"/>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0B33F7F9-7871-CD84-0641-C60AD9D2AF2B}"/>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F1C18BEE-E525-57D4-E666-A1FB938C6D50}"/>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DA622E4D-1469-6CB2-83B8-E43E5D5C52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F85DB214-904E-8658-DC4A-A2AC239D61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29" name="Graphic 28" descr="Open folder outline">
            <a:extLst>
              <a:ext uri="{FF2B5EF4-FFF2-40B4-BE49-F238E27FC236}">
                <a16:creationId xmlns:a16="http://schemas.microsoft.com/office/drawing/2014/main" id="{97369D69-2FF1-4906-0527-164E393CF0D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30" name="TextBox 29">
            <a:extLst>
              <a:ext uri="{FF2B5EF4-FFF2-40B4-BE49-F238E27FC236}">
                <a16:creationId xmlns:a16="http://schemas.microsoft.com/office/drawing/2014/main" id="{483DAFE0-B614-D468-407D-C0B09832C122}"/>
              </a:ext>
            </a:extLst>
          </p:cNvPr>
          <p:cNvSpPr txBox="1"/>
          <p:nvPr/>
        </p:nvSpPr>
        <p:spPr>
          <a:xfrm>
            <a:off x="1863088" y="1994804"/>
            <a:ext cx="4400551" cy="338554"/>
          </a:xfrm>
          <a:prstGeom prst="rect">
            <a:avLst/>
          </a:prstGeom>
          <a:noFill/>
        </p:spPr>
        <p:txBody>
          <a:bodyPr wrap="square" rtlCol="0">
            <a:spAutoFit/>
          </a:bodyPr>
          <a:lstStyle/>
          <a:p>
            <a:r>
              <a:rPr lang="en-US" sz="1600" b="1"/>
              <a:t>900 </a:t>
            </a:r>
            <a:r>
              <a:rPr lang="en-US" sz="1600" b="1" dirty="0"/>
              <a:t>editable PowerPoint slides*</a:t>
            </a:r>
          </a:p>
        </p:txBody>
      </p:sp>
      <p:sp>
        <p:nvSpPr>
          <p:cNvPr id="31" name="TextBox 30">
            <a:extLst>
              <a:ext uri="{FF2B5EF4-FFF2-40B4-BE49-F238E27FC236}">
                <a16:creationId xmlns:a16="http://schemas.microsoft.com/office/drawing/2014/main" id="{76008C38-F8A0-CA6B-9AEF-0136A21F9DB0}"/>
              </a:ext>
            </a:extLst>
          </p:cNvPr>
          <p:cNvSpPr txBox="1"/>
          <p:nvPr/>
        </p:nvSpPr>
        <p:spPr>
          <a:xfrm>
            <a:off x="1863088" y="3125122"/>
            <a:ext cx="3005768" cy="338554"/>
          </a:xfrm>
          <a:prstGeom prst="rect">
            <a:avLst/>
          </a:prstGeom>
          <a:noFill/>
        </p:spPr>
        <p:txBody>
          <a:bodyPr wrap="square" rtlCol="0">
            <a:spAutoFit/>
          </a:bodyPr>
          <a:lstStyle/>
          <a:p>
            <a:r>
              <a:rPr lang="en-US" sz="1600" b="1"/>
              <a:t>65 </a:t>
            </a:r>
            <a:r>
              <a:rPr lang="en-US" sz="1600" b="1" dirty="0"/>
              <a:t>Excel sheets*</a:t>
            </a:r>
          </a:p>
        </p:txBody>
      </p:sp>
      <p:sp>
        <p:nvSpPr>
          <p:cNvPr id="32" name="TextBox 31">
            <a:extLst>
              <a:ext uri="{FF2B5EF4-FFF2-40B4-BE49-F238E27FC236}">
                <a16:creationId xmlns:a16="http://schemas.microsoft.com/office/drawing/2014/main" id="{48303F65-3197-9CCD-1FA6-C280750FAA9F}"/>
              </a:ext>
            </a:extLst>
          </p:cNvPr>
          <p:cNvSpPr txBox="1"/>
          <p:nvPr/>
        </p:nvSpPr>
        <p:spPr>
          <a:xfrm>
            <a:off x="1863088" y="4153332"/>
            <a:ext cx="3450672" cy="338554"/>
          </a:xfrm>
          <a:prstGeom prst="rect">
            <a:avLst/>
          </a:prstGeom>
          <a:noFill/>
        </p:spPr>
        <p:txBody>
          <a:bodyPr wrap="square" rtlCol="0">
            <a:spAutoFit/>
          </a:bodyPr>
          <a:lstStyle/>
          <a:p>
            <a:r>
              <a:rPr lang="en-US" sz="1600" b="1"/>
              <a:t>70 </a:t>
            </a:r>
            <a:r>
              <a:rPr lang="en-US" sz="1600" b="1" dirty="0"/>
              <a:t>minutes of Video training</a:t>
            </a:r>
          </a:p>
        </p:txBody>
      </p:sp>
      <p:sp>
        <p:nvSpPr>
          <p:cNvPr id="33" name="TextBox 32">
            <a:extLst>
              <a:ext uri="{FF2B5EF4-FFF2-40B4-BE49-F238E27FC236}">
                <a16:creationId xmlns:a16="http://schemas.microsoft.com/office/drawing/2014/main" id="{297CAB91-6BEA-5320-BC8B-4A7B0E991EB4}"/>
              </a:ext>
            </a:extLst>
          </p:cNvPr>
          <p:cNvSpPr txBox="1"/>
          <p:nvPr/>
        </p:nvSpPr>
        <p:spPr>
          <a:xfrm>
            <a:off x="1863088" y="4971174"/>
            <a:ext cx="9534511" cy="897772"/>
          </a:xfrm>
          <a:prstGeom prst="rect">
            <a:avLst/>
          </a:prstGeom>
          <a:noFill/>
        </p:spPr>
        <p:txBody>
          <a:bodyPr wrap="square" numCol="2" rtlCol="0" anchor="ctr">
            <a:noAutofit/>
          </a:bodyPr>
          <a:lstStyle/>
          <a:p>
            <a:r>
              <a:rPr lang="en-US" sz="1100" dirty="0"/>
              <a:t>0. Overview and Approach</a:t>
            </a:r>
          </a:p>
          <a:p>
            <a:r>
              <a:rPr lang="en-US" sz="1100" dirty="0"/>
              <a:t>I. M&amp;A Strategy</a:t>
            </a:r>
          </a:p>
          <a:p>
            <a:r>
              <a:rPr lang="en-US" sz="1100" dirty="0"/>
              <a:t>II. Target companies</a:t>
            </a:r>
          </a:p>
          <a:p>
            <a:r>
              <a:rPr lang="en-US" sz="1100" dirty="0"/>
              <a:t>III. Business Case and Financial Model</a:t>
            </a:r>
          </a:p>
          <a:p>
            <a:r>
              <a:rPr lang="en-US" sz="1100" dirty="0"/>
              <a:t>IV. Due Diligence</a:t>
            </a:r>
          </a:p>
          <a:p>
            <a:r>
              <a:rPr lang="en-US" sz="1100" dirty="0"/>
              <a:t>V. Transaction Execution</a:t>
            </a:r>
          </a:p>
          <a:p>
            <a:r>
              <a:rPr lang="en-US" sz="1100" dirty="0"/>
              <a:t>VI. Post Merger Integration</a:t>
            </a:r>
          </a:p>
          <a:p>
            <a:r>
              <a:rPr lang="en-US" sz="1100" dirty="0"/>
              <a:t>VII. Carve-outs</a:t>
            </a:r>
          </a:p>
        </p:txBody>
      </p:sp>
      <p:sp>
        <p:nvSpPr>
          <p:cNvPr id="34" name="Rectangle 33">
            <a:extLst>
              <a:ext uri="{FF2B5EF4-FFF2-40B4-BE49-F238E27FC236}">
                <a16:creationId xmlns:a16="http://schemas.microsoft.com/office/drawing/2014/main" id="{142CA778-F930-B792-1053-A47082A04753}"/>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3F6F198-0AB8-02F0-7E12-EF64CCAB491F}"/>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BD6925-FCF1-2C05-BFAA-66BF5AB578F6}"/>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34892A7-F1D5-ACFE-40E9-C969957E3763}"/>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435401BC-82EE-05C4-F596-0AB6BA713E9A}"/>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39" name="Footer Placeholder 38">
            <a:extLst>
              <a:ext uri="{FF2B5EF4-FFF2-40B4-BE49-F238E27FC236}">
                <a16:creationId xmlns:a16="http://schemas.microsoft.com/office/drawing/2014/main" id="{043BF990-0A0D-0F30-B0DF-5338D07AEB5B}"/>
              </a:ext>
            </a:extLst>
          </p:cNvPr>
          <p:cNvSpPr>
            <a:spLocks noGrp="1"/>
          </p:cNvSpPr>
          <p:nvPr>
            <p:ph type="ftr" sz="quarter" idx="3"/>
          </p:nvPr>
        </p:nvSpPr>
        <p:spPr/>
        <p:txBody>
          <a:bodyPr/>
          <a:lstStyle/>
          <a:p>
            <a:r>
              <a:rPr lang="en-US"/>
              <a:t>Domont Consulting</a:t>
            </a:r>
            <a:endParaRPr lang="en-US" dirty="0"/>
          </a:p>
        </p:txBody>
      </p:sp>
      <p:sp>
        <p:nvSpPr>
          <p:cNvPr id="40" name="Slide Number Placeholder 39">
            <a:extLst>
              <a:ext uri="{FF2B5EF4-FFF2-40B4-BE49-F238E27FC236}">
                <a16:creationId xmlns:a16="http://schemas.microsoft.com/office/drawing/2014/main" id="{EBCD1D93-AB95-3DE9-23AF-CCA23E97C701}"/>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6609B05E-784C-588B-DF10-0033147F599A}"/>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F82BE93A-A08D-5B10-1478-33779F42C215}"/>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B7F8D4AF-E6CA-4866-57DC-924FCEB41D48}"/>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5D520CCE-8E7D-1921-EF62-797053717A56}"/>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9"/>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8"/>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61"/>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0"/>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1"/>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7"/>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51"/>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4"/>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3"/>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4"/>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1FFED7EE-A885-7922-F59B-A2A818D3E559}"/>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7CE2D044-4E0B-6161-082D-0BFC17ECDC86}"/>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DBDCE3DD-C595-7737-EAEF-02A657F61F83}"/>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402A6DC9-4C0C-6F37-825A-37B04F840A9F}"/>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D780298D-F5DE-105C-8B34-DAA2B2E26DF2}"/>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9583447D-DA07-36FB-2306-2145BEDD7D28}"/>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xfmggtTmw36oq9gTpWkgC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VHKq_VPuPSX29652KmLx5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p4nxGn_MCwAcdcy3EFeBQ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2MvlkWUIY8xqrmFwfVC4W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FbTlSwJz7i4R.9kc6gVGe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2n4K5Eod7WBwZly9CDzvq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db81tyoxiTQeaK5K1GFp7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jQFfxdyjFU.OLrgy6977_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9wofFLDosU8pWsWzCzxV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6085</TotalTime>
  <Words>2460</Words>
  <Application>Microsoft Office PowerPoint</Application>
  <PresentationFormat>Widescreen</PresentationFormat>
  <Paragraphs>374</Paragraphs>
  <Slides>23</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2" baseType="lpstr">
      <vt:lpstr>ＭＳ Ｐゴシック</vt:lpstr>
      <vt:lpstr>Arial</vt:lpstr>
      <vt:lpstr>Arial (Body)</vt:lpstr>
      <vt:lpstr>Calibri</vt:lpstr>
      <vt:lpstr>Helvetica</vt:lpstr>
      <vt:lpstr>Lato Light</vt:lpstr>
      <vt:lpstr>Times New Roman</vt:lpstr>
      <vt:lpstr>1_Theme3</vt:lpstr>
      <vt:lpstr>think-cell Slide</vt:lpstr>
      <vt:lpstr>PowerPoint Presentation</vt:lpstr>
      <vt:lpstr>PowerPoint Presentation</vt:lpstr>
      <vt:lpstr>Introduction</vt:lpstr>
      <vt:lpstr>Problem: 70% of mergers and acquisitions fail to reach their value creation objectives</vt:lpstr>
      <vt:lpstr>Solution: Our ex-JP Morgan Investment Bankers, and McKinsey &amp; Deloitte Consultants created an M&amp;A Toolkit to increase your odds of success</vt:lpstr>
      <vt:lpstr>Our Toolkit will help you fulfill multiple objectives</vt:lpstr>
      <vt:lpstr>Video demonstration of the Toolkit</vt:lpstr>
      <vt:lpstr>The Toolkit includes a 7-phase approach that we have built and refined over the past 20 years through constant trial and error</vt:lpstr>
      <vt:lpstr>Phase 1 small preview</vt:lpstr>
      <vt:lpstr>Phase 2 small preview</vt:lpstr>
      <vt:lpstr>Phase 3 small preview</vt:lpstr>
      <vt:lpstr>Phase 4 small preview</vt:lpstr>
      <vt:lpstr>Phase 5 small preview</vt:lpstr>
      <vt:lpstr>Phase 6 small preview</vt:lpstr>
      <vt:lpstr>Phase 7 small preview</vt:lpstr>
      <vt:lpstr>Examples of companies that have executed successful mergers and acquisitions (M&amp;A) strategies</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2025-07-02T04:11:59Z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